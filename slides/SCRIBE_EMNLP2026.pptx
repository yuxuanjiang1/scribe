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6"/>
    <p:sldMasterId id="214748367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y="5143500" cx="9144000"/>
  <p:notesSz cx="6858000" cy="9144000"/>
  <p:embeddedFontLst>
    <p:embeddedFont>
      <p:font typeface="Play"/>
      <p:regular r:id="rId28"/>
      <p:bold r:id="rId29"/>
    </p:embeddedFont>
    <p:embeddedFont>
      <p:font typeface="Tahoma"/>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6" name="Frank Ferrar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C7E03B-85A4-41BA-8E18-2549407F5BF5}">
  <a:tblStyle styleId="{60C7E03B-85A4-41BA-8E18-2549407F5BF5}"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a:tcStyle>
        <a:fill>
          <a:solidFill>
            <a:srgbClr val="CDD8FB"/>
          </a:solidFill>
        </a:fill>
      </a:tcStyle>
    </a:band1H>
    <a:band2H>
      <a:tcTxStyle/>
    </a:band2H>
    <a:band1V>
      <a:tcTxStyle/>
      <a:tcStyle>
        <a:fill>
          <a:solidFill>
            <a:srgbClr val="CDD8FB"/>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82EE666F-F67E-475C-9374-94149FA58177}"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b="off" i="off"/>
      <a:tcStyle>
        <a:fill>
          <a:solidFill>
            <a:srgbClr val="CDD8FB"/>
          </a:solidFill>
        </a:fill>
      </a:tcStyle>
    </a:band1H>
    <a:band2H>
      <a:tcTxStyle b="off" i="off"/>
    </a:band2H>
    <a:band1V>
      <a:tcTxStyle b="off" i="off"/>
      <a:tcStyle>
        <a:fill>
          <a:solidFill>
            <a:srgbClr val="CDD8F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font" Target="fonts/Play-regular.fntdata"/><Relationship Id="rId29" Type="http://schemas.openxmlformats.org/officeDocument/2006/relationships/font" Target="fonts/Play-bold.fntdata"/><Relationship Id="rId30" Type="http://schemas.openxmlformats.org/officeDocument/2006/relationships/font" Target="fonts/Tahoma-regular.fntdata"/><Relationship Id="rId31" Type="http://schemas.openxmlformats.org/officeDocument/2006/relationships/font" Target="fonts/Tahoma-bold.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8T17:29:42.705">
    <p:pos x="288" y="2966"/>
    <p:text>People at the talk will know that they're listening to an EMNLP talk. Instead, use this valuable real estate for something like a link to the project / paper, a QR code, etc.</p:text>
  </p:cm>
  <p:cm authorId="0" idx="2" dt="2026-09-28T17:29:42.705">
    <p:pos x="288" y="2966"/>
    <p:text>Also, include your email.</p:text>
  </p:cm>
  <p:cm authorId="0" idx="3" dt="2026-09-28T17:29:34.463">
    <p:pos x="288" y="1257"/>
    <p:text>If you're comfortable doing so, I think it's nice to add photos of people.
You should also bold your name (as presenter).</p:text>
  </p:cm>
  <p:cm authorId="0" idx="4" dt="2026-09-28T17:43:09.284">
    <p:pos x="6000" y="0"/>
    <p:text>At some point, within the first 2 minutes of this presentation, you need to give a slide summarizing the contributions of the work.</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9-28T17:35:06.214">
    <p:pos x="6000" y="0"/>
    <p:text>While a lot does necessarily depend on your voice track (what you say), the slide should still be relatively self explanatory (at a high level) without either the voice track or extensive text. Try to make the figure more central. A partial initial example is shown in the next (hidden) slide.</p:text>
  </p:cm>
  <p:cm authorId="0" idx="6" dt="2026-09-28T17:38:56.707">
    <p:pos x="276" y="103"/>
    <p:text>Title case!</p:text>
  </p:cm>
  <p:cm authorId="0" idx="7" dt="2026-09-28T17:38:56.707">
    <p:pos x="276" y="103"/>
    <p:text>This applies to nearly all slides, but I won't keep commenting it.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9-28T17:37:33.809">
    <p:pos x="780" y="505"/>
    <p:text>Do a slow reveal here. First, focus on the left. Then, reveal the right and discuss that.
One critical thing missing here is *what* reward are you talking about?</p:text>
  </p:cm>
  <p:cm authorId="0" idx="9" dt="2026-09-28T17:38:14.028">
    <p:pos x="780" y="605"/>
    <p:text>In the left, don't say "Anyway, final answer..." Please rephrase it to something more professional.
In the right, "Syntax sames not perfect" is grammatically bad.</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9-28T17:31:35.320">
    <p:pos x="3180" y="1158"/>
    <p:text>* The cropping removes part of the horizontal axis.
* What do the "Simple RFT" and "Naive Path" text mean, or correspond to?
* How does this graph relate to the left side of the slide?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1" dt="2026-09-28T17:41:53.035">
    <p:pos x="276" y="103"/>
    <p:text>Good idea with summarizing with a tagline, but this current version is confusing. First, is this "Process Reward is not about ..." describing the idea behind SCRIBE? Or is it summarizing the limitations of past work?
Second, if it's about SCRIBE, isn't possible to make multiple errors that cancel out? So isn't it more appropriate to say "Not Just about 'Correct'?"
Please revise.</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9-28T17:44:22.815">
    <p:pos x="334" y="599"/>
    <p:text>Remove from the slide, keep it in the voice track.</p:text>
  </p:cm>
  <p:cm authorId="0" idx="13" dt="2026-09-28T17:45:19.198">
    <p:pos x="334" y="1595"/>
    <p:text>Before presenting this table, give an example of what this experiment looks like.</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6-09-28T17:45:33.568">
    <p:pos x="2949" y="1595"/>
    <p:text>And here, before presenting this  second table, give an example of what this experiment looks like.</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5" dt="2026-09-28T17:46:09.417">
    <p:pos x="950" y="794"/>
    <p:text>Make these model headers into row-spanning columns.</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6" dt="2026-09-28T17:46:28.734">
    <p:pos x="6000" y="0"/>
    <p:text>Include a link or QR code.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6c8d82ef383c8eb1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h6c8d82ef383c8eb1_2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h6c8d82ef383c8eb1_2_50:notes"/>
          <p:cNvSpPr/>
          <p:nvPr>
            <p:ph idx="2" type="sldImg"/>
          </p:nvPr>
        </p:nvSpPr>
        <p:spPr>
          <a:xfrm>
            <a:off x="381000" y="881063"/>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h6c8d82ef383c8eb1_2_50:notes"/>
          <p:cNvSpPr txBox="1"/>
          <p:nvPr>
            <p:ph idx="1" type="body"/>
          </p:nvPr>
        </p:nvSpPr>
        <p:spPr>
          <a:xfrm>
            <a:off x="685800" y="4572000"/>
            <a:ext cx="5486400" cy="388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h6c8d82ef383c8eb1_2_50:notes"/>
          <p:cNvSpPr txBox="1"/>
          <p:nvPr>
            <p:ph idx="12" type="sldNum"/>
          </p:nvPr>
        </p:nvSpPr>
        <p:spPr>
          <a:xfrm>
            <a:off x="3884613" y="8685213"/>
            <a:ext cx="2971800" cy="457200"/>
          </a:xfrm>
          <a:prstGeom prst="rect">
            <a:avLst/>
          </a:prstGeom>
          <a:noFill/>
          <a:ln>
            <a:noFill/>
          </a:ln>
        </p:spPr>
        <p:txBody>
          <a:bodyPr anchorCtr="0" anchor="ctr" bIns="89600" lIns="89600" spcFirstLastPara="1" rIns="89600" wrap="square" tIns="8960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3ad69f7a908f471c_0_0:notes"/>
          <p:cNvSpPr/>
          <p:nvPr>
            <p:ph idx="2" type="sldImg"/>
          </p:nvPr>
        </p:nvSpPr>
        <p:spPr>
          <a:xfrm>
            <a:off x="381000" y="881063"/>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h3ad69f7a908f471c_0_0:notes"/>
          <p:cNvSpPr txBox="1"/>
          <p:nvPr>
            <p:ph idx="1" type="body"/>
          </p:nvPr>
        </p:nvSpPr>
        <p:spPr>
          <a:xfrm>
            <a:off x="685800" y="4572000"/>
            <a:ext cx="5486400" cy="388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h3ad69f7a908f471c_0_0:notes"/>
          <p:cNvSpPr txBox="1"/>
          <p:nvPr>
            <p:ph idx="12" type="sldNum"/>
          </p:nvPr>
        </p:nvSpPr>
        <p:spPr>
          <a:xfrm>
            <a:off x="3884613" y="8685213"/>
            <a:ext cx="2971800" cy="457200"/>
          </a:xfrm>
          <a:prstGeom prst="rect">
            <a:avLst/>
          </a:prstGeom>
          <a:noFill/>
          <a:ln>
            <a:noFill/>
          </a:ln>
        </p:spPr>
        <p:txBody>
          <a:bodyPr anchorCtr="0" anchor="ctr" bIns="89600" lIns="89600" spcFirstLastPara="1" rIns="89600" wrap="square" tIns="8960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6c8d82ef383c8eb1_2_58:notes"/>
          <p:cNvSpPr/>
          <p:nvPr>
            <p:ph idx="2" type="sldImg"/>
          </p:nvPr>
        </p:nvSpPr>
        <p:spPr>
          <a:xfrm>
            <a:off x="381000" y="881063"/>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h6c8d82ef383c8eb1_2_58:notes"/>
          <p:cNvSpPr txBox="1"/>
          <p:nvPr>
            <p:ph idx="1" type="body"/>
          </p:nvPr>
        </p:nvSpPr>
        <p:spPr>
          <a:xfrm>
            <a:off x="685800" y="4572000"/>
            <a:ext cx="5486400" cy="3886200"/>
          </a:xfrm>
          <a:prstGeom prst="rect">
            <a:avLst/>
          </a:prstGeom>
          <a:noFill/>
          <a:ln>
            <a:noFill/>
          </a:ln>
        </p:spPr>
        <p:txBody>
          <a:bodyPr anchorCtr="0" anchor="t" bIns="91425" lIns="91425" spcFirstLastPara="1" rIns="91425" wrap="square" tIns="91425">
            <a:noAutofit/>
          </a:bodyPr>
          <a:lstStyle/>
          <a:p>
            <a:r>
              <a:t>Restored clipped x-axis tick labels (0–1200) on the original image. Curve pixels and vertical axis are unchanged. No new experimental values were generated.</a:t>
            </a:r>
          </a:p>
        </p:txBody>
      </p:sp>
      <p:sp>
        <p:nvSpPr>
          <p:cNvPr id="139" name="Google Shape;139;h6c8d82ef383c8eb1_2_58:notes"/>
          <p:cNvSpPr txBox="1"/>
          <p:nvPr>
            <p:ph idx="12" type="sldNum"/>
          </p:nvPr>
        </p:nvSpPr>
        <p:spPr>
          <a:xfrm>
            <a:off x="3884613" y="8685213"/>
            <a:ext cx="2971800" cy="457200"/>
          </a:xfrm>
          <a:prstGeom prst="rect">
            <a:avLst/>
          </a:prstGeom>
          <a:noFill/>
          <a:ln>
            <a:noFill/>
          </a:ln>
        </p:spPr>
        <p:txBody>
          <a:bodyPr anchorCtr="0" anchor="ctr" bIns="89600" lIns="89600" spcFirstLastPara="1" rIns="89600" wrap="square" tIns="8960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6c8d82ef383c8eb1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h6c8d82ef383c8eb1_2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6c8d82ef383c8eb1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h6c8d82ef383c8eb1_2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6c8d82ef383c8eb1_2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h6c8d82ef383c8eb1_2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6c8d82ef383c8eb1_2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h6c8d82ef383c8eb1_2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6c8d82ef383c8eb1_2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h6c8d82ef383c8eb1_2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h262f46c5cd7ede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h262f46c5cd7ede5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6c8d82ef383c8eb1_2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h6c8d82ef383c8eb1_2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Protocol matches the camera-ready paper: fix problem, trajectory, rubric and judge; repeat 10 times with independent sampling. The math input is a constructed explanation of the protocol, not an actual recorded sample. No individual scores are invented.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h262f46c5cd7ede5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h262f46c5cd7ede53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Illustrative examples of the unproved-tightness failure type. Actual experiment: manually collect 50 groups of 2–11 semantically matched subgoals (mean 5.2), isolate target spans, score under Direct PRM, relevant RaR rubric dimension, and shared SCRIBE prototype. Report pairwise exact agreement and mean absolute score gap. Example-specific model scores are not available and are not shown.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h262f46c5cd7ede5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h262f46c5cd7ede53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h6c8d82ef383c8eb1_2_140:notes"/>
          <p:cNvSpPr/>
          <p:nvPr>
            <p:ph idx="2" type="sldImg"/>
          </p:nvPr>
        </p:nvSpPr>
        <p:spPr>
          <a:xfrm>
            <a:off x="397565" y="880672"/>
            <a:ext cx="6063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h6c8d82ef383c8eb1_2_140:notes"/>
          <p:cNvSpPr txBox="1"/>
          <p:nvPr>
            <p:ph idx="1" type="body"/>
          </p:nvPr>
        </p:nvSpPr>
        <p:spPr>
          <a:xfrm>
            <a:off x="685800" y="4572000"/>
            <a:ext cx="5486400" cy="388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h6c8d82ef383c8eb1_2_140:notes"/>
          <p:cNvSpPr txBox="1"/>
          <p:nvPr>
            <p:ph idx="12" type="sldNum"/>
          </p:nvPr>
        </p:nvSpPr>
        <p:spPr>
          <a:xfrm>
            <a:off x="3884613" y="8685213"/>
            <a:ext cx="2971800" cy="457200"/>
          </a:xfrm>
          <a:prstGeom prst="rect">
            <a:avLst/>
          </a:prstGeom>
          <a:noFill/>
          <a:ln>
            <a:noFill/>
          </a:ln>
        </p:spPr>
        <p:txBody>
          <a:bodyPr anchorCtr="0" anchor="ctr" bIns="89600" lIns="89600" spcFirstLastPara="1" rIns="89600" wrap="square" tIns="896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h6c8d82ef383c8eb1_2_147:notes"/>
          <p:cNvSpPr/>
          <p:nvPr>
            <p:ph idx="2" type="sldImg"/>
          </p:nvPr>
        </p:nvSpPr>
        <p:spPr>
          <a:xfrm>
            <a:off x="397565" y="880672"/>
            <a:ext cx="6063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h6c8d82ef383c8eb1_2_147:notes"/>
          <p:cNvSpPr txBox="1"/>
          <p:nvPr>
            <p:ph idx="1" type="body"/>
          </p:nvPr>
        </p:nvSpPr>
        <p:spPr>
          <a:xfrm>
            <a:off x="685800" y="4572000"/>
            <a:ext cx="5486400" cy="388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h6c8d82ef383c8eb1_2_147:notes"/>
          <p:cNvSpPr txBox="1"/>
          <p:nvPr>
            <p:ph idx="12" type="sldNum"/>
          </p:nvPr>
        </p:nvSpPr>
        <p:spPr>
          <a:xfrm>
            <a:off x="3884613" y="8685213"/>
            <a:ext cx="2971800" cy="457200"/>
          </a:xfrm>
          <a:prstGeom prst="rect">
            <a:avLst/>
          </a:prstGeom>
          <a:noFill/>
          <a:ln>
            <a:noFill/>
          </a:ln>
        </p:spPr>
        <p:txBody>
          <a:bodyPr anchorCtr="0" anchor="ctr" bIns="89600" lIns="89600" spcFirstLastPara="1" rIns="89600" wrap="square" tIns="896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h6c8d82ef383c8eb1_2_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h6c8d82ef383c8eb1_2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h6c8d82ef383c8eb1_2_174:notes"/>
          <p:cNvSpPr/>
          <p:nvPr>
            <p:ph idx="2" type="sldImg"/>
          </p:nvPr>
        </p:nvSpPr>
        <p:spPr>
          <a:xfrm>
            <a:off x="397565" y="880672"/>
            <a:ext cx="6063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h6c8d82ef383c8eb1_2_174:notes"/>
          <p:cNvSpPr txBox="1"/>
          <p:nvPr>
            <p:ph idx="1" type="body"/>
          </p:nvPr>
        </p:nvSpPr>
        <p:spPr>
          <a:xfrm>
            <a:off x="685800" y="4572000"/>
            <a:ext cx="5486400" cy="388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h6c8d82ef383c8eb1_2_174:notes"/>
          <p:cNvSpPr txBox="1"/>
          <p:nvPr>
            <p:ph idx="12" type="sldNum"/>
          </p:nvPr>
        </p:nvSpPr>
        <p:spPr>
          <a:xfrm>
            <a:off x="3884613" y="8685213"/>
            <a:ext cx="2971800" cy="457200"/>
          </a:xfrm>
          <a:prstGeom prst="rect">
            <a:avLst/>
          </a:prstGeom>
          <a:noFill/>
          <a:ln>
            <a:noFill/>
          </a:ln>
        </p:spPr>
        <p:txBody>
          <a:bodyPr anchorCtr="0" anchor="ctr" bIns="89600" lIns="89600" spcFirstLastPara="1" rIns="89600" wrap="square" tIns="896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h6c8d82ef383c8eb1_2_181:notes"/>
          <p:cNvSpPr/>
          <p:nvPr>
            <p:ph idx="2" type="sldImg"/>
          </p:nvPr>
        </p:nvSpPr>
        <p:spPr>
          <a:xfrm>
            <a:off x="397565" y="880672"/>
            <a:ext cx="6063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h6c8d82ef383c8eb1_2_181:notes"/>
          <p:cNvSpPr txBox="1"/>
          <p:nvPr>
            <p:ph idx="1" type="body"/>
          </p:nvPr>
        </p:nvSpPr>
        <p:spPr>
          <a:xfrm>
            <a:off x="685800" y="4572000"/>
            <a:ext cx="5486400" cy="388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h6c8d82ef383c8eb1_2_181:notes"/>
          <p:cNvSpPr txBox="1"/>
          <p:nvPr>
            <p:ph idx="12" type="sldNum"/>
          </p:nvPr>
        </p:nvSpPr>
        <p:spPr>
          <a:xfrm>
            <a:off x="3884613" y="8685213"/>
            <a:ext cx="2971800" cy="457200"/>
          </a:xfrm>
          <a:prstGeom prst="rect">
            <a:avLst/>
          </a:prstGeom>
          <a:noFill/>
          <a:ln>
            <a:noFill/>
          </a:ln>
        </p:spPr>
        <p:txBody>
          <a:bodyPr anchorCtr="0" anchor="ctr" bIns="89600" lIns="89600" spcFirstLastPara="1" rIns="89600" wrap="square" tIns="896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h6c8d82ef383c8eb1_2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h6c8d82ef383c8eb1_2_1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Content">
  <p:cSld name="Title_and_Content">
    <p:spTree>
      <p:nvGrpSpPr>
        <p:cNvPr id="50" name="Shape 50"/>
        <p:cNvGrpSpPr/>
        <p:nvPr/>
      </p:nvGrpSpPr>
      <p:grpSpPr>
        <a:xfrm>
          <a:off x="0" y="0"/>
          <a:ext cx="0" cy="0"/>
          <a:chOff x="0" y="0"/>
          <a:chExt cx="0" cy="0"/>
        </a:xfrm>
      </p:grpSpPr>
      <p:sp>
        <p:nvSpPr>
          <p:cNvPr id="51" name="Google Shape;51;p13"/>
          <p:cNvSpPr txBox="1"/>
          <p:nvPr>
            <p:ph idx="11" type="ftr"/>
          </p:nvPr>
        </p:nvSpPr>
        <p:spPr>
          <a:xfrm>
            <a:off x="1333500" y="4912520"/>
            <a:ext cx="6477000" cy="2238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2" name="Google Shape;52;p13"/>
          <p:cNvSpPr txBox="1"/>
          <p:nvPr>
            <p:ph idx="12" type="sldNum"/>
          </p:nvPr>
        </p:nvSpPr>
        <p:spPr>
          <a:xfrm>
            <a:off x="8102430" y="4914900"/>
            <a:ext cx="762000" cy="2193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body"/>
          </p:nvPr>
        </p:nvSpPr>
        <p:spPr>
          <a:xfrm>
            <a:off x="419100" y="857250"/>
            <a:ext cx="8305800" cy="40005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Font typeface="Arial"/>
              <a:buChar char="•"/>
              <a:defRPr sz="1400">
                <a:latin typeface="Tahoma"/>
                <a:ea typeface="Tahoma"/>
                <a:cs typeface="Tahoma"/>
                <a:sym typeface="Tahoma"/>
              </a:defRPr>
            </a:lvl1pPr>
            <a:lvl2pPr indent="-304800" lvl="1" marL="914400" algn="l">
              <a:lnSpc>
                <a:spcPct val="100000"/>
              </a:lnSpc>
              <a:spcBef>
                <a:spcPts val="200"/>
              </a:spcBef>
              <a:spcAft>
                <a:spcPts val="0"/>
              </a:spcAft>
              <a:buClr>
                <a:schemeClr val="dk1"/>
              </a:buClr>
              <a:buSzPts val="1200"/>
              <a:buFont typeface="Arial"/>
              <a:buChar char="•"/>
              <a:defRPr sz="1200"/>
            </a:lvl2pPr>
            <a:lvl3pPr indent="-298450" lvl="2" marL="1371600" algn="l">
              <a:lnSpc>
                <a:spcPct val="100000"/>
              </a:lnSpc>
              <a:spcBef>
                <a:spcPts val="200"/>
              </a:spcBef>
              <a:spcAft>
                <a:spcPts val="0"/>
              </a:spcAft>
              <a:buClr>
                <a:schemeClr val="dk1"/>
              </a:buClr>
              <a:buSzPts val="1100"/>
              <a:buFont typeface="Arial"/>
              <a:buChar char="•"/>
              <a:defRPr sz="1100"/>
            </a:lvl3pPr>
            <a:lvl4pPr indent="-292100" lvl="3" marL="1828800" algn="l">
              <a:lnSpc>
                <a:spcPct val="100000"/>
              </a:lnSpc>
              <a:spcBef>
                <a:spcPts val="200"/>
              </a:spcBef>
              <a:spcAft>
                <a:spcPts val="0"/>
              </a:spcAft>
              <a:buClr>
                <a:schemeClr val="dk1"/>
              </a:buClr>
              <a:buSzPts val="1000"/>
              <a:buFont typeface="Arial"/>
              <a:buChar char="•"/>
              <a:defRPr sz="1000"/>
            </a:lvl4pPr>
            <a:lvl5pPr indent="-292100" lvl="4" marL="2286000" algn="l">
              <a:lnSpc>
                <a:spcPct val="100000"/>
              </a:lnSpc>
              <a:spcBef>
                <a:spcPts val="200"/>
              </a:spcBef>
              <a:spcAft>
                <a:spcPts val="0"/>
              </a:spcAft>
              <a:buClr>
                <a:schemeClr val="dk1"/>
              </a:buClr>
              <a:buSzPts val="1000"/>
              <a:buFont typeface="Arial"/>
              <a:buChar char="•"/>
              <a:defRPr sz="1000"/>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54" name="Google Shape;54;p13"/>
          <p:cNvSpPr txBox="1"/>
          <p:nvPr>
            <p:ph type="ctrTitle"/>
          </p:nvPr>
        </p:nvSpPr>
        <p:spPr>
          <a:xfrm>
            <a:off x="1622425" y="113564"/>
            <a:ext cx="7140600" cy="4596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1800"/>
              <a:buFont typeface="Tahoma"/>
              <a:buNone/>
              <a:defRPr b="0" sz="1800">
                <a:latin typeface="Tahoma"/>
                <a:ea typeface="Tahoma"/>
                <a:cs typeface="Tahoma"/>
                <a:sym typeface="Tahom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55" name="Google Shape;55;p13"/>
          <p:cNvCxnSpPr/>
          <p:nvPr/>
        </p:nvCxnSpPr>
        <p:spPr>
          <a:xfrm>
            <a:off x="381000" y="630077"/>
            <a:ext cx="8382000" cy="1200"/>
          </a:xfrm>
          <a:prstGeom prst="straightConnector1">
            <a:avLst/>
          </a:prstGeom>
          <a:noFill/>
          <a:ln cap="flat" cmpd="sng" w="16675">
            <a:solidFill>
              <a:srgbClr val="0F5E90"/>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Content 1">
  <p:cSld name="Title_and_Content_1">
    <p:spTree>
      <p:nvGrpSpPr>
        <p:cNvPr id="56" name="Shape 56"/>
        <p:cNvGrpSpPr/>
        <p:nvPr/>
      </p:nvGrpSpPr>
      <p:grpSpPr>
        <a:xfrm>
          <a:off x="0" y="0"/>
          <a:ext cx="0" cy="0"/>
          <a:chOff x="0" y="0"/>
          <a:chExt cx="0" cy="0"/>
        </a:xfrm>
      </p:grpSpPr>
      <p:sp>
        <p:nvSpPr>
          <p:cNvPr id="57" name="Google Shape;57;p14"/>
          <p:cNvSpPr txBox="1"/>
          <p:nvPr>
            <p:ph idx="11" type="ftr"/>
          </p:nvPr>
        </p:nvSpPr>
        <p:spPr>
          <a:xfrm>
            <a:off x="1333500" y="4912520"/>
            <a:ext cx="6477000" cy="2238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8" name="Google Shape;58;p14"/>
          <p:cNvSpPr txBox="1"/>
          <p:nvPr>
            <p:ph idx="12" type="sldNum"/>
          </p:nvPr>
        </p:nvSpPr>
        <p:spPr>
          <a:xfrm>
            <a:off x="8102430" y="4914900"/>
            <a:ext cx="762000" cy="2193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idx="1" type="body"/>
          </p:nvPr>
        </p:nvSpPr>
        <p:spPr>
          <a:xfrm>
            <a:off x="419100" y="857250"/>
            <a:ext cx="8305800" cy="40005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Font typeface="Arial"/>
              <a:buChar char="•"/>
              <a:defRPr sz="1400">
                <a:latin typeface="Tahoma"/>
                <a:ea typeface="Tahoma"/>
                <a:cs typeface="Tahoma"/>
                <a:sym typeface="Tahoma"/>
              </a:defRPr>
            </a:lvl1pPr>
            <a:lvl2pPr indent="-304800" lvl="1" marL="914400" algn="l">
              <a:lnSpc>
                <a:spcPct val="100000"/>
              </a:lnSpc>
              <a:spcBef>
                <a:spcPts val="200"/>
              </a:spcBef>
              <a:spcAft>
                <a:spcPts val="0"/>
              </a:spcAft>
              <a:buClr>
                <a:schemeClr val="dk1"/>
              </a:buClr>
              <a:buSzPts val="1200"/>
              <a:buFont typeface="Arial"/>
              <a:buChar char="•"/>
              <a:defRPr sz="1200"/>
            </a:lvl2pPr>
            <a:lvl3pPr indent="-298450" lvl="2" marL="1371600" algn="l">
              <a:lnSpc>
                <a:spcPct val="100000"/>
              </a:lnSpc>
              <a:spcBef>
                <a:spcPts val="200"/>
              </a:spcBef>
              <a:spcAft>
                <a:spcPts val="0"/>
              </a:spcAft>
              <a:buClr>
                <a:schemeClr val="dk1"/>
              </a:buClr>
              <a:buSzPts val="1100"/>
              <a:buFont typeface="Arial"/>
              <a:buChar char="•"/>
              <a:defRPr sz="1100"/>
            </a:lvl3pPr>
            <a:lvl4pPr indent="-292100" lvl="3" marL="1828800" algn="l">
              <a:lnSpc>
                <a:spcPct val="100000"/>
              </a:lnSpc>
              <a:spcBef>
                <a:spcPts val="200"/>
              </a:spcBef>
              <a:spcAft>
                <a:spcPts val="0"/>
              </a:spcAft>
              <a:buClr>
                <a:schemeClr val="dk1"/>
              </a:buClr>
              <a:buSzPts val="1000"/>
              <a:buFont typeface="Arial"/>
              <a:buChar char="•"/>
              <a:defRPr sz="1000"/>
            </a:lvl4pPr>
            <a:lvl5pPr indent="-292100" lvl="4" marL="2286000" algn="l">
              <a:lnSpc>
                <a:spcPct val="100000"/>
              </a:lnSpc>
              <a:spcBef>
                <a:spcPts val="200"/>
              </a:spcBef>
              <a:spcAft>
                <a:spcPts val="0"/>
              </a:spcAft>
              <a:buClr>
                <a:schemeClr val="dk1"/>
              </a:buClr>
              <a:buSzPts val="1000"/>
              <a:buFont typeface="Arial"/>
              <a:buChar char="•"/>
              <a:defRPr sz="1000"/>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60" name="Google Shape;60;p14"/>
          <p:cNvSpPr txBox="1"/>
          <p:nvPr>
            <p:ph type="ctrTitle"/>
          </p:nvPr>
        </p:nvSpPr>
        <p:spPr>
          <a:xfrm>
            <a:off x="1622425" y="113564"/>
            <a:ext cx="7140600" cy="4596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1800"/>
              <a:buFont typeface="Tahoma"/>
              <a:buNone/>
              <a:defRPr b="0" sz="1800">
                <a:latin typeface="Tahoma"/>
                <a:ea typeface="Tahoma"/>
                <a:cs typeface="Tahoma"/>
                <a:sym typeface="Tahom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61" name="Google Shape;61;p14"/>
          <p:cNvCxnSpPr/>
          <p:nvPr/>
        </p:nvCxnSpPr>
        <p:spPr>
          <a:xfrm>
            <a:off x="381000" y="630077"/>
            <a:ext cx="8382000" cy="1200"/>
          </a:xfrm>
          <a:prstGeom prst="straightConnector1">
            <a:avLst/>
          </a:prstGeom>
          <a:noFill/>
          <a:ln cap="flat" cmpd="sng" w="16675">
            <a:solidFill>
              <a:srgbClr val="0F5E90"/>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5" name="Shape 65"/>
        <p:cNvGrpSpPr/>
        <p:nvPr/>
      </p:nvGrpSpPr>
      <p:grpSpPr>
        <a:xfrm>
          <a:off x="0" y="0"/>
          <a:ext cx="0" cy="0"/>
          <a:chOff x="0" y="0"/>
          <a:chExt cx="0" cy="0"/>
        </a:xfrm>
      </p:grpSpPr>
      <p:sp>
        <p:nvSpPr>
          <p:cNvPr id="66" name="Google Shape;66;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7" name="Google Shape;67;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Content">
  <p:cSld name="Title_and_Content">
    <p:spTree>
      <p:nvGrpSpPr>
        <p:cNvPr id="68" name="Shape 68"/>
        <p:cNvGrpSpPr/>
        <p:nvPr/>
      </p:nvGrpSpPr>
      <p:grpSpPr>
        <a:xfrm>
          <a:off x="0" y="0"/>
          <a:ext cx="0" cy="0"/>
          <a:chOff x="0" y="0"/>
          <a:chExt cx="0" cy="0"/>
        </a:xfrm>
      </p:grpSpPr>
      <p:sp>
        <p:nvSpPr>
          <p:cNvPr id="69" name="Google Shape;69;p17"/>
          <p:cNvSpPr txBox="1"/>
          <p:nvPr>
            <p:ph idx="11" type="ftr"/>
          </p:nvPr>
        </p:nvSpPr>
        <p:spPr>
          <a:xfrm>
            <a:off x="1333500" y="4912520"/>
            <a:ext cx="6477000" cy="2238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0" name="Google Shape;70;p17"/>
          <p:cNvSpPr txBox="1"/>
          <p:nvPr>
            <p:ph idx="1" type="body"/>
          </p:nvPr>
        </p:nvSpPr>
        <p:spPr>
          <a:xfrm>
            <a:off x="419100" y="857250"/>
            <a:ext cx="8305800" cy="40005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Font typeface="Arial"/>
              <a:buChar char="•"/>
              <a:defRPr sz="1400">
                <a:latin typeface="Tahoma"/>
                <a:ea typeface="Tahoma"/>
                <a:cs typeface="Tahoma"/>
                <a:sym typeface="Tahoma"/>
              </a:defRPr>
            </a:lvl1pPr>
            <a:lvl2pPr indent="-304800" lvl="1" marL="914400" algn="l">
              <a:lnSpc>
                <a:spcPct val="100000"/>
              </a:lnSpc>
              <a:spcBef>
                <a:spcPts val="200"/>
              </a:spcBef>
              <a:spcAft>
                <a:spcPts val="0"/>
              </a:spcAft>
              <a:buClr>
                <a:schemeClr val="dk1"/>
              </a:buClr>
              <a:buSzPts val="1200"/>
              <a:buFont typeface="Arial"/>
              <a:buChar char="•"/>
              <a:defRPr sz="1200"/>
            </a:lvl2pPr>
            <a:lvl3pPr indent="-298450" lvl="2" marL="1371600" algn="l">
              <a:lnSpc>
                <a:spcPct val="100000"/>
              </a:lnSpc>
              <a:spcBef>
                <a:spcPts val="200"/>
              </a:spcBef>
              <a:spcAft>
                <a:spcPts val="0"/>
              </a:spcAft>
              <a:buClr>
                <a:schemeClr val="dk1"/>
              </a:buClr>
              <a:buSzPts val="1100"/>
              <a:buFont typeface="Arial"/>
              <a:buChar char="•"/>
              <a:defRPr sz="1100"/>
            </a:lvl3pPr>
            <a:lvl4pPr indent="-292100" lvl="3" marL="1828800" algn="l">
              <a:lnSpc>
                <a:spcPct val="100000"/>
              </a:lnSpc>
              <a:spcBef>
                <a:spcPts val="200"/>
              </a:spcBef>
              <a:spcAft>
                <a:spcPts val="0"/>
              </a:spcAft>
              <a:buClr>
                <a:schemeClr val="dk1"/>
              </a:buClr>
              <a:buSzPts val="1000"/>
              <a:buFont typeface="Arial"/>
              <a:buChar char="•"/>
              <a:defRPr sz="1000"/>
            </a:lvl4pPr>
            <a:lvl5pPr indent="-292100" lvl="4" marL="2286000" algn="l">
              <a:lnSpc>
                <a:spcPct val="100000"/>
              </a:lnSpc>
              <a:spcBef>
                <a:spcPts val="200"/>
              </a:spcBef>
              <a:spcAft>
                <a:spcPts val="0"/>
              </a:spcAft>
              <a:buClr>
                <a:schemeClr val="dk1"/>
              </a:buClr>
              <a:buSzPts val="1000"/>
              <a:buFont typeface="Arial"/>
              <a:buChar char="•"/>
              <a:defRPr sz="1000"/>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71" name="Google Shape;71;p17"/>
          <p:cNvSpPr txBox="1"/>
          <p:nvPr>
            <p:ph type="ctrTitle"/>
          </p:nvPr>
        </p:nvSpPr>
        <p:spPr>
          <a:xfrm>
            <a:off x="1622425" y="113564"/>
            <a:ext cx="7140600" cy="4596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1800"/>
              <a:buFont typeface="Tahoma"/>
              <a:buNone/>
              <a:defRPr b="0" sz="1800">
                <a:latin typeface="Tahoma"/>
                <a:ea typeface="Tahoma"/>
                <a:cs typeface="Tahoma"/>
                <a:sym typeface="Tahom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2" name="Shape 72"/>
        <p:cNvGrpSpPr/>
        <p:nvPr/>
      </p:nvGrpSpPr>
      <p:grpSpPr>
        <a:xfrm>
          <a:off x="0" y="0"/>
          <a:ext cx="0" cy="0"/>
          <a:chOff x="0" y="0"/>
          <a:chExt cx="0" cy="0"/>
        </a:xfrm>
      </p:grpSpPr>
      <p:sp>
        <p:nvSpPr>
          <p:cNvPr id="73" name="Google Shape;73;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Content 1">
  <p:cSld name="Title_and_Content_1">
    <p:spTree>
      <p:nvGrpSpPr>
        <p:cNvPr id="75" name="Shape 75"/>
        <p:cNvGrpSpPr/>
        <p:nvPr/>
      </p:nvGrpSpPr>
      <p:grpSpPr>
        <a:xfrm>
          <a:off x="0" y="0"/>
          <a:ext cx="0" cy="0"/>
          <a:chOff x="0" y="0"/>
          <a:chExt cx="0" cy="0"/>
        </a:xfrm>
      </p:grpSpPr>
      <p:sp>
        <p:nvSpPr>
          <p:cNvPr id="76" name="Google Shape;76;p19"/>
          <p:cNvSpPr txBox="1"/>
          <p:nvPr>
            <p:ph idx="11" type="ftr"/>
          </p:nvPr>
        </p:nvSpPr>
        <p:spPr>
          <a:xfrm>
            <a:off x="1333500" y="4912520"/>
            <a:ext cx="6477000" cy="2238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7" name="Google Shape;77;p19"/>
          <p:cNvSpPr txBox="1"/>
          <p:nvPr>
            <p:ph idx="1" type="body"/>
          </p:nvPr>
        </p:nvSpPr>
        <p:spPr>
          <a:xfrm>
            <a:off x="419100" y="857250"/>
            <a:ext cx="8305800" cy="40005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Font typeface="Arial"/>
              <a:buChar char="•"/>
              <a:defRPr sz="1400">
                <a:latin typeface="Tahoma"/>
                <a:ea typeface="Tahoma"/>
                <a:cs typeface="Tahoma"/>
                <a:sym typeface="Tahoma"/>
              </a:defRPr>
            </a:lvl1pPr>
            <a:lvl2pPr indent="-304800" lvl="1" marL="914400" algn="l">
              <a:lnSpc>
                <a:spcPct val="100000"/>
              </a:lnSpc>
              <a:spcBef>
                <a:spcPts val="200"/>
              </a:spcBef>
              <a:spcAft>
                <a:spcPts val="0"/>
              </a:spcAft>
              <a:buClr>
                <a:schemeClr val="dk1"/>
              </a:buClr>
              <a:buSzPts val="1200"/>
              <a:buFont typeface="Arial"/>
              <a:buChar char="•"/>
              <a:defRPr sz="1200"/>
            </a:lvl2pPr>
            <a:lvl3pPr indent="-298450" lvl="2" marL="1371600" algn="l">
              <a:lnSpc>
                <a:spcPct val="100000"/>
              </a:lnSpc>
              <a:spcBef>
                <a:spcPts val="200"/>
              </a:spcBef>
              <a:spcAft>
                <a:spcPts val="0"/>
              </a:spcAft>
              <a:buClr>
                <a:schemeClr val="dk1"/>
              </a:buClr>
              <a:buSzPts val="1100"/>
              <a:buFont typeface="Arial"/>
              <a:buChar char="•"/>
              <a:defRPr sz="1100"/>
            </a:lvl3pPr>
            <a:lvl4pPr indent="-292100" lvl="3" marL="1828800" algn="l">
              <a:lnSpc>
                <a:spcPct val="100000"/>
              </a:lnSpc>
              <a:spcBef>
                <a:spcPts val="200"/>
              </a:spcBef>
              <a:spcAft>
                <a:spcPts val="0"/>
              </a:spcAft>
              <a:buClr>
                <a:schemeClr val="dk1"/>
              </a:buClr>
              <a:buSzPts val="1000"/>
              <a:buFont typeface="Arial"/>
              <a:buChar char="•"/>
              <a:defRPr sz="1000"/>
            </a:lvl4pPr>
            <a:lvl5pPr indent="-292100" lvl="4" marL="2286000" algn="l">
              <a:lnSpc>
                <a:spcPct val="100000"/>
              </a:lnSpc>
              <a:spcBef>
                <a:spcPts val="200"/>
              </a:spcBef>
              <a:spcAft>
                <a:spcPts val="0"/>
              </a:spcAft>
              <a:buClr>
                <a:schemeClr val="dk1"/>
              </a:buClr>
              <a:buSzPts val="1000"/>
              <a:buFont typeface="Arial"/>
              <a:buChar char="•"/>
              <a:defRPr sz="1000"/>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78" name="Google Shape;78;p19"/>
          <p:cNvSpPr txBox="1"/>
          <p:nvPr>
            <p:ph type="ctrTitle"/>
          </p:nvPr>
        </p:nvSpPr>
        <p:spPr>
          <a:xfrm>
            <a:off x="1622425" y="113564"/>
            <a:ext cx="7140600" cy="4596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1800"/>
              <a:buFont typeface="Tahoma"/>
              <a:buNone/>
              <a:defRPr b="0" sz="1800">
                <a:latin typeface="Tahoma"/>
                <a:ea typeface="Tahoma"/>
                <a:cs typeface="Tahoma"/>
                <a:sym typeface="Tahom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1" name="Shape 81"/>
        <p:cNvGrpSpPr/>
        <p:nvPr/>
      </p:nvGrpSpPr>
      <p:grpSpPr>
        <a:xfrm>
          <a:off x="0" y="0"/>
          <a:ext cx="0" cy="0"/>
          <a:chOff x="0" y="0"/>
          <a:chExt cx="0" cy="0"/>
        </a:xfrm>
      </p:grpSpPr>
      <p:sp>
        <p:nvSpPr>
          <p:cNvPr id="82" name="Google Shape;82;p2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3" name="Shape 83"/>
        <p:cNvGrpSpPr/>
        <p:nvPr/>
      </p:nvGrpSpPr>
      <p:grpSpPr>
        <a:xfrm>
          <a:off x="0" y="0"/>
          <a:ext cx="0" cy="0"/>
          <a:chOff x="0" y="0"/>
          <a:chExt cx="0" cy="0"/>
        </a:xfrm>
      </p:grpSpPr>
      <p:sp>
        <p:nvSpPr>
          <p:cNvPr id="84" name="Google Shape;84;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5" name="Google Shape;85;p2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6" name="Google Shape;86;p2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2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1" name="Google Shape;91;p2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2" name="Shape 92"/>
        <p:cNvGrpSpPr/>
        <p:nvPr/>
      </p:nvGrpSpPr>
      <p:grpSpPr>
        <a:xfrm>
          <a:off x="0" y="0"/>
          <a:ext cx="0" cy="0"/>
          <a:chOff x="0" y="0"/>
          <a:chExt cx="0" cy="0"/>
        </a:xfrm>
      </p:grpSpPr>
      <p:sp>
        <p:nvSpPr>
          <p:cNvPr id="93" name="Google Shape;93;p2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5" name="Google Shape;95;p2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6" name="Google Shape;96;p2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9" name="Shape 99"/>
        <p:cNvGrpSpPr/>
        <p:nvPr/>
      </p:nvGrpSpPr>
      <p:grpSpPr>
        <a:xfrm>
          <a:off x="0" y="0"/>
          <a:ext cx="0" cy="0"/>
          <a:chOff x="0" y="0"/>
          <a:chExt cx="0" cy="0"/>
        </a:xfrm>
      </p:grpSpPr>
      <p:sp>
        <p:nvSpPr>
          <p:cNvPr id="100" name="Google Shape;100;p2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1" name="Google Shape;101;p2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 name="Shape 10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2" name="Shape 62"/>
        <p:cNvGrpSpPr/>
        <p:nvPr/>
      </p:nvGrpSpPr>
      <p:grpSpPr>
        <a:xfrm>
          <a:off x="0" y="0"/>
          <a:ext cx="0" cy="0"/>
          <a:chOff x="0" y="0"/>
          <a:chExt cx="0" cy="0"/>
        </a:xfrm>
      </p:grpSpPr>
      <p:sp>
        <p:nvSpPr>
          <p:cNvPr id="63" name="Google Shape;63;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4" name="Google Shape;64;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8.jpg"/><Relationship Id="rId7" Type="http://schemas.openxmlformats.org/officeDocument/2006/relationships/image" Target="../media/image9.jpg"/><Relationship Id="rId8" Type="http://schemas.openxmlformats.org/officeDocument/2006/relationships/image" Target="../media/image11.png"/><Relationship Id="rId9" Type="http://schemas.openxmlformats.org/officeDocument/2006/relationships/hyperlink" Target="https://github.com/YuxuanJiang1/SCRIB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comments" Target="../comments/commen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comments" Target="../comments/commen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comments" Target="../comments/comment4.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comments" Target="../comments/comment5.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comments" Target="../comments/commen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comments" Target="../comments/commen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comments" Target="../comments/commen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comments" Target="../comments/comment9.xml"/><Relationship Id="rId4" Type="http://schemas.openxmlformats.org/officeDocument/2006/relationships/image" Target="../media/image11.png"/><Relationship Id="rId5" Type="http://schemas.openxmlformats.org/officeDocument/2006/relationships/hyperlink" Target="https://github.com/YuxuanJiang1/SCRIB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29"/>
          <p:cNvSpPr txBox="1"/>
          <p:nvPr/>
        </p:nvSpPr>
        <p:spPr>
          <a:xfrm>
            <a:off x="457200" y="566219"/>
            <a:ext cx="8229600" cy="1051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3000" u="none" cap="none" strike="noStrike">
                <a:solidFill>
                  <a:srgbClr val="183153"/>
                </a:solidFill>
                <a:latin typeface="Arial"/>
                <a:ea typeface="Arial"/>
                <a:cs typeface="Arial"/>
                <a:sym typeface="Arial"/>
              </a:rPr>
              <a:t>SCRIBE: Learning Reusable</a:t>
            </a:r>
            <a:endParaRPr/>
          </a:p>
          <a:p>
            <a:pPr indent="0" lvl="0" marL="0" marR="0" rtl="0" algn="ctr">
              <a:lnSpc>
                <a:spcPct val="100000"/>
              </a:lnSpc>
              <a:spcBef>
                <a:spcPts val="1000"/>
              </a:spcBef>
              <a:spcAft>
                <a:spcPts val="0"/>
              </a:spcAft>
              <a:buNone/>
            </a:pPr>
            <a:r>
              <a:rPr b="1" i="0" lang="en" sz="3000" u="none" cap="none" strike="noStrike">
                <a:solidFill>
                  <a:srgbClr val="183153"/>
                </a:solidFill>
                <a:latin typeface="Arial"/>
                <a:ea typeface="Arial"/>
                <a:cs typeface="Arial"/>
                <a:sym typeface="Arial"/>
              </a:rPr>
              <a:t>Skill Rubrics for Process Reward Models</a:t>
            </a:r>
            <a:endParaRPr/>
          </a:p>
        </p:txBody>
      </p:sp>
      <p:sp>
        <p:nvSpPr>
          <p:cNvPr id="108" name="Google Shape;108;p29"/>
          <p:cNvSpPr txBox="1"/>
          <p:nvPr/>
        </p:nvSpPr>
        <p:spPr>
          <a:xfrm>
            <a:off x="457200" y="1996440"/>
            <a:ext cx="82296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2000" u="none" cap="none" strike="noStrike">
                <a:solidFill>
                  <a:srgbClr val="183153"/>
                </a:solidFill>
                <a:latin typeface="Arial"/>
                <a:ea typeface="Arial"/>
                <a:cs typeface="Arial"/>
                <a:sym typeface="Arial"/>
              </a:rPr>
              <a:t>Yuxuan Jiang     Francis Ferraro</a:t>
            </a:r>
            <a:endParaRPr/>
          </a:p>
        </p:txBody>
      </p:sp>
      <p:sp>
        <p:nvSpPr>
          <p:cNvPr id="109" name="Google Shape;109;p29"/>
          <p:cNvSpPr txBox="1"/>
          <p:nvPr/>
        </p:nvSpPr>
        <p:spPr>
          <a:xfrm>
            <a:off x="501500" y="2330835"/>
            <a:ext cx="8229600" cy="26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1700" u="none" cap="none" strike="noStrike">
                <a:solidFill>
                  <a:srgbClr val="526174"/>
                </a:solidFill>
                <a:latin typeface="Arial"/>
                <a:ea typeface="Arial"/>
                <a:cs typeface="Arial"/>
                <a:sym typeface="Arial"/>
              </a:rPr>
              <a:t>University of Maryland, Baltimore County</a:t>
            </a:r>
            <a:endParaRPr/>
          </a:p>
        </p:txBody>
      </p:sp>
      <p:sp>
        <p:nvSpPr>
          <p:cNvPr id="110" name="Google Shape;110;p29"/>
          <p:cNvSpPr txBox="1"/>
          <p:nvPr/>
        </p:nvSpPr>
        <p:spPr>
          <a:xfrm>
            <a:off x="457200" y="4709160"/>
            <a:ext cx="8229600" cy="2651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1600" u="none" cap="none" strike="noStrike">
                <a:solidFill>
                  <a:srgbClr val="FFFFFF"/>
                </a:solidFill>
                <a:latin typeface="Arial"/>
                <a:ea typeface="Arial"/>
                <a:cs typeface="Arial"/>
                <a:sym typeface="Arial"/>
              </a:rPr>
              <a:t>EMNLP 2026</a:t>
            </a:r>
            <a:endParaRPr/>
          </a:p>
        </p:txBody>
      </p:sp>
      <p:pic>
        <p:nvPicPr>
          <p:cNvPr id="113" name="Google Shape;113;p29"/>
          <p:cNvPicPr preferRelativeResize="0"/>
          <p:nvPr/>
        </p:nvPicPr>
        <p:blipFill rotWithShape="1">
          <a:blip r:embed="rId4">
            <a:alphaModFix/>
          </a:blip>
          <a:srcRect b="0" l="0" r="0" t="0"/>
          <a:stretch/>
        </p:blipFill>
        <p:spPr>
          <a:xfrm>
            <a:off x="260492" y="4447094"/>
            <a:ext cx="1515619" cy="362892"/>
          </a:xfrm>
          <a:prstGeom prst="rect">
            <a:avLst/>
          </a:prstGeom>
          <a:noFill/>
          <a:ln>
            <a:noFill/>
          </a:ln>
        </p:spPr>
      </p:pic>
      <p:pic>
        <p:nvPicPr>
          <p:cNvPr id="114" name="Google Shape;114;p29"/>
          <p:cNvPicPr preferRelativeResize="0"/>
          <p:nvPr/>
        </p:nvPicPr>
        <p:blipFill rotWithShape="1">
          <a:blip r:embed="rId5">
            <a:alphaModFix/>
          </a:blip>
          <a:srcRect b="0" l="0" r="0" t="0"/>
          <a:stretch/>
        </p:blipFill>
        <p:spPr>
          <a:xfrm>
            <a:off x="7515956" y="4120670"/>
            <a:ext cx="1628044" cy="1076749"/>
          </a:xfrm>
          <a:prstGeom prst="rect">
            <a:avLst/>
          </a:prstGeom>
          <a:noFill/>
          <a:ln>
            <a:noFill/>
          </a:ln>
        </p:spPr>
      </p:pic>
      <p:sp>
        <p:nvSpPr>
          <p:cNvPr id="115" name="Google Shape;115;p29"/>
          <p:cNvSpPr txBox="1"/>
          <p:nvPr/>
        </p:nvSpPr>
        <p:spPr>
          <a:xfrm>
            <a:off x="6988547" y="4389894"/>
            <a:ext cx="794700" cy="4773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libri"/>
                <a:ea typeface="Calibri"/>
                <a:cs typeface="Calibri"/>
                <a:sym typeface="Calibri"/>
              </a:rPr>
              <a:t>Supported by:</a:t>
            </a:r>
            <a:endParaRPr b="0" i="0" sz="1100" u="none" cap="none" strike="noStrike">
              <a:solidFill>
                <a:srgbClr val="000000"/>
              </a:solidFill>
              <a:latin typeface="Calibri"/>
              <a:ea typeface="Calibri"/>
              <a:cs typeface="Calibri"/>
              <a:sym typeface="Calibri"/>
            </a:endParaRPr>
          </a:p>
        </p:txBody>
      </p:sp>
      <p:pic>
        <p:nvPicPr>
          <p:cNvPr id="116" name="Picture 115" descr="prof_pic-slide.jpg"/>
          <p:cNvPicPr>
            <a:picLocks noChangeAspect="1"/>
          </p:cNvPicPr>
          <p:nvPr/>
        </p:nvPicPr>
        <p:blipFill>
          <a:blip r:embed="rId6"/>
          <a:stretch>
            <a:fillRect/>
          </a:stretch>
        </p:blipFill>
        <p:spPr>
          <a:xfrm>
            <a:off x="2754650" y="2723780"/>
            <a:ext cx="1400100" cy="1505700"/>
          </a:xfrm>
          <a:prstGeom prst="rect">
            <a:avLst/>
          </a:prstGeom>
        </p:spPr>
      </p:pic>
      <p:pic>
        <p:nvPicPr>
          <p:cNvPr id="117" name="Picture 116" descr="ferraro-headshot-slide.jpg"/>
          <p:cNvPicPr>
            <a:picLocks noChangeAspect="1"/>
          </p:cNvPicPr>
          <p:nvPr/>
        </p:nvPicPr>
        <p:blipFill>
          <a:blip r:embed="rId7"/>
          <a:stretch>
            <a:fillRect/>
          </a:stretch>
        </p:blipFill>
        <p:spPr>
          <a:xfrm>
            <a:off x="4838650" y="2727942"/>
            <a:ext cx="1400100" cy="1505700"/>
          </a:xfrm>
          <a:prstGeom prst="rect">
            <a:avLst/>
          </a:prstGeom>
        </p:spPr>
      </p:pic>
      <p:pic>
        <p:nvPicPr>
          <p:cNvPr id="118" name="Picture 117" descr="scribe-project-qr.png">
            <a:hlinkClick r:id="rId9"/>
          </p:cNvPr>
          <p:cNvPicPr>
            <a:picLocks noChangeAspect="1"/>
          </p:cNvPicPr>
          <p:nvPr/>
        </p:nvPicPr>
        <p:blipFill>
          <a:blip r:embed="rId8"/>
          <a:stretch>
            <a:fillRect/>
          </a:stretch>
        </p:blipFill>
        <p:spPr>
          <a:xfrm>
            <a:off x="7589520" y="2761488"/>
            <a:ext cx="1024128" cy="1024128"/>
          </a:xfrm>
          <a:prstGeom prst="rect">
            <a:avLst/>
          </a:prstGeom>
        </p:spPr>
      </p:pic>
      <p:sp>
        <p:nvSpPr>
          <p:cNvPr id="119" name="TextBox 118"/>
          <p:cNvSpPr txBox="1"/>
          <p:nvPr/>
        </p:nvSpPr>
        <p:spPr>
          <a:xfrm>
            <a:off x="7406640" y="3794760"/>
            <a:ext cx="1389888" cy="164592"/>
          </a:xfrm>
          <a:prstGeom prst="rect">
            <a:avLst/>
          </a:prstGeom>
          <a:noFill/>
        </p:spPr>
        <p:txBody>
          <a:bodyPr wrap="none" tIns="0" bIns="0" lIns="0" rIns="0">
            <a:spAutoFit/>
          </a:bodyPr>
          <a:lstStyle/>
          <a:p>
            <a:pPr algn="ctr">
              <a:defRPr sz="900" b="1">
                <a:solidFill>
                  <a:srgbClr val="193354"/>
                </a:solidFill>
                <a:latin typeface="Arial"/>
              </a:defRPr>
            </a:pPr>
            <a:r>
              <a:rPr>
                <a:hlinkClick r:id="rId9"/>
              </a:rPr>
              <a:t>Project &amp; Slides</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0"/>
          <p:cNvSpPr txBox="1"/>
          <p:nvPr>
            <p:ph idx="1" type="body"/>
          </p:nvPr>
        </p:nvSpPr>
        <p:spPr>
          <a:xfrm>
            <a:off x="419100" y="857250"/>
            <a:ext cx="8305800" cy="40005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900"/>
              </a:spcBef>
              <a:spcAft>
                <a:spcPts val="0"/>
              </a:spcAft>
              <a:buSzPts val="1400"/>
              <a:buNone/>
            </a:pPr>
            <a:r>
              <a:rPr b="1" lang="en" sz="1100">
                <a:solidFill>
                  <a:schemeClr val="dk1"/>
                </a:solidFill>
                <a:latin typeface="Arial"/>
                <a:ea typeface="Arial"/>
                <a:cs typeface="Arial"/>
                <a:sym typeface="Arial"/>
              </a:rPr>
              <a:t>Over-rewarding:</a:t>
            </a:r>
            <a:r>
              <a:rPr lang="en" sz="1100">
                <a:solidFill>
                  <a:schemeClr val="dk1"/>
                </a:solidFill>
                <a:latin typeface="Arial"/>
                <a:ea typeface="Arial"/>
                <a:cs typeface="Arial"/>
                <a:sym typeface="Arial"/>
              </a:rPr>
              <a:t> Correct Answer + Flawed Logic </a:t>
            </a:r>
            <a:endParaRPr b="1" sz="1100">
              <a:solidFill>
                <a:schemeClr val="dk1"/>
              </a:solidFill>
              <a:latin typeface="Arial"/>
              <a:ea typeface="Arial"/>
              <a:cs typeface="Arial"/>
              <a:sym typeface="Arial"/>
            </a:endParaRPr>
          </a:p>
          <a:p>
            <a:pPr indent="0" lvl="0" marL="0" rtl="0" algn="l">
              <a:lnSpc>
                <a:spcPct val="115000"/>
              </a:lnSpc>
              <a:spcBef>
                <a:spcPts val="900"/>
              </a:spcBef>
              <a:spcAft>
                <a:spcPts val="0"/>
              </a:spcAft>
              <a:buSzPts val="1400"/>
              <a:buNone/>
            </a:pPr>
            <a:r>
              <a:rPr b="1" lang="en" sz="1100">
                <a:solidFill>
                  <a:schemeClr val="dk1"/>
                </a:solidFill>
                <a:latin typeface="Arial"/>
                <a:ea typeface="Arial"/>
                <a:cs typeface="Arial"/>
                <a:sym typeface="Arial"/>
              </a:rPr>
              <a:t>Over-penalizing:</a:t>
            </a:r>
            <a:r>
              <a:rPr lang="en" sz="1100">
                <a:solidFill>
                  <a:schemeClr val="dk1"/>
                </a:solidFill>
                <a:latin typeface="Arial"/>
                <a:ea typeface="Arial"/>
                <a:cs typeface="Arial"/>
                <a:sym typeface="Arial"/>
              </a:rPr>
              <a:t> Sound Strategy + Minor Syntax Error </a:t>
            </a:r>
            <a:endParaRPr b="1" sz="1100">
              <a:solidFill>
                <a:schemeClr val="dk1"/>
              </a:solidFill>
              <a:latin typeface="Arial"/>
              <a:ea typeface="Arial"/>
              <a:cs typeface="Arial"/>
              <a:sym typeface="Arial"/>
            </a:endParaRPr>
          </a:p>
          <a:p>
            <a:pPr indent="0" lvl="0" marL="342900" rtl="0" algn="l">
              <a:lnSpc>
                <a:spcPct val="115000"/>
              </a:lnSpc>
              <a:spcBef>
                <a:spcPts val="900"/>
              </a:spcBef>
              <a:spcAft>
                <a:spcPts val="0"/>
              </a:spcAft>
              <a:buSzPts val="1400"/>
              <a:buNone/>
            </a:pPr>
            <a:br>
              <a:rPr lang="en" sz="1500">
                <a:solidFill>
                  <a:schemeClr val="dk1"/>
                </a:solidFill>
                <a:latin typeface="Arial"/>
                <a:ea typeface="Arial"/>
                <a:cs typeface="Arial"/>
                <a:sym typeface="Arial"/>
              </a:rPr>
            </a:br>
            <a:endParaRPr sz="1500">
              <a:solidFill>
                <a:schemeClr val="dk1"/>
              </a:solidFill>
              <a:latin typeface="Arial"/>
              <a:ea typeface="Arial"/>
              <a:cs typeface="Arial"/>
              <a:sym typeface="Arial"/>
            </a:endParaRPr>
          </a:p>
          <a:p>
            <a:pPr indent="0" lvl="0" marL="0" rtl="0" algn="l">
              <a:lnSpc>
                <a:spcPct val="100000"/>
              </a:lnSpc>
              <a:spcBef>
                <a:spcPts val="900"/>
              </a:spcBef>
              <a:spcAft>
                <a:spcPts val="0"/>
              </a:spcAft>
              <a:buSzPts val="1400"/>
              <a:buNone/>
            </a:pPr>
            <a:r>
              <a:t/>
            </a:r>
            <a:endParaRPr/>
          </a:p>
        </p:txBody>
      </p:sp>
      <p:sp>
        <p:nvSpPr>
          <p:cNvPr id="122" name="Google Shape;122;p30"/>
          <p:cNvSpPr txBox="1"/>
          <p:nvPr>
            <p:ph type="ctrTitle"/>
          </p:nvPr>
        </p:nvSpPr>
        <p:spPr>
          <a:xfrm>
            <a:off x="438912" y="164592"/>
            <a:ext cx="8266200" cy="475500"/>
          </a:xfrm>
          <a:prstGeom prst="rect">
            <a:avLst/>
          </a:prstGeom>
          <a:noFill/>
          <a:ln>
            <a:noFill/>
          </a:ln>
        </p:spPr>
        <p:txBody>
          <a:bodyPr anchorCtr="0" anchor="t" bIns="91425" lIns="0" spcFirstLastPara="1" rIns="0" wrap="square" tIns="91425">
            <a:normAutofit fontScale="90000"/>
          </a:bodyPr>
          <a:lstStyle/>
          <a:p>
            <a:pPr indent="0" lvl="0" marL="0" rtl="0" algn="l">
              <a:lnSpc>
                <a:spcPct val="100000"/>
              </a:lnSpc>
              <a:spcBef>
                <a:spcPts val="0"/>
              </a:spcBef>
              <a:spcAft>
                <a:spcPts val="0"/>
              </a:spcAft>
              <a:buSzPct val="96618"/>
              <a:buNone/>
            </a:pPr>
            <a:r>
              <a:rPr b="1" lang="en" sz="2300">
                <a:solidFill>
                  <a:srgbClr val="162849"/>
                </a:solidFill>
                <a:latin typeface="Play"/>
                <a:ea typeface="Play"/>
                <a:cs typeface="Play"/>
                <a:sym typeface="Play"/>
              </a:rPr>
              <a:t>Motivation: Unreliable Reward Leads to Unreliable RL Training</a:t>
            </a:r>
            <a:endParaRPr/>
          </a:p>
        </p:txBody>
      </p:sp>
      <p:pic>
        <p:nvPicPr>
          <p:cNvPr id="123" name="Google Shape;123;p30"/>
          <p:cNvPicPr preferRelativeResize="0"/>
          <p:nvPr/>
        </p:nvPicPr>
        <p:blipFill rotWithShape="1">
          <a:blip r:embed="rId4">
            <a:alphaModFix/>
          </a:blip>
          <a:srcRect b="0" l="0" r="0" t="0"/>
          <a:stretch/>
        </p:blipFill>
        <p:spPr>
          <a:xfrm>
            <a:off x="0" y="1490500"/>
            <a:ext cx="5313174" cy="3272275"/>
          </a:xfrm>
          <a:prstGeom prst="rect">
            <a:avLst/>
          </a:prstGeom>
          <a:noFill/>
          <a:ln>
            <a:noFill/>
          </a:ln>
        </p:spPr>
      </p:pic>
      <p:sp>
        <p:nvSpPr>
          <p:cNvPr id="124" name="Google Shape;124;p30"/>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 name="Shape 129"/>
        <p:cNvGrpSpPr/>
        <p:nvPr/>
      </p:nvGrpSpPr>
      <p:grpSpPr>
        <a:xfrm>
          <a:off x="0" y="0"/>
          <a:ext cx="0" cy="0"/>
          <a:chOff x="0" y="0"/>
          <a:chExt cx="0" cy="0"/>
        </a:xfrm>
      </p:grpSpPr>
      <p:sp>
        <p:nvSpPr>
          <p:cNvPr id="130" name="Google Shape;130;p31"/>
          <p:cNvSpPr txBox="1"/>
          <p:nvPr>
            <p:ph idx="1" type="body"/>
          </p:nvPr>
        </p:nvSpPr>
        <p:spPr>
          <a:xfrm>
            <a:off x="419100" y="857250"/>
            <a:ext cx="8305800" cy="40005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900"/>
              </a:spcBef>
              <a:spcAft>
                <a:spcPts val="0"/>
              </a:spcAft>
              <a:buSzPts val="1400"/>
              <a:buNone/>
            </a:pPr>
            <a:r>
              <a:t/>
            </a:r>
            <a:endParaRPr b="1" sz="1100">
              <a:solidFill>
                <a:schemeClr val="dk1"/>
              </a:solidFill>
              <a:latin typeface="Arial"/>
              <a:ea typeface="Arial"/>
              <a:cs typeface="Arial"/>
              <a:sym typeface="Arial"/>
            </a:endParaRPr>
          </a:p>
          <a:p>
            <a:pPr indent="0" lvl="0" marL="0" rtl="0" algn="l">
              <a:lnSpc>
                <a:spcPct val="115000"/>
              </a:lnSpc>
              <a:spcBef>
                <a:spcPts val="900"/>
              </a:spcBef>
              <a:spcAft>
                <a:spcPts val="0"/>
              </a:spcAft>
              <a:buSzPts val="1400"/>
              <a:buNone/>
            </a:pPr>
            <a:r>
              <a:t/>
            </a:r>
            <a:endParaRPr b="1" sz="1100">
              <a:solidFill>
                <a:schemeClr val="dk1"/>
              </a:solidFill>
              <a:latin typeface="Arial"/>
              <a:ea typeface="Arial"/>
              <a:cs typeface="Arial"/>
              <a:sym typeface="Arial"/>
            </a:endParaRPr>
          </a:p>
          <a:p>
            <a:pPr indent="0" lvl="0" marL="342900" rtl="0" algn="l">
              <a:lnSpc>
                <a:spcPct val="115000"/>
              </a:lnSpc>
              <a:spcBef>
                <a:spcPts val="900"/>
              </a:spcBef>
              <a:spcAft>
                <a:spcPts val="0"/>
              </a:spcAft>
              <a:buSzPts val="1400"/>
              <a:buNone/>
            </a:pPr>
            <a:br>
              <a:rPr lang="en" sz="1500">
                <a:solidFill>
                  <a:schemeClr val="dk1"/>
                </a:solidFill>
                <a:latin typeface="Arial"/>
                <a:ea typeface="Arial"/>
                <a:cs typeface="Arial"/>
                <a:sym typeface="Arial"/>
              </a:rPr>
            </a:br>
            <a:endParaRPr sz="1500">
              <a:solidFill>
                <a:schemeClr val="dk1"/>
              </a:solidFill>
              <a:latin typeface="Arial"/>
              <a:ea typeface="Arial"/>
              <a:cs typeface="Arial"/>
              <a:sym typeface="Arial"/>
            </a:endParaRPr>
          </a:p>
          <a:p>
            <a:pPr indent="0" lvl="0" marL="0" rtl="0" algn="l">
              <a:lnSpc>
                <a:spcPct val="100000"/>
              </a:lnSpc>
              <a:spcBef>
                <a:spcPts val="900"/>
              </a:spcBef>
              <a:spcAft>
                <a:spcPts val="0"/>
              </a:spcAft>
              <a:buSzPts val="1400"/>
              <a:buNone/>
            </a:pPr>
            <a:r>
              <a:t/>
            </a:r>
            <a:endParaRPr/>
          </a:p>
        </p:txBody>
      </p:sp>
      <p:sp>
        <p:nvSpPr>
          <p:cNvPr id="131" name="Google Shape;131;p31"/>
          <p:cNvSpPr txBox="1"/>
          <p:nvPr>
            <p:ph type="ctrTitle"/>
          </p:nvPr>
        </p:nvSpPr>
        <p:spPr>
          <a:xfrm>
            <a:off x="438912" y="164592"/>
            <a:ext cx="8266200" cy="475500"/>
          </a:xfrm>
          <a:prstGeom prst="rect">
            <a:avLst/>
          </a:prstGeom>
          <a:noFill/>
          <a:ln>
            <a:noFill/>
          </a:ln>
        </p:spPr>
        <p:txBody>
          <a:bodyPr anchorCtr="0" anchor="t" bIns="91425" lIns="0" spcFirstLastPara="1" rIns="0" wrap="square" tIns="91425">
            <a:normAutofit fontScale="90000"/>
          </a:bodyPr>
          <a:lstStyle/>
          <a:p>
            <a:pPr indent="0" lvl="0" marL="0" rtl="0" algn="l">
              <a:lnSpc>
                <a:spcPct val="100000"/>
              </a:lnSpc>
              <a:spcBef>
                <a:spcPts val="0"/>
              </a:spcBef>
              <a:spcAft>
                <a:spcPts val="0"/>
              </a:spcAft>
              <a:buSzPct val="96618"/>
              <a:buNone/>
            </a:pPr>
            <a:r>
              <a:rPr b="1" lang="en" sz="2300">
                <a:solidFill>
                  <a:srgbClr val="162849"/>
                </a:solidFill>
                <a:latin typeface="Play"/>
                <a:ea typeface="Play"/>
                <a:cs typeface="Play"/>
                <a:sym typeface="Play"/>
              </a:rPr>
              <a:t>Motivation: Unreliable Reward Leads to Unreliable RL Training</a:t>
            </a:r>
            <a:endParaRPr/>
          </a:p>
        </p:txBody>
      </p:sp>
      <p:pic>
        <p:nvPicPr>
          <p:cNvPr id="132" name="Google Shape;132;p31"/>
          <p:cNvPicPr preferRelativeResize="0"/>
          <p:nvPr/>
        </p:nvPicPr>
        <p:blipFill rotWithShape="1">
          <a:blip r:embed="rId4">
            <a:alphaModFix/>
          </a:blip>
          <a:srcRect b="8817" l="0" r="0" t="0"/>
          <a:stretch/>
        </p:blipFill>
        <p:spPr>
          <a:xfrm>
            <a:off x="1239675" y="801800"/>
            <a:ext cx="6848175" cy="3845825"/>
          </a:xfrm>
          <a:prstGeom prst="rect">
            <a:avLst/>
          </a:prstGeom>
          <a:noFill/>
          <a:ln>
            <a:noFill/>
          </a:ln>
        </p:spPr>
      </p:pic>
      <p:sp>
        <p:nvSpPr>
          <p:cNvPr id="133" name="Google Shape;133;p31"/>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4" name="Google Shape;134;p31"/>
          <p:cNvSpPr txBox="1"/>
          <p:nvPr/>
        </p:nvSpPr>
        <p:spPr>
          <a:xfrm>
            <a:off x="1686275" y="4542900"/>
            <a:ext cx="3000000" cy="54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900"/>
              </a:spcBef>
              <a:spcAft>
                <a:spcPts val="0"/>
              </a:spcAft>
              <a:buNone/>
            </a:pPr>
            <a:r>
              <a:rPr b="1" lang="en" sz="1100">
                <a:solidFill>
                  <a:schemeClr val="dk1"/>
                </a:solidFill>
              </a:rPr>
              <a:t>Over-rewarding:</a:t>
            </a:r>
            <a:br>
              <a:rPr lang="en" sz="1100">
                <a:solidFill>
                  <a:schemeClr val="dk1"/>
                </a:solidFill>
              </a:rPr>
            </a:br>
            <a:r>
              <a:rPr lang="en" sz="1100">
                <a:solidFill>
                  <a:schemeClr val="dk1"/>
                </a:solidFill>
              </a:rPr>
              <a:t>Correct Answer but Flawed Logic </a:t>
            </a:r>
            <a:endParaRPr/>
          </a:p>
        </p:txBody>
      </p:sp>
      <p:sp>
        <p:nvSpPr>
          <p:cNvPr id="135" name="Google Shape;135;p31"/>
          <p:cNvSpPr txBox="1"/>
          <p:nvPr/>
        </p:nvSpPr>
        <p:spPr>
          <a:xfrm>
            <a:off x="5004900" y="4600650"/>
            <a:ext cx="3000000" cy="54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900"/>
              </a:spcBef>
              <a:spcAft>
                <a:spcPts val="0"/>
              </a:spcAft>
              <a:buNone/>
            </a:pPr>
            <a:r>
              <a:rPr b="1" lang="en" sz="1100">
                <a:solidFill>
                  <a:schemeClr val="dk1"/>
                </a:solidFill>
              </a:rPr>
              <a:t>Over-penalizing:</a:t>
            </a:r>
            <a:br>
              <a:rPr lang="en" sz="1100">
                <a:solidFill>
                  <a:schemeClr val="dk1"/>
                </a:solidFill>
              </a:rPr>
            </a:br>
            <a:r>
              <a:rPr lang="en" sz="1100">
                <a:solidFill>
                  <a:schemeClr val="dk1"/>
                </a:solidFill>
              </a:rPr>
              <a:t>Sound Strategy + Minor Syntax Error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2"/>
          <p:cNvSpPr txBox="1"/>
          <p:nvPr>
            <p:ph idx="1" type="body"/>
          </p:nvPr>
        </p:nvSpPr>
        <p:spPr>
          <a:xfrm>
            <a:off x="419100" y="857250"/>
            <a:ext cx="8305800" cy="40005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900"/>
              </a:spcBef>
              <a:spcAft>
                <a:spcPts val="0"/>
              </a:spcAft>
              <a:buSzPts val="1400"/>
              <a:buNone/>
            </a:pPr>
            <a:r>
              <a:rPr b="1" lang="en" sz="1100">
                <a:solidFill>
                  <a:schemeClr val="dk1"/>
                </a:solidFill>
                <a:latin typeface="Arial"/>
                <a:ea typeface="Arial"/>
                <a:cs typeface="Arial"/>
                <a:sym typeface="Arial"/>
              </a:rPr>
              <a:t>Over-rewarding:</a:t>
            </a:r>
            <a:r>
              <a:rPr lang="en" sz="1100">
                <a:solidFill>
                  <a:schemeClr val="dk1"/>
                </a:solidFill>
                <a:latin typeface="Arial"/>
                <a:ea typeface="Arial"/>
                <a:cs typeface="Arial"/>
                <a:sym typeface="Arial"/>
              </a:rPr>
              <a:t> Correct Answer + Flawed Logic </a:t>
            </a:r>
            <a:endParaRPr b="1" sz="1100">
              <a:solidFill>
                <a:schemeClr val="dk1"/>
              </a:solidFill>
              <a:latin typeface="Arial"/>
              <a:ea typeface="Arial"/>
              <a:cs typeface="Arial"/>
              <a:sym typeface="Arial"/>
            </a:endParaRPr>
          </a:p>
          <a:p>
            <a:pPr indent="0" lvl="0" marL="0" rtl="0" algn="l">
              <a:lnSpc>
                <a:spcPct val="115000"/>
              </a:lnSpc>
              <a:spcBef>
                <a:spcPts val="900"/>
              </a:spcBef>
              <a:spcAft>
                <a:spcPts val="0"/>
              </a:spcAft>
              <a:buSzPts val="1400"/>
              <a:buNone/>
            </a:pPr>
            <a:r>
              <a:rPr b="1" lang="en" sz="1100">
                <a:solidFill>
                  <a:schemeClr val="dk1"/>
                </a:solidFill>
                <a:latin typeface="Arial"/>
                <a:ea typeface="Arial"/>
                <a:cs typeface="Arial"/>
                <a:sym typeface="Arial"/>
              </a:rPr>
              <a:t>Over-penalizing:</a:t>
            </a:r>
            <a:r>
              <a:rPr lang="en" sz="1100">
                <a:solidFill>
                  <a:schemeClr val="dk1"/>
                </a:solidFill>
                <a:latin typeface="Arial"/>
                <a:ea typeface="Arial"/>
                <a:cs typeface="Arial"/>
                <a:sym typeface="Arial"/>
              </a:rPr>
              <a:t> Sound Strategy + Minor Syntax Error </a:t>
            </a:r>
            <a:endParaRPr b="1" sz="1100">
              <a:solidFill>
                <a:schemeClr val="dk1"/>
              </a:solidFill>
              <a:latin typeface="Arial"/>
              <a:ea typeface="Arial"/>
              <a:cs typeface="Arial"/>
              <a:sym typeface="Arial"/>
            </a:endParaRPr>
          </a:p>
          <a:p>
            <a:pPr indent="0" lvl="0" marL="342900" rtl="0" algn="l">
              <a:lnSpc>
                <a:spcPct val="115000"/>
              </a:lnSpc>
              <a:spcBef>
                <a:spcPts val="900"/>
              </a:spcBef>
              <a:spcAft>
                <a:spcPts val="0"/>
              </a:spcAft>
              <a:buSzPts val="1400"/>
              <a:buNone/>
            </a:pPr>
            <a:br>
              <a:rPr lang="en" sz="1500">
                <a:solidFill>
                  <a:schemeClr val="dk1"/>
                </a:solidFill>
                <a:latin typeface="Arial"/>
                <a:ea typeface="Arial"/>
                <a:cs typeface="Arial"/>
                <a:sym typeface="Arial"/>
              </a:rPr>
            </a:br>
            <a:endParaRPr sz="1500">
              <a:solidFill>
                <a:schemeClr val="dk1"/>
              </a:solidFill>
              <a:latin typeface="Arial"/>
              <a:ea typeface="Arial"/>
              <a:cs typeface="Arial"/>
              <a:sym typeface="Arial"/>
            </a:endParaRPr>
          </a:p>
          <a:p>
            <a:pPr indent="0" lvl="0" marL="0" rtl="0" algn="l">
              <a:lnSpc>
                <a:spcPct val="100000"/>
              </a:lnSpc>
              <a:spcBef>
                <a:spcPts val="900"/>
              </a:spcBef>
              <a:spcAft>
                <a:spcPts val="0"/>
              </a:spcAft>
              <a:buSzPts val="1400"/>
              <a:buNone/>
            </a:pPr>
            <a:r>
              <a:t/>
            </a:r>
            <a:endParaRPr/>
          </a:p>
        </p:txBody>
      </p:sp>
      <p:sp>
        <p:nvSpPr>
          <p:cNvPr id="142" name="Google Shape;142;p32"/>
          <p:cNvSpPr txBox="1"/>
          <p:nvPr>
            <p:ph type="ctrTitle"/>
          </p:nvPr>
        </p:nvSpPr>
        <p:spPr>
          <a:xfrm>
            <a:off x="438912" y="164592"/>
            <a:ext cx="8266200" cy="475500"/>
          </a:xfrm>
          <a:prstGeom prst="rect">
            <a:avLst/>
          </a:prstGeom>
          <a:noFill/>
          <a:ln>
            <a:noFill/>
          </a:ln>
        </p:spPr>
        <p:txBody>
          <a:bodyPr anchorCtr="0" anchor="t" bIns="91425" lIns="0" spcFirstLastPara="1" rIns="0" wrap="square" tIns="91425">
            <a:normAutofit fontScale="90000"/>
          </a:bodyPr>
          <a:lstStyle/>
          <a:p>
            <a:pPr indent="0" lvl="0" marL="0" rtl="0" algn="l">
              <a:lnSpc>
                <a:spcPct val="100000"/>
              </a:lnSpc>
              <a:spcBef>
                <a:spcPts val="0"/>
              </a:spcBef>
              <a:spcAft>
                <a:spcPts val="0"/>
              </a:spcAft>
              <a:buSzPct val="96618"/>
              <a:buNone/>
            </a:pPr>
            <a:r>
              <a:rPr b="1" lang="en" sz="2300">
                <a:solidFill>
                  <a:srgbClr val="162849"/>
                </a:solidFill>
                <a:latin typeface="Play"/>
                <a:ea typeface="Play"/>
                <a:cs typeface="Play"/>
                <a:sym typeface="Play"/>
              </a:rPr>
              <a:t>Motivation: Unreliable Reward Leads to Unreliable RL Training</a:t>
            </a:r>
            <a:endParaRPr/>
          </a:p>
        </p:txBody>
      </p:sp>
      <p:pic>
        <p:nvPicPr>
          <p:cNvPr id="143" name="Google Shape;143;p32"/>
          <p:cNvPicPr preferRelativeResize="0"/>
          <p:nvPr/>
        </p:nvPicPr>
        <p:blipFill rotWithShape="1">
          <a:blip r:embed="rId4">
            <a:alphaModFix/>
          </a:blip>
          <a:srcRect b="0" l="0" r="0" t="0"/>
          <a:stretch/>
        </p:blipFill>
        <p:spPr>
          <a:xfrm>
            <a:off x="0" y="1490500"/>
            <a:ext cx="5313174" cy="3272275"/>
          </a:xfrm>
          <a:prstGeom prst="rect">
            <a:avLst/>
          </a:prstGeom>
          <a:noFill/>
          <a:ln>
            <a:noFill/>
          </a:ln>
        </p:spPr>
      </p:pic>
      <p:sp>
        <p:nvSpPr>
          <p:cNvPr id="145" name="Google Shape;145;p32"/>
          <p:cNvSpPr txBox="1"/>
          <p:nvPr/>
        </p:nvSpPr>
        <p:spPr>
          <a:xfrm>
            <a:off x="6183600" y="1291375"/>
            <a:ext cx="2541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Training Crash!</a:t>
            </a:r>
            <a:endParaRPr b="0" i="0" sz="1800" u="none" cap="none" strike="noStrike">
              <a:solidFill>
                <a:schemeClr val="dk2"/>
              </a:solidFill>
              <a:latin typeface="Arial"/>
              <a:ea typeface="Arial"/>
              <a:cs typeface="Arial"/>
              <a:sym typeface="Arial"/>
            </a:endParaRPr>
          </a:p>
        </p:txBody>
      </p:sp>
      <p:sp>
        <p:nvSpPr>
          <p:cNvPr id="146" name="Google Shape;146;p32"/>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47" name="Picture 146" descr="training-curve-axis-restored.png"/>
          <p:cNvPicPr>
            <a:picLocks noChangeAspect="1"/>
          </p:cNvPicPr>
          <p:nvPr/>
        </p:nvPicPr>
        <p:blipFill>
          <a:blip r:embed="rId6"/>
          <a:stretch>
            <a:fillRect/>
          </a:stretch>
        </p:blipFill>
        <p:spPr>
          <a:xfrm>
            <a:off x="5047488" y="1837943"/>
            <a:ext cx="3867912" cy="27797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3"/>
          <p:cNvSpPr txBox="1"/>
          <p:nvPr>
            <p:ph type="title"/>
          </p:nvPr>
        </p:nvSpPr>
        <p:spPr>
          <a:xfrm>
            <a:off x="438912" y="164592"/>
            <a:ext cx="7498200" cy="475500"/>
          </a:xfrm>
          <a:prstGeom prst="rect">
            <a:avLst/>
          </a:prstGeom>
          <a:noFill/>
          <a:ln>
            <a:noFill/>
          </a:ln>
        </p:spPr>
        <p:txBody>
          <a:bodyPr anchorCtr="0" anchor="t" bIns="91425" lIns="0" spcFirstLastPara="1" rIns="0" wrap="square" tIns="91425">
            <a:normAutofit fontScale="90000"/>
          </a:bodyPr>
          <a:lstStyle/>
          <a:p>
            <a:pPr indent="0" lvl="0" marL="0" rtl="0" algn="l">
              <a:lnSpc>
                <a:spcPct val="100000"/>
              </a:lnSpc>
              <a:spcBef>
                <a:spcPts val="0"/>
              </a:spcBef>
              <a:spcAft>
                <a:spcPts val="0"/>
              </a:spcAft>
              <a:buSzPct val="111111"/>
              <a:buNone/>
            </a:pPr>
            <a:r>
              <a:rPr b="1" lang="en" sz="2300">
                <a:solidFill>
                  <a:srgbClr val="162849"/>
                </a:solidFill>
                <a:latin typeface="Play"/>
                <a:ea typeface="Play"/>
                <a:cs typeface="Play"/>
                <a:sym typeface="Play"/>
              </a:rPr>
              <a:t>SCRIBE: Process Reward Is Not About ‘Correct’ but ‘Done’</a:t>
            </a:r>
            <a:endParaRPr/>
          </a:p>
        </p:txBody>
      </p:sp>
      <p:sp>
        <p:nvSpPr>
          <p:cNvPr id="152" name="Google Shape;152;p33"/>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reveal4.png" id="153" name="Google Shape;153;p33"/>
          <p:cNvPicPr preferRelativeResize="0"/>
          <p:nvPr/>
        </p:nvPicPr>
        <p:blipFill rotWithShape="1">
          <a:blip r:embed="rId4">
            <a:alphaModFix/>
          </a:blip>
          <a:srcRect b="0" l="0" r="0" t="0"/>
          <a:stretch/>
        </p:blipFill>
        <p:spPr>
          <a:xfrm>
            <a:off x="1033271" y="896112"/>
            <a:ext cx="7077456" cy="40670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4"/>
          <p:cNvSpPr txBox="1"/>
          <p:nvPr>
            <p:ph type="title"/>
          </p:nvPr>
        </p:nvSpPr>
        <p:spPr>
          <a:xfrm>
            <a:off x="438912" y="164592"/>
            <a:ext cx="7498200" cy="475500"/>
          </a:xfrm>
          <a:prstGeom prst="rect">
            <a:avLst/>
          </a:prstGeom>
          <a:noFill/>
          <a:ln>
            <a:noFill/>
          </a:ln>
        </p:spPr>
        <p:txBody>
          <a:bodyPr anchorCtr="0" anchor="t" bIns="91425" lIns="0" spcFirstLastPara="1" rIns="0" wrap="square" tIns="91425">
            <a:normAutofit fontScale="90000"/>
          </a:bodyPr>
          <a:lstStyle/>
          <a:p>
            <a:pPr indent="0" lvl="0" marL="0" rtl="0" algn="l">
              <a:lnSpc>
                <a:spcPct val="100000"/>
              </a:lnSpc>
              <a:spcBef>
                <a:spcPts val="0"/>
              </a:spcBef>
              <a:spcAft>
                <a:spcPts val="0"/>
              </a:spcAft>
              <a:buSzPct val="111111"/>
              <a:buNone/>
            </a:pPr>
            <a:r>
              <a:rPr b="1" lang="en" sz="2300">
                <a:solidFill>
                  <a:srgbClr val="162849"/>
                </a:solidFill>
                <a:latin typeface="Play"/>
                <a:ea typeface="Play"/>
                <a:cs typeface="Play"/>
                <a:sym typeface="Play"/>
              </a:rPr>
              <a:t>Skill Prototype: A Reliable Rewarding Rubric</a:t>
            </a:r>
            <a:endParaRPr/>
          </a:p>
        </p:txBody>
      </p:sp>
      <p:sp>
        <p:nvSpPr>
          <p:cNvPr id="159" name="Google Shape;159;p34"/>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reveal5.png" id="160" name="Google Shape;160;p34"/>
          <p:cNvPicPr preferRelativeResize="0"/>
          <p:nvPr/>
        </p:nvPicPr>
        <p:blipFill rotWithShape="1">
          <a:blip r:embed="rId3">
            <a:alphaModFix/>
          </a:blip>
          <a:srcRect b="0" l="0" r="0" t="0"/>
          <a:stretch/>
        </p:blipFill>
        <p:spPr>
          <a:xfrm>
            <a:off x="1033271" y="896112"/>
            <a:ext cx="7077456" cy="406706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5"/>
          <p:cNvSpPr txBox="1"/>
          <p:nvPr>
            <p:ph type="title"/>
          </p:nvPr>
        </p:nvSpPr>
        <p:spPr>
          <a:xfrm>
            <a:off x="438912" y="164592"/>
            <a:ext cx="7498200" cy="475500"/>
          </a:xfrm>
          <a:prstGeom prst="rect">
            <a:avLst/>
          </a:prstGeom>
          <a:noFill/>
          <a:ln>
            <a:noFill/>
          </a:ln>
        </p:spPr>
        <p:txBody>
          <a:bodyPr anchorCtr="0" anchor="t" bIns="91425" lIns="0" spcFirstLastPara="1" rIns="0" wrap="square" tIns="91425">
            <a:normAutofit fontScale="90000"/>
          </a:bodyPr>
          <a:lstStyle/>
          <a:p>
            <a:pPr indent="0" lvl="0" marL="0" rtl="0" algn="l">
              <a:lnSpc>
                <a:spcPct val="100000"/>
              </a:lnSpc>
              <a:spcBef>
                <a:spcPts val="0"/>
              </a:spcBef>
              <a:spcAft>
                <a:spcPts val="0"/>
              </a:spcAft>
              <a:buSzPct val="111111"/>
              <a:buNone/>
            </a:pPr>
            <a:r>
              <a:rPr b="1" lang="en" sz="2300">
                <a:solidFill>
                  <a:srgbClr val="162849"/>
                </a:solidFill>
                <a:latin typeface="Play"/>
                <a:ea typeface="Play"/>
                <a:cs typeface="Play"/>
                <a:sym typeface="Play"/>
              </a:rPr>
              <a:t>Reliable Training</a:t>
            </a:r>
            <a:endParaRPr/>
          </a:p>
        </p:txBody>
      </p:sp>
      <p:sp>
        <p:nvSpPr>
          <p:cNvPr id="166" name="Google Shape;166;p35"/>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reveal6.png" id="167" name="Google Shape;167;p35"/>
          <p:cNvPicPr preferRelativeResize="0"/>
          <p:nvPr/>
        </p:nvPicPr>
        <p:blipFill rotWithShape="1">
          <a:blip r:embed="rId3">
            <a:alphaModFix/>
          </a:blip>
          <a:srcRect b="0" l="0" r="0" t="0"/>
          <a:stretch/>
        </p:blipFill>
        <p:spPr>
          <a:xfrm>
            <a:off x="1033271" y="896112"/>
            <a:ext cx="7077456" cy="406706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6"/>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3" name="Google Shape;173;p36"/>
          <p:cNvSpPr txBox="1"/>
          <p:nvPr/>
        </p:nvSpPr>
        <p:spPr>
          <a:xfrm>
            <a:off x="438899" y="164600"/>
            <a:ext cx="8086200" cy="390900"/>
          </a:xfrm>
          <a:prstGeom prst="rect">
            <a:avLst/>
          </a:prstGeom>
          <a:noFill/>
          <a:ln>
            <a:noFill/>
          </a:ln>
        </p:spPr>
        <p:txBody>
          <a:bodyPr anchorCtr="0" anchor="ctr" bIns="18275" lIns="54850" spcFirstLastPara="1" rIns="54850" wrap="square" tIns="1827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162849"/>
                </a:solidFill>
                <a:latin typeface="Arial"/>
                <a:ea typeface="Arial"/>
                <a:cs typeface="Arial"/>
                <a:sym typeface="Arial"/>
              </a:rPr>
              <a:t>A Skill Prototype Becomes a Reusable Reward Standard</a:t>
            </a:r>
            <a:endParaRPr b="0" i="0" sz="1400" u="none" cap="none" strike="noStrike">
              <a:solidFill>
                <a:srgbClr val="000000"/>
              </a:solidFill>
              <a:latin typeface="Arial"/>
              <a:ea typeface="Arial"/>
              <a:cs typeface="Arial"/>
              <a:sym typeface="Arial"/>
            </a:endParaRPr>
          </a:p>
        </p:txBody>
      </p:sp>
      <p:sp>
        <p:nvSpPr>
          <p:cNvPr id="174" name="Google Shape;174;p36"/>
          <p:cNvSpPr txBox="1"/>
          <p:nvPr/>
        </p:nvSpPr>
        <p:spPr>
          <a:xfrm>
            <a:off x="3886200" y="1261872"/>
            <a:ext cx="4572000" cy="190800"/>
          </a:xfrm>
          <a:prstGeom prst="rect">
            <a:avLst/>
          </a:prstGeom>
          <a:noFill/>
          <a:ln>
            <a:noFill/>
          </a:ln>
        </p:spPr>
        <p:txBody>
          <a:bodyPr anchorCtr="0" anchor="ctr" bIns="18275" lIns="54850" spcFirstLastPara="1" rIns="54850" wrap="square" tIns="1827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2870E6"/>
                </a:solidFill>
                <a:latin typeface="Arial"/>
                <a:ea typeface="Arial"/>
                <a:cs typeface="Arial"/>
                <a:sym typeface="Arial"/>
              </a:rPr>
              <a:t>TAKEAWAY</a:t>
            </a:r>
            <a:endParaRPr b="0" i="0" sz="1400" u="none" cap="none" strike="noStrike">
              <a:solidFill>
                <a:srgbClr val="000000"/>
              </a:solidFill>
              <a:latin typeface="Arial"/>
              <a:ea typeface="Arial"/>
              <a:cs typeface="Arial"/>
              <a:sym typeface="Arial"/>
            </a:endParaRPr>
          </a:p>
        </p:txBody>
      </p:sp>
      <p:sp>
        <p:nvSpPr>
          <p:cNvPr id="175" name="Google Shape;175;p36"/>
          <p:cNvSpPr/>
          <p:nvPr/>
        </p:nvSpPr>
        <p:spPr>
          <a:xfrm>
            <a:off x="3886200" y="1719072"/>
            <a:ext cx="4572000" cy="749700"/>
          </a:xfrm>
          <a:prstGeom prst="roundRect">
            <a:avLst>
              <a:gd fmla="val 16667" name="adj"/>
            </a:avLst>
          </a:prstGeom>
          <a:solidFill>
            <a:srgbClr val="F7F9FD"/>
          </a:solidFill>
          <a:ln>
            <a:noFill/>
          </a:ln>
          <a:effectLst>
            <a:outerShdw blurRad="40000" rotWithShape="0" dir="5400000" dist="23000">
              <a:srgbClr val="000000">
                <a:alpha val="34902"/>
              </a:srgbClr>
            </a:outerShdw>
          </a:effectLst>
        </p:spPr>
        <p:txBody>
          <a:bodyPr anchorCtr="0" anchor="ctr" bIns="18275" lIns="164575" spcFirstLastPara="1" rIns="164575" wrap="square" tIns="18275">
            <a:noAutofit/>
          </a:bodyPr>
          <a:lstStyle/>
          <a:p>
            <a:pPr indent="0" lvl="0" marL="0" marR="0" rtl="0" algn="l">
              <a:lnSpc>
                <a:spcPct val="100000"/>
              </a:lnSpc>
              <a:spcBef>
                <a:spcPts val="0"/>
              </a:spcBef>
              <a:spcAft>
                <a:spcPts val="0"/>
              </a:spcAft>
              <a:buClr>
                <a:srgbClr val="000000"/>
              </a:buClr>
              <a:buSzPts val="1120"/>
              <a:buFont typeface="Arial"/>
              <a:buNone/>
            </a:pPr>
            <a:r>
              <a:rPr b="1" i="0" lang="en" sz="1120" u="none" cap="none" strike="noStrike">
                <a:solidFill>
                  <a:srgbClr val="162849"/>
                </a:solidFill>
                <a:latin typeface="Arial"/>
                <a:ea typeface="Arial"/>
                <a:cs typeface="Arial"/>
                <a:sym typeface="Arial"/>
              </a:rPr>
              <a:t>Structured</a:t>
            </a:r>
            <a:br>
              <a:rPr b="1" i="0" lang="en" sz="1120" u="none" cap="none" strike="noStrike">
                <a:solidFill>
                  <a:srgbClr val="162849"/>
                </a:solidFill>
                <a:latin typeface="Arial"/>
                <a:ea typeface="Arial"/>
                <a:cs typeface="Arial"/>
                <a:sym typeface="Arial"/>
              </a:rPr>
            </a:br>
            <a:r>
              <a:rPr b="1" i="0" lang="en" sz="1120" u="none" cap="none" strike="noStrike">
                <a:solidFill>
                  <a:srgbClr val="162849"/>
                </a:solidFill>
                <a:latin typeface="Arial"/>
                <a:ea typeface="Arial"/>
                <a:cs typeface="Arial"/>
                <a:sym typeface="Arial"/>
              </a:rPr>
              <a:t>A prototype specifies the skill, expected reasoning pattern, and concrete failure modes.</a:t>
            </a:r>
            <a:endParaRPr b="0" i="0" sz="1400" u="none" cap="none" strike="noStrike">
              <a:solidFill>
                <a:srgbClr val="000000"/>
              </a:solidFill>
              <a:latin typeface="Arial"/>
              <a:ea typeface="Arial"/>
              <a:cs typeface="Arial"/>
              <a:sym typeface="Arial"/>
            </a:endParaRPr>
          </a:p>
        </p:txBody>
      </p:sp>
      <p:sp>
        <p:nvSpPr>
          <p:cNvPr id="176" name="Google Shape;176;p36"/>
          <p:cNvSpPr/>
          <p:nvPr/>
        </p:nvSpPr>
        <p:spPr>
          <a:xfrm>
            <a:off x="3886200" y="2651760"/>
            <a:ext cx="4572000" cy="749700"/>
          </a:xfrm>
          <a:prstGeom prst="roundRect">
            <a:avLst>
              <a:gd fmla="val 16667" name="adj"/>
            </a:avLst>
          </a:prstGeom>
          <a:solidFill>
            <a:srgbClr val="F7F9FD"/>
          </a:solidFill>
          <a:ln>
            <a:noFill/>
          </a:ln>
          <a:effectLst>
            <a:outerShdw blurRad="40000" rotWithShape="0" dir="5400000" dist="23000">
              <a:srgbClr val="000000">
                <a:alpha val="34902"/>
              </a:srgbClr>
            </a:outerShdw>
          </a:effectLst>
        </p:spPr>
        <p:txBody>
          <a:bodyPr anchorCtr="0" anchor="ctr" bIns="18275" lIns="164575" spcFirstLastPara="1" rIns="164575" wrap="square" tIns="18275">
            <a:noAutofit/>
          </a:bodyPr>
          <a:lstStyle/>
          <a:p>
            <a:pPr indent="0" lvl="0" marL="0" marR="0" rtl="0" algn="l">
              <a:lnSpc>
                <a:spcPct val="100000"/>
              </a:lnSpc>
              <a:spcBef>
                <a:spcPts val="0"/>
              </a:spcBef>
              <a:spcAft>
                <a:spcPts val="0"/>
              </a:spcAft>
              <a:buClr>
                <a:srgbClr val="000000"/>
              </a:buClr>
              <a:buSzPts val="1120"/>
              <a:buFont typeface="Arial"/>
              <a:buNone/>
            </a:pPr>
            <a:r>
              <a:rPr b="1" i="0" lang="en" sz="1120" u="none" cap="none" strike="noStrike">
                <a:solidFill>
                  <a:srgbClr val="162849"/>
                </a:solidFill>
                <a:latin typeface="Arial"/>
                <a:ea typeface="Arial"/>
                <a:cs typeface="Arial"/>
                <a:sym typeface="Arial"/>
              </a:rPr>
              <a:t>Reusable</a:t>
            </a:r>
            <a:br>
              <a:rPr b="1" i="0" lang="en" sz="1120" u="none" cap="none" strike="noStrike">
                <a:solidFill>
                  <a:srgbClr val="162849"/>
                </a:solidFill>
                <a:latin typeface="Arial"/>
                <a:ea typeface="Arial"/>
                <a:cs typeface="Arial"/>
                <a:sym typeface="Arial"/>
              </a:rPr>
            </a:br>
            <a:r>
              <a:rPr b="1" i="0" lang="en" sz="1120" u="none" cap="none" strike="noStrike">
                <a:solidFill>
                  <a:srgbClr val="162849"/>
                </a:solidFill>
                <a:latin typeface="Arial"/>
                <a:ea typeface="Arial"/>
                <a:cs typeface="Arial"/>
                <a:sym typeface="Arial"/>
              </a:rPr>
              <a:t>The same rubric evaluates comparable subgoals across different problems.</a:t>
            </a:r>
            <a:endParaRPr b="0" i="0" sz="1400" u="none" cap="none" strike="noStrike">
              <a:solidFill>
                <a:srgbClr val="000000"/>
              </a:solidFill>
              <a:latin typeface="Arial"/>
              <a:ea typeface="Arial"/>
              <a:cs typeface="Arial"/>
              <a:sym typeface="Arial"/>
            </a:endParaRPr>
          </a:p>
        </p:txBody>
      </p:sp>
      <p:sp>
        <p:nvSpPr>
          <p:cNvPr id="177" name="Google Shape;177;p36"/>
          <p:cNvSpPr/>
          <p:nvPr/>
        </p:nvSpPr>
        <p:spPr>
          <a:xfrm>
            <a:off x="3886200" y="3584448"/>
            <a:ext cx="4572000" cy="749700"/>
          </a:xfrm>
          <a:prstGeom prst="roundRect">
            <a:avLst>
              <a:gd fmla="val 16667" name="adj"/>
            </a:avLst>
          </a:prstGeom>
          <a:solidFill>
            <a:srgbClr val="F7F9FD"/>
          </a:solidFill>
          <a:ln>
            <a:noFill/>
          </a:ln>
          <a:effectLst>
            <a:outerShdw blurRad="40000" rotWithShape="0" dir="5400000" dist="23000">
              <a:srgbClr val="000000">
                <a:alpha val="34902"/>
              </a:srgbClr>
            </a:outerShdw>
          </a:effectLst>
        </p:spPr>
        <p:txBody>
          <a:bodyPr anchorCtr="0" anchor="ctr" bIns="18275" lIns="164575" spcFirstLastPara="1" rIns="164575" wrap="square" tIns="18275">
            <a:noAutofit/>
          </a:bodyPr>
          <a:lstStyle/>
          <a:p>
            <a:pPr indent="0" lvl="0" marL="0" marR="0" rtl="0" algn="l">
              <a:lnSpc>
                <a:spcPct val="100000"/>
              </a:lnSpc>
              <a:spcBef>
                <a:spcPts val="0"/>
              </a:spcBef>
              <a:spcAft>
                <a:spcPts val="0"/>
              </a:spcAft>
              <a:buClr>
                <a:srgbClr val="000000"/>
              </a:buClr>
              <a:buSzPts val="1120"/>
              <a:buFont typeface="Arial"/>
              <a:buNone/>
            </a:pPr>
            <a:r>
              <a:rPr b="1" i="0" lang="en" sz="1120" u="none" cap="none" strike="noStrike">
                <a:solidFill>
                  <a:srgbClr val="162849"/>
                </a:solidFill>
                <a:latin typeface="Arial"/>
                <a:ea typeface="Arial"/>
                <a:cs typeface="Arial"/>
                <a:sym typeface="Arial"/>
              </a:rPr>
              <a:t>Actionable</a:t>
            </a:r>
            <a:br>
              <a:rPr b="1" i="0" lang="en" sz="1120" u="none" cap="none" strike="noStrike">
                <a:solidFill>
                  <a:srgbClr val="162849"/>
                </a:solidFill>
                <a:latin typeface="Arial"/>
                <a:ea typeface="Arial"/>
                <a:cs typeface="Arial"/>
                <a:sym typeface="Arial"/>
              </a:rPr>
            </a:br>
            <a:r>
              <a:rPr b="1" i="0" lang="en" sz="1120" u="none" cap="none" strike="noStrike">
                <a:solidFill>
                  <a:srgbClr val="162849"/>
                </a:solidFill>
                <a:latin typeface="Arial"/>
                <a:ea typeface="Arial"/>
                <a:cs typeface="Arial"/>
                <a:sym typeface="Arial"/>
              </a:rPr>
              <a:t>Reward reflects whether an intermediate behavior is complete—not merely whether it resembles a reference.</a:t>
            </a:r>
            <a:endParaRPr b="0" i="0" sz="1400" u="none" cap="none" strike="noStrike">
              <a:solidFill>
                <a:srgbClr val="000000"/>
              </a:solidFill>
              <a:latin typeface="Arial"/>
              <a:ea typeface="Arial"/>
              <a:cs typeface="Arial"/>
              <a:sym typeface="Arial"/>
            </a:endParaRPr>
          </a:p>
        </p:txBody>
      </p:sp>
      <p:sp>
        <p:nvSpPr>
          <p:cNvPr id="178" name="Google Shape;178;p36"/>
          <p:cNvSpPr txBox="1"/>
          <p:nvPr/>
        </p:nvSpPr>
        <p:spPr>
          <a:xfrm>
            <a:off x="3886200" y="4553712"/>
            <a:ext cx="4572000" cy="229200"/>
          </a:xfrm>
          <a:prstGeom prst="rect">
            <a:avLst/>
          </a:prstGeom>
          <a:noFill/>
          <a:ln>
            <a:noFill/>
          </a:ln>
        </p:spPr>
        <p:txBody>
          <a:bodyPr anchorCtr="0" anchor="ctr" bIns="18275" lIns="54850" spcFirstLastPara="1" rIns="54850" wrap="square" tIns="18275">
            <a:spAutoFit/>
          </a:bodyPr>
          <a:lstStyle/>
          <a:p>
            <a:pPr indent="0" lvl="0" marL="0" marR="0" rtl="0" algn="ctr">
              <a:lnSpc>
                <a:spcPct val="100000"/>
              </a:lnSpc>
              <a:spcBef>
                <a:spcPts val="0"/>
              </a:spcBef>
              <a:spcAft>
                <a:spcPts val="0"/>
              </a:spcAft>
              <a:buClr>
                <a:srgbClr val="000000"/>
              </a:buClr>
              <a:buSzPts val="1250"/>
              <a:buFont typeface="Arial"/>
              <a:buNone/>
            </a:pPr>
            <a:r>
              <a:rPr b="1" i="0" lang="en" sz="1250" u="none" cap="none" strike="noStrike">
                <a:solidFill>
                  <a:srgbClr val="18895C"/>
                </a:solidFill>
                <a:latin typeface="Arial"/>
                <a:ea typeface="Arial"/>
                <a:cs typeface="Arial"/>
                <a:sym typeface="Arial"/>
              </a:rPr>
              <a:t>Reusable criteria reduce reward drift across instances.</a:t>
            </a:r>
            <a:endParaRPr b="0" i="0" sz="1400" u="none" cap="none" strike="noStrike">
              <a:solidFill>
                <a:srgbClr val="000000"/>
              </a:solidFill>
              <a:latin typeface="Arial"/>
              <a:ea typeface="Arial"/>
              <a:cs typeface="Arial"/>
              <a:sym typeface="Arial"/>
            </a:endParaRPr>
          </a:p>
        </p:txBody>
      </p:sp>
      <p:sp>
        <p:nvSpPr>
          <p:cNvPr id="179" name="Google Shape;179;p36"/>
          <p:cNvSpPr/>
          <p:nvPr/>
        </p:nvSpPr>
        <p:spPr>
          <a:xfrm>
            <a:off x="457200" y="914400"/>
            <a:ext cx="3182112" cy="3986784"/>
          </a:xfrm>
          <a:prstGeom prst="roundRect">
            <a:avLst>
              <a:gd fmla="val 6000" name="adj"/>
            </a:avLst>
          </a:prstGeom>
          <a:solidFill>
            <a:srgbClr val="F8FAFD"/>
          </a:solidFill>
          <a:ln cap="flat" cmpd="sng" w="9525">
            <a:solidFill>
              <a:srgbClr val="D5DE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6"/>
          <p:cNvSpPr/>
          <p:nvPr/>
        </p:nvSpPr>
        <p:spPr>
          <a:xfrm>
            <a:off x="457200" y="914400"/>
            <a:ext cx="3182112" cy="512064"/>
          </a:xfrm>
          <a:prstGeom prst="roundRect">
            <a:avLst>
              <a:gd fmla="val 6000" name="adj"/>
            </a:avLst>
          </a:prstGeom>
          <a:solidFill>
            <a:srgbClr val="16284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36"/>
          <p:cNvSpPr txBox="1"/>
          <p:nvPr/>
        </p:nvSpPr>
        <p:spPr>
          <a:xfrm>
            <a:off x="585216" y="996696"/>
            <a:ext cx="2926080" cy="1645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SKILL PROTOTYPE · MATHEMATICAL REASONING</a:t>
            </a:r>
            <a:endParaRPr b="0" i="0" sz="1400" u="none" cap="none" strike="noStrike">
              <a:solidFill>
                <a:srgbClr val="000000"/>
              </a:solidFill>
              <a:latin typeface="Arial"/>
              <a:ea typeface="Arial"/>
              <a:cs typeface="Arial"/>
              <a:sym typeface="Arial"/>
            </a:endParaRPr>
          </a:p>
        </p:txBody>
      </p:sp>
      <p:sp>
        <p:nvSpPr>
          <p:cNvPr id="182" name="Google Shape;182;p36"/>
          <p:cNvSpPr txBox="1"/>
          <p:nvPr/>
        </p:nvSpPr>
        <p:spPr>
          <a:xfrm>
            <a:off x="585216" y="1170432"/>
            <a:ext cx="2926080" cy="2103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40"/>
              <a:buFont typeface="Arial"/>
              <a:buNone/>
            </a:pPr>
            <a:r>
              <a:rPr b="1" i="0" lang="en" sz="1040" u="none" cap="none" strike="noStrike">
                <a:solidFill>
                  <a:srgbClr val="FFFFFF"/>
                </a:solidFill>
                <a:latin typeface="Arial"/>
                <a:ea typeface="Arial"/>
                <a:cs typeface="Arial"/>
                <a:sym typeface="Arial"/>
              </a:rPr>
              <a:t>Bound-Based Conclusion and Synthesis</a:t>
            </a:r>
            <a:endParaRPr b="0" i="0" sz="1400" u="none" cap="none" strike="noStrike">
              <a:solidFill>
                <a:srgbClr val="000000"/>
              </a:solidFill>
              <a:latin typeface="Arial"/>
              <a:ea typeface="Arial"/>
              <a:cs typeface="Arial"/>
              <a:sym typeface="Arial"/>
            </a:endParaRPr>
          </a:p>
        </p:txBody>
      </p:sp>
      <p:sp>
        <p:nvSpPr>
          <p:cNvPr id="183" name="Google Shape;183;p36"/>
          <p:cNvSpPr txBox="1"/>
          <p:nvPr/>
        </p:nvSpPr>
        <p:spPr>
          <a:xfrm>
            <a:off x="585216" y="1527048"/>
            <a:ext cx="2916936" cy="1645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18"/>
              <a:buFont typeface="Arial"/>
              <a:buNone/>
            </a:pPr>
            <a:r>
              <a:rPr b="1" i="0" lang="en" sz="819" u="none" cap="none" strike="noStrike">
                <a:solidFill>
                  <a:srgbClr val="2870E6"/>
                </a:solidFill>
                <a:latin typeface="Arial"/>
                <a:ea typeface="Arial"/>
                <a:cs typeface="Arial"/>
                <a:sym typeface="Arial"/>
              </a:rPr>
              <a:t>SCOPE &amp; APPLICABLE SCENARIO</a:t>
            </a:r>
            <a:endParaRPr b="0" i="0" sz="1400" u="none" cap="none" strike="noStrike">
              <a:solidFill>
                <a:srgbClr val="000000"/>
              </a:solidFill>
              <a:latin typeface="Arial"/>
              <a:ea typeface="Arial"/>
              <a:cs typeface="Arial"/>
              <a:sym typeface="Arial"/>
            </a:endParaRPr>
          </a:p>
        </p:txBody>
      </p:sp>
      <p:sp>
        <p:nvSpPr>
          <p:cNvPr id="184" name="Google Shape;184;p36"/>
          <p:cNvSpPr txBox="1"/>
          <p:nvPr/>
        </p:nvSpPr>
        <p:spPr>
          <a:xfrm>
            <a:off x="585216" y="1719072"/>
            <a:ext cx="2907792" cy="4297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62849"/>
                </a:solidFill>
                <a:latin typeface="Arial"/>
                <a:ea typeface="Arial"/>
                <a:cs typeface="Arial"/>
                <a:sym typeface="Arial"/>
              </a:rPr>
              <a:t>Bounds, extrema, tightness, case coverage, and domain constraints. Conclude from prior constraints; justify attainability or feasibility.</a:t>
            </a:r>
            <a:endParaRPr b="0" i="0" sz="1400" u="none" cap="none" strike="noStrike">
              <a:solidFill>
                <a:srgbClr val="000000"/>
              </a:solidFill>
              <a:latin typeface="Arial"/>
              <a:ea typeface="Arial"/>
              <a:cs typeface="Arial"/>
              <a:sym typeface="Arial"/>
            </a:endParaRPr>
          </a:p>
        </p:txBody>
      </p:sp>
      <p:sp>
        <p:nvSpPr>
          <p:cNvPr id="185" name="Google Shape;185;p36"/>
          <p:cNvSpPr txBox="1"/>
          <p:nvPr/>
        </p:nvSpPr>
        <p:spPr>
          <a:xfrm>
            <a:off x="585216" y="2194560"/>
            <a:ext cx="2916936" cy="1645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18"/>
              <a:buFont typeface="Arial"/>
              <a:buNone/>
            </a:pPr>
            <a:r>
              <a:rPr b="1" i="0" lang="en" sz="819" u="none" cap="none" strike="noStrike">
                <a:solidFill>
                  <a:srgbClr val="2870E6"/>
                </a:solidFill>
                <a:latin typeface="Arial"/>
                <a:ea typeface="Arial"/>
                <a:cs typeface="Arial"/>
                <a:sym typeface="Arial"/>
              </a:rPr>
              <a:t>CANONICAL REASONING PATTERN</a:t>
            </a:r>
            <a:endParaRPr b="0" i="0" sz="1400" u="none" cap="none" strike="noStrike">
              <a:solidFill>
                <a:srgbClr val="000000"/>
              </a:solidFill>
              <a:latin typeface="Arial"/>
              <a:ea typeface="Arial"/>
              <a:cs typeface="Arial"/>
              <a:sym typeface="Arial"/>
            </a:endParaRPr>
          </a:p>
        </p:txBody>
      </p:sp>
      <p:sp>
        <p:nvSpPr>
          <p:cNvPr id="186" name="Google Shape;186;p36"/>
          <p:cNvSpPr txBox="1"/>
          <p:nvPr/>
        </p:nvSpPr>
        <p:spPr>
          <a:xfrm>
            <a:off x="585216" y="2386584"/>
            <a:ext cx="2907792" cy="7863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62849"/>
                </a:solidFill>
                <a:latin typeface="Arial"/>
                <a:ea typeface="Arial"/>
                <a:cs typeface="Arial"/>
                <a:sym typeface="Arial"/>
              </a:rPr>
              <a:t>1. Identify the relevant intermediate results.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en" sz="900" u="none" cap="none" strike="noStrike">
                <a:solidFill>
                  <a:srgbClr val="162849"/>
                </a:solidFill>
                <a:latin typeface="Arial"/>
                <a:ea typeface="Arial"/>
                <a:cs typeface="Arial"/>
                <a:sym typeface="Arial"/>
              </a:rPr>
              <a:t>2. Distinguish implication from a tightness claim.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en" sz="900" u="none" cap="none" strike="noStrike">
                <a:solidFill>
                  <a:srgbClr val="162849"/>
                </a:solidFill>
                <a:latin typeface="Arial"/>
                <a:ea typeface="Arial"/>
                <a:cs typeface="Arial"/>
                <a:sym typeface="Arial"/>
              </a:rPr>
              <a:t>3. Prove attainability when claiming an extremum.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en" sz="900" u="none" cap="none" strike="noStrike">
                <a:solidFill>
                  <a:srgbClr val="162849"/>
                </a:solidFill>
                <a:latin typeface="Arial"/>
                <a:ea typeface="Arial"/>
                <a:cs typeface="Arial"/>
                <a:sym typeface="Arial"/>
              </a:rPr>
              <a:t>4. Check domains and cover all cases.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en" sz="900" u="none" cap="none" strike="noStrike">
                <a:solidFill>
                  <a:srgbClr val="162849"/>
                </a:solidFill>
                <a:latin typeface="Arial"/>
                <a:ea typeface="Arial"/>
                <a:cs typeface="Arial"/>
                <a:sym typeface="Arial"/>
              </a:rPr>
              <a:t>5. State the final conclusion.</a:t>
            </a:r>
            <a:endParaRPr b="0" i="0" sz="1400" u="none" cap="none" strike="noStrike">
              <a:solidFill>
                <a:srgbClr val="000000"/>
              </a:solidFill>
              <a:latin typeface="Arial"/>
              <a:ea typeface="Arial"/>
              <a:cs typeface="Arial"/>
              <a:sym typeface="Arial"/>
            </a:endParaRPr>
          </a:p>
        </p:txBody>
      </p:sp>
      <p:sp>
        <p:nvSpPr>
          <p:cNvPr id="187" name="Google Shape;187;p36"/>
          <p:cNvSpPr txBox="1"/>
          <p:nvPr/>
        </p:nvSpPr>
        <p:spPr>
          <a:xfrm>
            <a:off x="585216" y="3200400"/>
            <a:ext cx="2916936" cy="1645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18"/>
              <a:buFont typeface="Arial"/>
              <a:buNone/>
            </a:pPr>
            <a:r>
              <a:rPr b="1" i="0" lang="en" sz="819" u="none" cap="none" strike="noStrike">
                <a:solidFill>
                  <a:srgbClr val="2870E6"/>
                </a:solidFill>
                <a:latin typeface="Arial"/>
                <a:ea typeface="Arial"/>
                <a:cs typeface="Arial"/>
                <a:sym typeface="Arial"/>
              </a:rPr>
              <a:t>JUDGING RUBRIC · 0–3</a:t>
            </a:r>
            <a:endParaRPr b="0" i="0" sz="1400" u="none" cap="none" strike="noStrike">
              <a:solidFill>
                <a:srgbClr val="000000"/>
              </a:solidFill>
              <a:latin typeface="Arial"/>
              <a:ea typeface="Arial"/>
              <a:cs typeface="Arial"/>
              <a:sym typeface="Arial"/>
            </a:endParaRPr>
          </a:p>
        </p:txBody>
      </p:sp>
      <p:sp>
        <p:nvSpPr>
          <p:cNvPr id="188" name="Google Shape;188;p36"/>
          <p:cNvSpPr/>
          <p:nvPr/>
        </p:nvSpPr>
        <p:spPr>
          <a:xfrm>
            <a:off x="585216" y="3410712"/>
            <a:ext cx="2907792" cy="210312"/>
          </a:xfrm>
          <a:prstGeom prst="roundRect">
            <a:avLst>
              <a:gd fmla="val 6000" name="adj"/>
            </a:avLst>
          </a:prstGeom>
          <a:solidFill>
            <a:srgbClr val="EAF4E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36"/>
          <p:cNvSpPr txBox="1"/>
          <p:nvPr/>
        </p:nvSpPr>
        <p:spPr>
          <a:xfrm>
            <a:off x="658368" y="3442716"/>
            <a:ext cx="2761488" cy="1645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en" sz="850" u="none" cap="none" strike="noStrike">
                <a:solidFill>
                  <a:srgbClr val="216B48"/>
                </a:solidFill>
                <a:latin typeface="Arial"/>
                <a:ea typeface="Arial"/>
                <a:cs typeface="Arial"/>
                <a:sym typeface="Arial"/>
              </a:rPr>
              <a:t>3  Correct &amp; complete: rigorous and feasible.</a:t>
            </a:r>
            <a:endParaRPr b="0" i="0" sz="1400" u="none" cap="none" strike="noStrike">
              <a:solidFill>
                <a:srgbClr val="000000"/>
              </a:solidFill>
              <a:latin typeface="Arial"/>
              <a:ea typeface="Arial"/>
              <a:cs typeface="Arial"/>
              <a:sym typeface="Arial"/>
            </a:endParaRPr>
          </a:p>
        </p:txBody>
      </p:sp>
      <p:sp>
        <p:nvSpPr>
          <p:cNvPr id="190" name="Google Shape;190;p36"/>
          <p:cNvSpPr/>
          <p:nvPr/>
        </p:nvSpPr>
        <p:spPr>
          <a:xfrm>
            <a:off x="585216" y="3639312"/>
            <a:ext cx="2907792" cy="210312"/>
          </a:xfrm>
          <a:prstGeom prst="roundRect">
            <a:avLst>
              <a:gd fmla="val 6000" name="adj"/>
            </a:avLst>
          </a:prstGeom>
          <a:solidFill>
            <a:srgbClr val="EEF3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6"/>
          <p:cNvSpPr txBox="1"/>
          <p:nvPr/>
        </p:nvSpPr>
        <p:spPr>
          <a:xfrm>
            <a:off x="658368" y="3671315"/>
            <a:ext cx="2761488" cy="1645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en" sz="850" u="none" cap="none" strike="noStrike">
                <a:solidFill>
                  <a:srgbClr val="284E88"/>
                </a:solidFill>
                <a:latin typeface="Arial"/>
                <a:ea typeface="Arial"/>
                <a:cs typeface="Arial"/>
                <a:sym typeface="Arial"/>
              </a:rPr>
              <a:t>2  Minor flaw: sound strategy, small slips.</a:t>
            </a:r>
            <a:endParaRPr b="0" i="0" sz="1400" u="none" cap="none" strike="noStrike">
              <a:solidFill>
                <a:srgbClr val="000000"/>
              </a:solidFill>
              <a:latin typeface="Arial"/>
              <a:ea typeface="Arial"/>
              <a:cs typeface="Arial"/>
              <a:sym typeface="Arial"/>
            </a:endParaRPr>
          </a:p>
        </p:txBody>
      </p:sp>
      <p:sp>
        <p:nvSpPr>
          <p:cNvPr id="192" name="Google Shape;192;p36"/>
          <p:cNvSpPr/>
          <p:nvPr/>
        </p:nvSpPr>
        <p:spPr>
          <a:xfrm>
            <a:off x="585216" y="3867912"/>
            <a:ext cx="2907792" cy="210312"/>
          </a:xfrm>
          <a:prstGeom prst="roundRect">
            <a:avLst>
              <a:gd fmla="val 6000" name="adj"/>
            </a:avLst>
          </a:prstGeom>
          <a:solidFill>
            <a:srgbClr val="FFF4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6"/>
          <p:cNvSpPr txBox="1"/>
          <p:nvPr/>
        </p:nvSpPr>
        <p:spPr>
          <a:xfrm>
            <a:off x="658368" y="3899916"/>
            <a:ext cx="2761488" cy="1645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en" sz="850" u="none" cap="none" strike="noStrike">
                <a:solidFill>
                  <a:srgbClr val="865C1B"/>
                </a:solidFill>
                <a:latin typeface="Arial"/>
                <a:ea typeface="Arial"/>
                <a:cs typeface="Arial"/>
                <a:sym typeface="Arial"/>
              </a:rPr>
              <a:t>1  Major logical gap: unsupported conclusion.</a:t>
            </a:r>
            <a:endParaRPr b="0" i="0" sz="1400" u="none" cap="none" strike="noStrike">
              <a:solidFill>
                <a:srgbClr val="000000"/>
              </a:solidFill>
              <a:latin typeface="Arial"/>
              <a:ea typeface="Arial"/>
              <a:cs typeface="Arial"/>
              <a:sym typeface="Arial"/>
            </a:endParaRPr>
          </a:p>
        </p:txBody>
      </p:sp>
      <p:sp>
        <p:nvSpPr>
          <p:cNvPr id="194" name="Google Shape;194;p36"/>
          <p:cNvSpPr/>
          <p:nvPr/>
        </p:nvSpPr>
        <p:spPr>
          <a:xfrm>
            <a:off x="585216" y="4096512"/>
            <a:ext cx="2907792" cy="210312"/>
          </a:xfrm>
          <a:prstGeom prst="roundRect">
            <a:avLst>
              <a:gd fmla="val 6000" name="adj"/>
            </a:avLst>
          </a:prstGeom>
          <a:solidFill>
            <a:srgbClr val="FBED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6"/>
          <p:cNvSpPr txBox="1"/>
          <p:nvPr/>
        </p:nvSpPr>
        <p:spPr>
          <a:xfrm>
            <a:off x="658368" y="4128516"/>
            <a:ext cx="2761488" cy="1645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en" sz="850" u="none" cap="none" strike="noStrike">
                <a:solidFill>
                  <a:srgbClr val="9B4038"/>
                </a:solidFill>
                <a:latin typeface="Arial"/>
                <a:ea typeface="Arial"/>
                <a:cs typeface="Arial"/>
                <a:sym typeface="Arial"/>
              </a:rPr>
              <a:t>0  Wrong skill: incompatible or premature.</a:t>
            </a:r>
            <a:endParaRPr b="0" i="0" sz="1400" u="none" cap="none" strike="noStrike">
              <a:solidFill>
                <a:srgbClr val="000000"/>
              </a:solidFill>
              <a:latin typeface="Arial"/>
              <a:ea typeface="Arial"/>
              <a:cs typeface="Arial"/>
              <a:sym typeface="Arial"/>
            </a:endParaRPr>
          </a:p>
        </p:txBody>
      </p:sp>
      <p:sp>
        <p:nvSpPr>
          <p:cNvPr id="196" name="Google Shape;196;p36"/>
          <p:cNvSpPr txBox="1"/>
          <p:nvPr/>
        </p:nvSpPr>
        <p:spPr>
          <a:xfrm>
            <a:off x="585216" y="4379976"/>
            <a:ext cx="2916936" cy="1554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18"/>
              <a:buFont typeface="Arial"/>
              <a:buNone/>
            </a:pPr>
            <a:r>
              <a:rPr b="1" i="0" lang="en" sz="819" u="none" cap="none" strike="noStrike">
                <a:solidFill>
                  <a:srgbClr val="2870E6"/>
                </a:solidFill>
                <a:latin typeface="Arial"/>
                <a:ea typeface="Arial"/>
                <a:cs typeface="Arial"/>
                <a:sym typeface="Arial"/>
              </a:rPr>
              <a:t>COMMON TRAPS</a:t>
            </a:r>
            <a:endParaRPr b="0" i="0" sz="1400" u="none" cap="none" strike="noStrike">
              <a:solidFill>
                <a:srgbClr val="000000"/>
              </a:solidFill>
              <a:latin typeface="Arial"/>
              <a:ea typeface="Arial"/>
              <a:cs typeface="Arial"/>
              <a:sym typeface="Arial"/>
            </a:endParaRPr>
          </a:p>
        </p:txBody>
      </p:sp>
      <p:sp>
        <p:nvSpPr>
          <p:cNvPr id="197" name="Google Shape;197;p36"/>
          <p:cNvSpPr txBox="1"/>
          <p:nvPr/>
        </p:nvSpPr>
        <p:spPr>
          <a:xfrm>
            <a:off x="585216" y="4562856"/>
            <a:ext cx="2907792"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en" sz="850" u="none" cap="none" strike="noStrike">
                <a:solidFill>
                  <a:srgbClr val="162849"/>
                </a:solidFill>
                <a:latin typeface="Arial"/>
                <a:ea typeface="Arial"/>
                <a:cs typeface="Arial"/>
                <a:sym typeface="Arial"/>
              </a:rPr>
              <a:t>Boundary leak → 2     Unproved tightness →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3" name="Google Shape;203;p37"/>
          <p:cNvSpPr txBox="1"/>
          <p:nvPr/>
        </p:nvSpPr>
        <p:spPr>
          <a:xfrm>
            <a:off x="438912" y="164592"/>
            <a:ext cx="8321040"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300" u="none" cap="none" strike="noStrike">
                <a:solidFill>
                  <a:srgbClr val="183153"/>
                </a:solidFill>
                <a:latin typeface="Arial"/>
                <a:ea typeface="Arial"/>
                <a:cs typeface="Arial"/>
                <a:sym typeface="Arial"/>
              </a:rPr>
              <a:t>Reference Quality Matters for Instance-Level Rubrics</a:t>
            </a:r>
            <a:endParaRPr/>
          </a:p>
        </p:txBody>
      </p:sp>
      <p:sp>
        <p:nvSpPr>
          <p:cNvPr id="204" name="Google Shape;204;p37"/>
          <p:cNvSpPr txBox="1"/>
          <p:nvPr/>
        </p:nvSpPr>
        <p:spPr>
          <a:xfrm>
            <a:off x="530352" y="941832"/>
            <a:ext cx="81381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500" u="none" cap="none" strike="noStrike">
                <a:solidFill>
                  <a:srgbClr val="183153"/>
                </a:solidFill>
                <a:latin typeface="Arial"/>
                <a:ea typeface="Arial"/>
                <a:cs typeface="Arial"/>
                <a:sym typeface="Arial"/>
              </a:rPr>
              <a:t>RaR builds a rubric from each problem’s reference answer.</a:t>
            </a:r>
            <a:endParaRPr/>
          </a:p>
          <a:p>
            <a:pPr indent="0" lvl="0" marL="0" marR="0" rtl="0" algn="l">
              <a:lnSpc>
                <a:spcPct val="100000"/>
              </a:lnSpc>
              <a:spcBef>
                <a:spcPts val="0"/>
              </a:spcBef>
              <a:spcAft>
                <a:spcPts val="0"/>
              </a:spcAft>
              <a:buNone/>
            </a:pPr>
            <a:r>
              <a:rPr b="0" i="0" lang="en" sz="1500" u="none" cap="none" strike="noStrike">
                <a:solidFill>
                  <a:srgbClr val="183153"/>
                </a:solidFill>
                <a:latin typeface="Arial"/>
                <a:ea typeface="Arial"/>
                <a:cs typeface="Arial"/>
                <a:sym typeface="Arial"/>
              </a:rPr>
              <a:t>SCRIBE reuses skill rubrics without requiring golden reference answers.</a:t>
            </a:r>
            <a:endParaRPr/>
          </a:p>
        </p:txBody>
      </p:sp>
      <p:graphicFrame>
        <p:nvGraphicFramePr>
          <p:cNvPr id="205" name="Google Shape;205;p37"/>
          <p:cNvGraphicFramePr/>
          <p:nvPr/>
        </p:nvGraphicFramePr>
        <p:xfrm>
          <a:off x="530352" y="2487168"/>
          <a:ext cx="3000000" cy="3000000"/>
        </p:xfrm>
        <a:graphic>
          <a:graphicData uri="http://schemas.openxmlformats.org/drawingml/2006/table">
            <a:tbl>
              <a:tblPr bandRow="1" firstRow="1">
                <a:noFill/>
                <a:tableStyleId>{60C7E03B-85A4-41BA-8E18-2549407F5BF5}</a:tableStyleId>
              </a:tblPr>
              <a:tblGrid>
                <a:gridCol w="1856225"/>
                <a:gridCol w="2386575"/>
                <a:gridCol w="1280150"/>
                <a:gridCol w="1280150"/>
                <a:gridCol w="1280150"/>
              </a:tblGrid>
              <a:tr h="420625">
                <a:tc>
                  <a:txBody>
                    <a:bodyPr/>
                    <a:lstStyle/>
                    <a:p>
                      <a:pPr indent="0" lvl="0" marL="0" marR="0" rtl="0" algn="l">
                        <a:lnSpc>
                          <a:spcPct val="100000"/>
                        </a:lnSpc>
                        <a:spcBef>
                          <a:spcPts val="0"/>
                        </a:spcBef>
                        <a:spcAft>
                          <a:spcPts val="0"/>
                        </a:spcAft>
                        <a:buNone/>
                      </a:pPr>
                      <a:r>
                        <a:rPr b="1" lang="en" sz="1300" u="none" cap="none" strike="noStrike">
                          <a:solidFill>
                            <a:srgbClr val="FFFFFF"/>
                          </a:solidFill>
                          <a:latin typeface="Arial"/>
                          <a:ea typeface="Arial"/>
                          <a:cs typeface="Arial"/>
                          <a:sym typeface="Arial"/>
                        </a:rPr>
                        <a:t>Method</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300" u="none" cap="none" strike="noStrike">
                          <a:solidFill>
                            <a:srgbClr val="FFFFFF"/>
                          </a:solidFill>
                          <a:latin typeface="Arial"/>
                          <a:ea typeface="Arial"/>
                          <a:cs typeface="Arial"/>
                          <a:sym typeface="Arial"/>
                        </a:rPr>
                        <a:t>Reference source</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300" u="none" cap="none" strike="noStrike">
                          <a:solidFill>
                            <a:srgbClr val="FFFFFF"/>
                          </a:solidFill>
                          <a:latin typeface="Arial"/>
                          <a:ea typeface="Arial"/>
                          <a:cs typeface="Arial"/>
                          <a:sym typeface="Arial"/>
                        </a:rPr>
                        <a:t>MATH500</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300" u="none" cap="none" strike="noStrike">
                          <a:solidFill>
                            <a:srgbClr val="FFFFFF"/>
                          </a:solidFill>
                          <a:latin typeface="Arial"/>
                          <a:ea typeface="Arial"/>
                          <a:cs typeface="Arial"/>
                          <a:sym typeface="Arial"/>
                        </a:rPr>
                        <a:t>AIME25</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300" u="none" cap="none" strike="noStrike">
                          <a:solidFill>
                            <a:srgbClr val="FFFFFF"/>
                          </a:solidFill>
                          <a:latin typeface="Arial"/>
                          <a:ea typeface="Arial"/>
                          <a:cs typeface="Arial"/>
                          <a:sym typeface="Arial"/>
                        </a:rPr>
                        <a:t>BFCL</a:t>
                      </a:r>
                      <a:endParaRPr/>
                    </a:p>
                  </a:txBody>
                  <a:tcPr marT="45725" marB="36575" marR="45725" marL="91450" anchor="ctr">
                    <a:solidFill>
                      <a:srgbClr val="183153"/>
                    </a:solidFill>
                  </a:tcPr>
                </a:tc>
              </a:tr>
              <a:tr h="420625">
                <a:tc>
                  <a:txBody>
                    <a:bodyPr/>
                    <a:lstStyle/>
                    <a:p>
                      <a:pPr indent="0" lvl="0" marL="0" marR="0" rtl="0" algn="l">
                        <a:lnSpc>
                          <a:spcPct val="100000"/>
                        </a:lnSpc>
                        <a:spcBef>
                          <a:spcPts val="0"/>
                        </a:spcBef>
                        <a:spcAft>
                          <a:spcPts val="0"/>
                        </a:spcAft>
                        <a:buNone/>
                      </a:pPr>
                      <a:r>
                        <a:rPr b="0" lang="en" sz="1300" u="none" cap="none" strike="noStrike">
                          <a:solidFill>
                            <a:srgbClr val="183153"/>
                          </a:solidFill>
                          <a:latin typeface="Arial"/>
                          <a:ea typeface="Arial"/>
                          <a:cs typeface="Arial"/>
                          <a:sym typeface="Arial"/>
                        </a:rPr>
                        <a:t>RaR</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300" u="none" cap="none" strike="noStrike">
                          <a:solidFill>
                            <a:srgbClr val="183153"/>
                          </a:solidFill>
                          <a:latin typeface="Arial"/>
                          <a:ea typeface="Arial"/>
                          <a:cs typeface="Arial"/>
                          <a:sym typeface="Arial"/>
                        </a:rPr>
                        <a:t>GPT-5.1 labeled</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300" u="none" cap="none" strike="noStrike">
                          <a:solidFill>
                            <a:srgbClr val="183153"/>
                          </a:solidFill>
                          <a:latin typeface="Arial"/>
                          <a:ea typeface="Arial"/>
                          <a:cs typeface="Arial"/>
                          <a:sym typeface="Arial"/>
                        </a:rPr>
                        <a:t>90.7</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300" u="none" cap="none" strike="noStrike">
                          <a:solidFill>
                            <a:srgbClr val="183153"/>
                          </a:solidFill>
                          <a:latin typeface="Arial"/>
                          <a:ea typeface="Arial"/>
                          <a:cs typeface="Arial"/>
                          <a:sym typeface="Arial"/>
                        </a:rPr>
                        <a:t>43.3</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300" u="none" cap="none" strike="noStrike">
                          <a:solidFill>
                            <a:srgbClr val="183153"/>
                          </a:solidFill>
                          <a:latin typeface="Arial"/>
                          <a:ea typeface="Arial"/>
                          <a:cs typeface="Arial"/>
                          <a:sym typeface="Arial"/>
                        </a:rPr>
                        <a:t>46.2</a:t>
                      </a:r>
                      <a:endParaRPr/>
                    </a:p>
                  </a:txBody>
                  <a:tcPr marT="45725" marB="36575" marR="45725" marL="91450" anchor="ctr">
                    <a:solidFill>
                      <a:srgbClr val="F7F9FC"/>
                    </a:solidFill>
                  </a:tcPr>
                </a:tc>
              </a:tr>
              <a:tr h="420625">
                <a:tc>
                  <a:txBody>
                    <a:bodyPr/>
                    <a:lstStyle/>
                    <a:p>
                      <a:pPr indent="0" lvl="0" marL="0" marR="0" rtl="0" algn="l">
                        <a:lnSpc>
                          <a:spcPct val="100000"/>
                        </a:lnSpc>
                        <a:spcBef>
                          <a:spcPts val="0"/>
                        </a:spcBef>
                        <a:spcAft>
                          <a:spcPts val="0"/>
                        </a:spcAft>
                        <a:buNone/>
                      </a:pPr>
                      <a:r>
                        <a:rPr b="1" lang="en" sz="1300" u="none" cap="none" strike="noStrike">
                          <a:solidFill>
                            <a:srgbClr val="183153"/>
                          </a:solidFill>
                          <a:latin typeface="Arial"/>
                          <a:ea typeface="Arial"/>
                          <a:cs typeface="Arial"/>
                          <a:sym typeface="Arial"/>
                        </a:rPr>
                        <a:t>SCRIBE</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rPr b="1" lang="en" sz="1300" u="none" cap="none" strike="noStrike">
                          <a:solidFill>
                            <a:srgbClr val="183153"/>
                          </a:solidFill>
                          <a:latin typeface="Arial"/>
                          <a:ea typeface="Arial"/>
                          <a:cs typeface="Arial"/>
                          <a:sym typeface="Arial"/>
                        </a:rPr>
                        <a:t>Not required</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t/>
                      </a:r>
                      <a:endParaRPr/>
                    </a:p>
                  </a:txBody>
                  <a:tcPr marT="45725" marB="36575" marR="45725" marL="91450" anchor="ctr">
                    <a:solidFill>
                      <a:srgbClr val="EDF4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8"/>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1" name="Google Shape;211;p38"/>
          <p:cNvSpPr txBox="1"/>
          <p:nvPr/>
        </p:nvSpPr>
        <p:spPr>
          <a:xfrm>
            <a:off x="438912" y="164592"/>
            <a:ext cx="83211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300" u="none" cap="none" strike="noStrike">
                <a:solidFill>
                  <a:srgbClr val="183153"/>
                </a:solidFill>
                <a:latin typeface="Arial"/>
                <a:ea typeface="Arial"/>
                <a:cs typeface="Arial"/>
                <a:sym typeface="Arial"/>
              </a:rPr>
              <a:t>Reference Quality Matters for Instance-Level Rubrics</a:t>
            </a:r>
            <a:endParaRPr/>
          </a:p>
        </p:txBody>
      </p:sp>
      <p:sp>
        <p:nvSpPr>
          <p:cNvPr id="212" name="Google Shape;212;p38"/>
          <p:cNvSpPr txBox="1"/>
          <p:nvPr/>
        </p:nvSpPr>
        <p:spPr>
          <a:xfrm>
            <a:off x="530352" y="941832"/>
            <a:ext cx="81381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500" u="none" cap="none" strike="noStrike">
                <a:solidFill>
                  <a:srgbClr val="183153"/>
                </a:solidFill>
                <a:latin typeface="Arial"/>
                <a:ea typeface="Arial"/>
                <a:cs typeface="Arial"/>
                <a:sym typeface="Arial"/>
              </a:rPr>
              <a:t>RaR builds a rubric from each problem’s reference answer.</a:t>
            </a:r>
            <a:endParaRPr/>
          </a:p>
          <a:p>
            <a:pPr indent="0" lvl="0" marL="0" marR="0" rtl="0" algn="l">
              <a:lnSpc>
                <a:spcPct val="100000"/>
              </a:lnSpc>
              <a:spcBef>
                <a:spcPts val="0"/>
              </a:spcBef>
              <a:spcAft>
                <a:spcPts val="0"/>
              </a:spcAft>
              <a:buNone/>
            </a:pPr>
            <a:r>
              <a:rPr b="0" i="0" lang="en" sz="1500" u="none" cap="none" strike="noStrike">
                <a:solidFill>
                  <a:srgbClr val="183153"/>
                </a:solidFill>
                <a:latin typeface="Arial"/>
                <a:ea typeface="Arial"/>
                <a:cs typeface="Arial"/>
                <a:sym typeface="Arial"/>
              </a:rPr>
              <a:t>SCRIBE reuses skill rubrics without requiring golden reference answers.</a:t>
            </a:r>
            <a:endParaRPr/>
          </a:p>
        </p:txBody>
      </p:sp>
      <p:graphicFrame>
        <p:nvGraphicFramePr>
          <p:cNvPr id="213" name="Google Shape;213;p38"/>
          <p:cNvGraphicFramePr/>
          <p:nvPr/>
        </p:nvGraphicFramePr>
        <p:xfrm>
          <a:off x="530352" y="2487168"/>
          <a:ext cx="3000000" cy="3000000"/>
        </p:xfrm>
        <a:graphic>
          <a:graphicData uri="http://schemas.openxmlformats.org/drawingml/2006/table">
            <a:tbl>
              <a:tblPr bandRow="1" firstRow="1">
                <a:noFill/>
                <a:tableStyleId>{60C7E03B-85A4-41BA-8E18-2549407F5BF5}</a:tableStyleId>
              </a:tblPr>
              <a:tblGrid>
                <a:gridCol w="1856225"/>
                <a:gridCol w="2386575"/>
                <a:gridCol w="1280150"/>
                <a:gridCol w="1280150"/>
                <a:gridCol w="1280150"/>
              </a:tblGrid>
              <a:tr h="420625">
                <a:tc>
                  <a:txBody>
                    <a:bodyPr/>
                    <a:lstStyle/>
                    <a:p>
                      <a:pPr indent="0" lvl="0" marL="0" marR="0" rtl="0" algn="l">
                        <a:lnSpc>
                          <a:spcPct val="100000"/>
                        </a:lnSpc>
                        <a:spcBef>
                          <a:spcPts val="0"/>
                        </a:spcBef>
                        <a:spcAft>
                          <a:spcPts val="0"/>
                        </a:spcAft>
                        <a:buNone/>
                      </a:pPr>
                      <a:r>
                        <a:rPr b="1" lang="en" sz="1300" u="none" cap="none" strike="noStrike">
                          <a:solidFill>
                            <a:srgbClr val="FFFFFF"/>
                          </a:solidFill>
                          <a:latin typeface="Arial"/>
                          <a:ea typeface="Arial"/>
                          <a:cs typeface="Arial"/>
                          <a:sym typeface="Arial"/>
                        </a:rPr>
                        <a:t>Method</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300" u="none" cap="none" strike="noStrike">
                          <a:solidFill>
                            <a:srgbClr val="FFFFFF"/>
                          </a:solidFill>
                          <a:latin typeface="Arial"/>
                          <a:ea typeface="Arial"/>
                          <a:cs typeface="Arial"/>
                          <a:sym typeface="Arial"/>
                        </a:rPr>
                        <a:t>Reference source</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300" u="none" cap="none" strike="noStrike">
                          <a:solidFill>
                            <a:srgbClr val="FFFFFF"/>
                          </a:solidFill>
                          <a:latin typeface="Arial"/>
                          <a:ea typeface="Arial"/>
                          <a:cs typeface="Arial"/>
                          <a:sym typeface="Arial"/>
                        </a:rPr>
                        <a:t>MATH500</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300" u="none" cap="none" strike="noStrike">
                          <a:solidFill>
                            <a:srgbClr val="FFFFFF"/>
                          </a:solidFill>
                          <a:latin typeface="Arial"/>
                          <a:ea typeface="Arial"/>
                          <a:cs typeface="Arial"/>
                          <a:sym typeface="Arial"/>
                        </a:rPr>
                        <a:t>AIME25</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300" u="none" cap="none" strike="noStrike">
                          <a:solidFill>
                            <a:srgbClr val="FFFFFF"/>
                          </a:solidFill>
                          <a:latin typeface="Arial"/>
                          <a:ea typeface="Arial"/>
                          <a:cs typeface="Arial"/>
                          <a:sym typeface="Arial"/>
                        </a:rPr>
                        <a:t>BFCL</a:t>
                      </a:r>
                      <a:endParaRPr/>
                    </a:p>
                  </a:txBody>
                  <a:tcPr marT="45725" marB="36575" marR="45725" marL="91450" anchor="ctr">
                    <a:solidFill>
                      <a:srgbClr val="183153"/>
                    </a:solidFill>
                  </a:tcPr>
                </a:tc>
              </a:tr>
              <a:tr h="420625">
                <a:tc>
                  <a:txBody>
                    <a:bodyPr/>
                    <a:lstStyle/>
                    <a:p>
                      <a:pPr indent="0" lvl="0" marL="0" marR="0" rtl="0" algn="l">
                        <a:lnSpc>
                          <a:spcPct val="100000"/>
                        </a:lnSpc>
                        <a:spcBef>
                          <a:spcPts val="0"/>
                        </a:spcBef>
                        <a:spcAft>
                          <a:spcPts val="0"/>
                        </a:spcAft>
                        <a:buNone/>
                      </a:pPr>
                      <a:r>
                        <a:rPr b="0" lang="en" sz="1300" u="none" cap="none" strike="noStrike">
                          <a:solidFill>
                            <a:srgbClr val="183153"/>
                          </a:solidFill>
                          <a:latin typeface="Arial"/>
                          <a:ea typeface="Arial"/>
                          <a:cs typeface="Arial"/>
                          <a:sym typeface="Arial"/>
                        </a:rPr>
                        <a:t>RaR</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300" u="none" cap="none" strike="noStrike">
                          <a:solidFill>
                            <a:srgbClr val="183153"/>
                          </a:solidFill>
                          <a:latin typeface="Arial"/>
                          <a:ea typeface="Arial"/>
                          <a:cs typeface="Arial"/>
                          <a:sym typeface="Arial"/>
                        </a:rPr>
                        <a:t>GPT-5.1 labeled</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300" u="none" cap="none" strike="noStrike">
                          <a:solidFill>
                            <a:srgbClr val="183153"/>
                          </a:solidFill>
                          <a:latin typeface="Arial"/>
                          <a:ea typeface="Arial"/>
                          <a:cs typeface="Arial"/>
                          <a:sym typeface="Arial"/>
                        </a:rPr>
                        <a:t>90.7</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300" u="none" cap="none" strike="noStrike">
                          <a:solidFill>
                            <a:srgbClr val="183153"/>
                          </a:solidFill>
                          <a:latin typeface="Arial"/>
                          <a:ea typeface="Arial"/>
                          <a:cs typeface="Arial"/>
                          <a:sym typeface="Arial"/>
                        </a:rPr>
                        <a:t>43.3</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300" u="none" cap="none" strike="noStrike">
                          <a:solidFill>
                            <a:srgbClr val="183153"/>
                          </a:solidFill>
                          <a:latin typeface="Arial"/>
                          <a:ea typeface="Arial"/>
                          <a:cs typeface="Arial"/>
                          <a:sym typeface="Arial"/>
                        </a:rPr>
                        <a:t>46.2</a:t>
                      </a:r>
                      <a:endParaRPr/>
                    </a:p>
                  </a:txBody>
                  <a:tcPr marT="45725" marB="36575" marR="45725" marL="91450" anchor="ctr">
                    <a:solidFill>
                      <a:srgbClr val="F7F9FC"/>
                    </a:solidFill>
                  </a:tcPr>
                </a:tc>
              </a:tr>
              <a:tr h="420625">
                <a:tc>
                  <a:txBody>
                    <a:bodyPr/>
                    <a:lstStyle/>
                    <a:p>
                      <a:pPr indent="0" lvl="0" marL="0" marR="0" rtl="0" algn="l">
                        <a:lnSpc>
                          <a:spcPct val="100000"/>
                        </a:lnSpc>
                        <a:spcBef>
                          <a:spcPts val="0"/>
                        </a:spcBef>
                        <a:spcAft>
                          <a:spcPts val="0"/>
                        </a:spcAft>
                        <a:buNone/>
                      </a:pPr>
                      <a:r>
                        <a:rPr b="1" lang="en" sz="1300" u="none" cap="none" strike="noStrike">
                          <a:solidFill>
                            <a:srgbClr val="183153"/>
                          </a:solidFill>
                          <a:latin typeface="Arial"/>
                          <a:ea typeface="Arial"/>
                          <a:cs typeface="Arial"/>
                          <a:sym typeface="Arial"/>
                        </a:rPr>
                        <a:t>SCRIBE</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rPr b="1" lang="en" sz="1300" u="none" cap="none" strike="noStrike">
                          <a:solidFill>
                            <a:srgbClr val="183153"/>
                          </a:solidFill>
                          <a:latin typeface="Arial"/>
                          <a:ea typeface="Arial"/>
                          <a:cs typeface="Arial"/>
                          <a:sym typeface="Arial"/>
                        </a:rPr>
                        <a:t>Not required</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rPr b="1" lang="en" sz="1300" u="none" cap="none" strike="noStrike">
                          <a:solidFill>
                            <a:srgbClr val="183153"/>
                          </a:solidFill>
                          <a:latin typeface="Arial"/>
                          <a:ea typeface="Arial"/>
                          <a:cs typeface="Arial"/>
                          <a:sym typeface="Arial"/>
                        </a:rPr>
                        <a:t>95.8</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rPr b="1" lang="en" sz="1300" u="none" cap="none" strike="noStrike">
                          <a:solidFill>
                            <a:srgbClr val="183153"/>
                          </a:solidFill>
                          <a:latin typeface="Arial"/>
                          <a:ea typeface="Arial"/>
                          <a:cs typeface="Arial"/>
                          <a:sym typeface="Arial"/>
                        </a:rPr>
                        <a:t>63.3</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rPr b="1" lang="en" sz="1300" u="none" cap="none" strike="noStrike">
                          <a:solidFill>
                            <a:srgbClr val="183153"/>
                          </a:solidFill>
                          <a:latin typeface="Arial"/>
                          <a:ea typeface="Arial"/>
                          <a:cs typeface="Arial"/>
                          <a:sym typeface="Arial"/>
                        </a:rPr>
                        <a:t>51.3</a:t>
                      </a:r>
                      <a:endParaRPr/>
                    </a:p>
                  </a:txBody>
                  <a:tcPr marT="45725" marB="36575" marR="45725" marL="91450" anchor="ctr">
                    <a:solidFill>
                      <a:srgbClr val="EDF4FC"/>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9" name="Google Shape;219;p39"/>
          <p:cNvSpPr txBox="1"/>
          <p:nvPr/>
        </p:nvSpPr>
        <p:spPr>
          <a:xfrm>
            <a:off x="438912" y="164592"/>
            <a:ext cx="8275320" cy="4754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2300" u="none" cap="none" strike="noStrike">
                <a:solidFill>
                  <a:srgbClr val="183153"/>
                </a:solidFill>
                <a:latin typeface="Arial"/>
                <a:ea typeface="Arial"/>
                <a:cs typeface="Arial"/>
                <a:sym typeface="Arial"/>
              </a:rPr>
              <a:t>Same Input, Same Rubric: Does the Score Stay Stable?</a:t>
            </a:r>
            <a:endParaRPr/>
          </a:p>
        </p:txBody>
      </p:sp>
      <p:sp>
        <p:nvSpPr>
          <p:cNvPr id="220" name="Rectangle 219"/>
          <p:cNvSpPr/>
          <p:nvPr/>
        </p:nvSpPr>
        <p:spPr>
          <a:xfrm>
            <a:off x="438912" y="740664"/>
            <a:ext cx="8266175" cy="10972"/>
          </a:xfrm>
          <a:prstGeom prst="rect">
            <a:avLst/>
          </a:prstGeom>
          <a:solidFill>
            <a:srgbClr val="DC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530352" y="941832"/>
            <a:ext cx="8092440" cy="384048"/>
          </a:xfrm>
          <a:prstGeom prst="rect">
            <a:avLst/>
          </a:prstGeom>
          <a:noFill/>
        </p:spPr>
        <p:txBody>
          <a:bodyPr wrap="square" lIns="0" rIns="0" tIns="0" bIns="0">
            <a:spAutoFit/>
          </a:bodyPr>
          <a:lstStyle/>
          <a:p>
            <a:pPr algn="l">
              <a:spcAft>
                <a:spcPts val="400"/>
              </a:spcAft>
              <a:defRPr sz="1600" b="0">
                <a:solidFill>
                  <a:srgbClr val="193354"/>
                </a:solidFill>
                <a:latin typeface="Arial"/>
              </a:defRPr>
            </a:pPr>
            <a:r>
              <a:t>Repeat one fixed evaluation 10 times with independent judge sampling.</a:t>
            </a:r>
          </a:p>
        </p:txBody>
      </p:sp>
      <p:sp>
        <p:nvSpPr>
          <p:cNvPr id="222" name="Rounded Rectangle 221"/>
          <p:cNvSpPr/>
          <p:nvPr/>
        </p:nvSpPr>
        <p:spPr>
          <a:xfrm>
            <a:off x="530352" y="1490472"/>
            <a:ext cx="4160520" cy="2185416"/>
          </a:xfrm>
          <a:prstGeom prst="roundRect">
            <a:avLst>
              <a:gd name="adj" fmla="val 8000"/>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713232" y="1645920"/>
            <a:ext cx="3749039" cy="256032"/>
          </a:xfrm>
          <a:prstGeom prst="rect">
            <a:avLst/>
          </a:prstGeom>
          <a:noFill/>
        </p:spPr>
        <p:txBody>
          <a:bodyPr wrap="square" lIns="0" rIns="0" tIns="0" bIns="0">
            <a:spAutoFit/>
          </a:bodyPr>
          <a:lstStyle/>
          <a:p>
            <a:pPr algn="l">
              <a:spcAft>
                <a:spcPts val="400"/>
              </a:spcAft>
              <a:defRPr sz="1700" b="1">
                <a:solidFill>
                  <a:srgbClr val="193354"/>
                </a:solidFill>
                <a:latin typeface="Arial"/>
              </a:defRPr>
            </a:pPr>
            <a:r>
              <a:t>One Fixed Input</a:t>
            </a:r>
          </a:p>
        </p:txBody>
      </p:sp>
      <p:sp>
        <p:nvSpPr>
          <p:cNvPr id="224" name="TextBox 223"/>
          <p:cNvSpPr txBox="1"/>
          <p:nvPr/>
        </p:nvSpPr>
        <p:spPr>
          <a:xfrm>
            <a:off x="713232" y="2029968"/>
            <a:ext cx="3749039" cy="1097280"/>
          </a:xfrm>
          <a:prstGeom prst="rect">
            <a:avLst/>
          </a:prstGeom>
          <a:noFill/>
        </p:spPr>
        <p:txBody>
          <a:bodyPr wrap="square" lIns="0" rIns="0" tIns="0" bIns="0">
            <a:spAutoFit/>
          </a:bodyPr>
          <a:lstStyle/>
          <a:p>
            <a:pPr algn="l">
              <a:spcAft>
                <a:spcPts val="400"/>
              </a:spcAft>
              <a:defRPr sz="1400" b="0">
                <a:solidFill>
                  <a:srgbClr val="193354"/>
                </a:solidFill>
                <a:latin typeface="Arial"/>
              </a:defRPr>
            </a:pPr>
            <a:r>
              <a:t>Problem: Find the maximum of x(1 − x), 0 ≤ x ≤ 1.</a:t>
            </a:r>
          </a:p>
          <a:p>
            <a:pPr algn="l">
              <a:spcAft>
                <a:spcPts val="400"/>
              </a:spcAft>
              <a:defRPr sz="1400" b="0">
                <a:solidFill>
                  <a:srgbClr val="193354"/>
                </a:solidFill>
                <a:latin typeface="Arial"/>
              </a:defRPr>
            </a:pPr>
            <a:r>
              <a:t>Trace: “x(1 − x) ≤ 1/4, so the maximum is 1/4.”</a:t>
            </a:r>
          </a:p>
          <a:p>
            <a:pPr algn="l">
              <a:spcAft>
                <a:spcPts val="400"/>
              </a:spcAft>
              <a:defRPr sz="1400" b="0">
                <a:solidFill>
                  <a:srgbClr val="193354"/>
                </a:solidFill>
                <a:latin typeface="Arial"/>
              </a:defRPr>
            </a:pPr>
            <a:r>
              <a:t>Missing step: show that x = 1/2 attains the bound.</a:t>
            </a:r>
          </a:p>
        </p:txBody>
      </p:sp>
      <p:sp>
        <p:nvSpPr>
          <p:cNvPr id="225" name="TextBox 224"/>
          <p:cNvSpPr txBox="1"/>
          <p:nvPr/>
        </p:nvSpPr>
        <p:spPr>
          <a:xfrm>
            <a:off x="713232" y="3136392"/>
            <a:ext cx="3730752" cy="457200"/>
          </a:xfrm>
          <a:prstGeom prst="rect">
            <a:avLst/>
          </a:prstGeom>
          <a:noFill/>
        </p:spPr>
        <p:txBody>
          <a:bodyPr wrap="square" lIns="0" rIns="0" tIns="0" bIns="0">
            <a:spAutoFit/>
          </a:bodyPr>
          <a:lstStyle/>
          <a:p>
            <a:pPr algn="l">
              <a:spcAft>
                <a:spcPts val="400"/>
              </a:spcAft>
              <a:defRPr sz="1300" b="1">
                <a:solidFill>
                  <a:srgbClr val="087F8C"/>
                </a:solidFill>
                <a:latin typeface="Arial"/>
              </a:defRPr>
            </a:pPr>
            <a:r>
              <a:t>SCRIBE criterion: an upper bound alone does not establish a maximum.</a:t>
            </a:r>
          </a:p>
        </p:txBody>
      </p:sp>
      <p:sp>
        <p:nvSpPr>
          <p:cNvPr id="226" name="TextBox 225"/>
          <p:cNvSpPr txBox="1"/>
          <p:nvPr/>
        </p:nvSpPr>
        <p:spPr>
          <a:xfrm>
            <a:off x="5010912" y="1554480"/>
            <a:ext cx="3602736" cy="548640"/>
          </a:xfrm>
          <a:prstGeom prst="rect">
            <a:avLst/>
          </a:prstGeom>
          <a:noFill/>
        </p:spPr>
        <p:txBody>
          <a:bodyPr wrap="square" lIns="0" rIns="0" tIns="0" bIns="0">
            <a:spAutoFit/>
          </a:bodyPr>
          <a:lstStyle/>
          <a:p>
            <a:pPr algn="l">
              <a:spcAft>
                <a:spcPts val="400"/>
              </a:spcAft>
              <a:defRPr sz="1500" b="1">
                <a:solidFill>
                  <a:srgbClr val="193354"/>
                </a:solidFill>
                <a:latin typeface="Arial"/>
              </a:defRPr>
            </a:pPr>
            <a:r>
              <a:t>Same problem + trace + judge</a:t>
            </a:r>
          </a:p>
          <a:p>
            <a:pPr algn="l">
              <a:spcAft>
                <a:spcPts val="400"/>
              </a:spcAft>
              <a:defRPr sz="1500" b="1">
                <a:solidFill>
                  <a:srgbClr val="193354"/>
                </a:solidFill>
                <a:latin typeface="Arial"/>
              </a:defRPr>
            </a:pPr>
            <a:r>
              <a:t>Same rubric, when applicable</a:t>
            </a:r>
          </a:p>
        </p:txBody>
      </p:sp>
      <p:sp>
        <p:nvSpPr>
          <p:cNvPr id="227" name="TextBox 226"/>
          <p:cNvSpPr txBox="1"/>
          <p:nvPr/>
        </p:nvSpPr>
        <p:spPr>
          <a:xfrm>
            <a:off x="5010912" y="2286000"/>
            <a:ext cx="3602736" cy="420624"/>
          </a:xfrm>
          <a:prstGeom prst="rect">
            <a:avLst/>
          </a:prstGeom>
          <a:noFill/>
        </p:spPr>
        <p:txBody>
          <a:bodyPr wrap="square" lIns="0" rIns="0" tIns="0" bIns="0">
            <a:spAutoFit/>
          </a:bodyPr>
          <a:lstStyle/>
          <a:p>
            <a:pPr algn="l">
              <a:spcAft>
                <a:spcPts val="400"/>
              </a:spcAft>
              <a:defRPr sz="1700" b="1">
                <a:solidFill>
                  <a:srgbClr val="087F8C"/>
                </a:solidFill>
                <a:latin typeface="Arial"/>
              </a:defRPr>
            </a:pPr>
            <a:r>
              <a:t>10 evaluations → r₁, r₂, …, r₁₀</a:t>
            </a:r>
          </a:p>
        </p:txBody>
      </p:sp>
      <p:sp>
        <p:nvSpPr>
          <p:cNvPr id="228" name="TextBox 227"/>
          <p:cNvSpPr txBox="1"/>
          <p:nvPr/>
        </p:nvSpPr>
        <p:spPr>
          <a:xfrm>
            <a:off x="5010912" y="2788920"/>
            <a:ext cx="3602736" cy="530352"/>
          </a:xfrm>
          <a:prstGeom prst="rect">
            <a:avLst/>
          </a:prstGeom>
          <a:noFill/>
        </p:spPr>
        <p:txBody>
          <a:bodyPr wrap="square" lIns="0" rIns="0" tIns="0" bIns="0">
            <a:spAutoFit/>
          </a:bodyPr>
          <a:lstStyle/>
          <a:p>
            <a:pPr algn="l">
              <a:spcAft>
                <a:spcPts val="400"/>
              </a:spcAft>
              <a:defRPr sz="1400" b="0">
                <a:solidFill>
                  <a:srgbClr val="53657C"/>
                </a:solidFill>
                <a:latin typeface="Arial"/>
              </a:defRPr>
            </a:pPr>
            <a:r>
              <a:t>Measure exact score agreement</a:t>
            </a:r>
          </a:p>
          <a:p>
            <a:pPr algn="l">
              <a:spcAft>
                <a:spcPts val="400"/>
              </a:spcAft>
              <a:defRPr sz="1400" b="0">
                <a:solidFill>
                  <a:srgbClr val="53657C"/>
                </a:solidFill>
                <a:latin typeface="Arial"/>
              </a:defRPr>
            </a:pPr>
            <a:r>
              <a:t>and reward standard deviation.</a:t>
            </a:r>
          </a:p>
        </p:txBody>
      </p:sp>
      <p:graphicFrame>
        <p:nvGraphicFramePr>
          <p:cNvPr id="229" name="Table 228"/>
          <p:cNvGraphicFramePr>
            <a:graphicFrameLocks noGrp="1"/>
          </p:cNvGraphicFramePr>
          <p:nvPr/>
        </p:nvGraphicFramePr>
        <p:xfrm>
          <a:off x="1143000" y="3776472"/>
          <a:ext cx="6858000" cy="1024128"/>
        </p:xfrm>
        <a:graphic>
          <a:graphicData uri="http://schemas.openxmlformats.org/drawingml/2006/table">
            <a:tbl>
              <a:tblPr firstRow="1" bandRow="1">
                <a:tableStyleId>{5C22544A-7EE6-4342-B048-85BDC9FD1C3A}</a:tableStyleId>
              </a:tblPr>
              <a:tblGrid>
                <a:gridCol w="2834640"/>
                <a:gridCol w="2011680"/>
                <a:gridCol w="2011680"/>
              </a:tblGrid>
              <a:tr h="256032">
                <a:tc>
                  <a:txBody>
                    <a:bodyPr/>
                    <a:lstStyle/>
                    <a:p>
                      <a:pPr algn="l">
                        <a:defRPr sz="1200" b="1">
                          <a:solidFill>
                            <a:srgbClr val="FFFFFF"/>
                          </a:solidFill>
                          <a:latin typeface="Arial"/>
                        </a:defRPr>
                      </a:pPr>
                      <a:r>
                        <a:t>Method</a:t>
                      </a:r>
                    </a:p>
                  </a:txBody>
                  <a:tcPr marL="73152" marR="54864" marT="45720" marB="36576" anchor="ctr">
                    <a:solidFill>
                      <a:srgbClr val="193354"/>
                    </a:solidFill>
                  </a:tcPr>
                </a:tc>
                <a:tc>
                  <a:txBody>
                    <a:bodyPr/>
                    <a:lstStyle/>
                    <a:p>
                      <a:pPr algn="ctr">
                        <a:defRPr sz="1200" b="1">
                          <a:solidFill>
                            <a:srgbClr val="FFFFFF"/>
                          </a:solidFill>
                          <a:latin typeface="Arial"/>
                        </a:defRPr>
                      </a:pPr>
                      <a:r>
                        <a:t>Agreement ↑ (%)</a:t>
                      </a:r>
                    </a:p>
                  </a:txBody>
                  <a:tcPr marL="73152" marR="54864" marT="45720" marB="36576" anchor="ctr">
                    <a:solidFill>
                      <a:srgbClr val="193354"/>
                    </a:solidFill>
                  </a:tcPr>
                </a:tc>
                <a:tc>
                  <a:txBody>
                    <a:bodyPr/>
                    <a:lstStyle/>
                    <a:p>
                      <a:pPr algn="ctr">
                        <a:defRPr sz="1200" b="1">
                          <a:solidFill>
                            <a:srgbClr val="FFFFFF"/>
                          </a:solidFill>
                          <a:latin typeface="Arial"/>
                        </a:defRPr>
                      </a:pPr>
                      <a:r>
                        <a:t>Reward Std. ↓</a:t>
                      </a:r>
                    </a:p>
                  </a:txBody>
                  <a:tcPr marL="73152" marR="54864" marT="45720" marB="36576" anchor="ctr">
                    <a:solidFill>
                      <a:srgbClr val="193354"/>
                    </a:solidFill>
                  </a:tcPr>
                </a:tc>
              </a:tr>
              <a:tr h="256032">
                <a:tc>
                  <a:txBody>
                    <a:bodyPr/>
                    <a:lstStyle/>
                    <a:p>
                      <a:pPr algn="l">
                        <a:defRPr sz="1200" b="0">
                          <a:solidFill>
                            <a:srgbClr val="193354"/>
                          </a:solidFill>
                          <a:latin typeface="Arial"/>
                        </a:defRPr>
                      </a:pPr>
                      <a:r>
                        <a:t>No-rubric PRM</a:t>
                      </a:r>
                    </a:p>
                  </a:txBody>
                  <a:tcPr marL="73152" marR="54864" marT="45720" marB="36576" anchor="ctr">
                    <a:solidFill>
                      <a:srgbClr val="EFF5FB"/>
                    </a:solidFill>
                  </a:tcPr>
                </a:tc>
                <a:tc>
                  <a:txBody>
                    <a:bodyPr/>
                    <a:lstStyle/>
                    <a:p>
                      <a:pPr algn="ctr">
                        <a:defRPr sz="1200" b="0">
                          <a:solidFill>
                            <a:srgbClr val="193354"/>
                          </a:solidFill>
                          <a:latin typeface="Arial"/>
                        </a:defRPr>
                      </a:pPr>
                      <a:r>
                        <a:t>71.8</a:t>
                      </a:r>
                    </a:p>
                  </a:txBody>
                  <a:tcPr marL="73152" marR="54864" marT="45720" marB="36576" anchor="ctr">
                    <a:solidFill>
                      <a:srgbClr val="EFF5FB"/>
                    </a:solidFill>
                  </a:tcPr>
                </a:tc>
                <a:tc>
                  <a:txBody>
                    <a:bodyPr/>
                    <a:lstStyle/>
                    <a:p>
                      <a:pPr algn="ctr">
                        <a:defRPr sz="1200" b="0">
                          <a:solidFill>
                            <a:srgbClr val="193354"/>
                          </a:solidFill>
                          <a:latin typeface="Arial"/>
                        </a:defRPr>
                      </a:pPr>
                      <a:r>
                        <a:t>0.63</a:t>
                      </a:r>
                    </a:p>
                  </a:txBody>
                  <a:tcPr marL="73152" marR="54864" marT="45720" marB="36576" anchor="ctr">
                    <a:solidFill>
                      <a:srgbClr val="EFF5FB"/>
                    </a:solidFill>
                  </a:tcPr>
                </a:tc>
              </a:tr>
              <a:tr h="256032">
                <a:tc>
                  <a:txBody>
                    <a:bodyPr/>
                    <a:lstStyle/>
                    <a:p>
                      <a:pPr algn="l">
                        <a:defRPr sz="1200" b="0">
                          <a:solidFill>
                            <a:srgbClr val="193354"/>
                          </a:solidFill>
                          <a:latin typeface="Arial"/>
                        </a:defRPr>
                      </a:pPr>
                      <a:r>
                        <a:t>RaR</a:t>
                      </a:r>
                    </a:p>
                  </a:txBody>
                  <a:tcPr marL="73152" marR="54864" marT="45720" marB="36576" anchor="ctr">
                    <a:solidFill>
                      <a:srgbClr val="FFFFFF"/>
                    </a:solidFill>
                  </a:tcPr>
                </a:tc>
                <a:tc>
                  <a:txBody>
                    <a:bodyPr/>
                    <a:lstStyle/>
                    <a:p>
                      <a:pPr algn="ctr">
                        <a:defRPr sz="1200" b="0">
                          <a:solidFill>
                            <a:srgbClr val="193354"/>
                          </a:solidFill>
                          <a:latin typeface="Arial"/>
                        </a:defRPr>
                      </a:pPr>
                      <a:r>
                        <a:t>82.4</a:t>
                      </a:r>
                    </a:p>
                  </a:txBody>
                  <a:tcPr marL="73152" marR="54864" marT="45720" marB="36576" anchor="ctr">
                    <a:solidFill>
                      <a:srgbClr val="FFFFFF"/>
                    </a:solidFill>
                  </a:tcPr>
                </a:tc>
                <a:tc>
                  <a:txBody>
                    <a:bodyPr/>
                    <a:lstStyle/>
                    <a:p>
                      <a:pPr algn="ctr">
                        <a:defRPr sz="1200" b="0">
                          <a:solidFill>
                            <a:srgbClr val="193354"/>
                          </a:solidFill>
                          <a:latin typeface="Arial"/>
                        </a:defRPr>
                      </a:pPr>
                      <a:r>
                        <a:t>0.41</a:t>
                      </a:r>
                    </a:p>
                  </a:txBody>
                  <a:tcPr marL="73152" marR="54864" marT="45720" marB="36576" anchor="ctr">
                    <a:solidFill>
                      <a:srgbClr val="FFFFFF"/>
                    </a:solidFill>
                  </a:tcPr>
                </a:tc>
              </a:tr>
              <a:tr h="256032">
                <a:tc>
                  <a:txBody>
                    <a:bodyPr/>
                    <a:lstStyle/>
                    <a:p>
                      <a:pPr algn="l">
                        <a:defRPr sz="1200" b="1">
                          <a:solidFill>
                            <a:srgbClr val="193354"/>
                          </a:solidFill>
                          <a:latin typeface="Arial"/>
                        </a:defRPr>
                      </a:pPr>
                      <a:r>
                        <a:t>SCRIBE</a:t>
                      </a:r>
                    </a:p>
                  </a:txBody>
                  <a:tcPr marL="73152" marR="54864" marT="45720" marB="36576" anchor="ctr">
                    <a:solidFill>
                      <a:srgbClr val="E6F4EF"/>
                    </a:solidFill>
                  </a:tcPr>
                </a:tc>
                <a:tc>
                  <a:txBody>
                    <a:bodyPr/>
                    <a:lstStyle/>
                    <a:p>
                      <a:pPr algn="ctr">
                        <a:defRPr sz="1200" b="1">
                          <a:solidFill>
                            <a:srgbClr val="193354"/>
                          </a:solidFill>
                          <a:latin typeface="Arial"/>
                        </a:defRPr>
                      </a:pPr>
                      <a:r>
                        <a:t>93.7</a:t>
                      </a:r>
                    </a:p>
                  </a:txBody>
                  <a:tcPr marL="73152" marR="54864" marT="45720" marB="36576" anchor="ctr">
                    <a:solidFill>
                      <a:srgbClr val="E6F4EF"/>
                    </a:solidFill>
                  </a:tcPr>
                </a:tc>
                <a:tc>
                  <a:txBody>
                    <a:bodyPr/>
                    <a:lstStyle/>
                    <a:p>
                      <a:pPr algn="ctr">
                        <a:defRPr sz="1200" b="1">
                          <a:solidFill>
                            <a:srgbClr val="193354"/>
                          </a:solidFill>
                          <a:latin typeface="Arial"/>
                        </a:defRPr>
                      </a:pPr>
                      <a:r>
                        <a:t>0.18</a:t>
                      </a:r>
                    </a:p>
                  </a:txBody>
                  <a:tcPr marL="73152" marR="54864" marT="45720" marB="36576" anchor="ctr">
                    <a:solidFill>
                      <a:srgbClr val="E6F4EF"/>
                    </a:solidFill>
                  </a:tcPr>
                </a:tc>
              </a:tr>
            </a:tbl>
          </a:graphicData>
        </a:graphic>
      </p:graphicFrame>
      <p:sp>
        <p:nvSpPr>
          <p:cNvPr id="230" name="TextBox 229"/>
          <p:cNvSpPr txBox="1"/>
          <p:nvPr/>
        </p:nvSpPr>
        <p:spPr>
          <a:xfrm>
            <a:off x="530352" y="4919472"/>
            <a:ext cx="8046720" cy="164592"/>
          </a:xfrm>
          <a:prstGeom prst="rect">
            <a:avLst/>
          </a:prstGeom>
          <a:noFill/>
        </p:spPr>
        <p:txBody>
          <a:bodyPr wrap="square" lIns="0" rIns="0" tIns="0" bIns="0">
            <a:spAutoFit/>
          </a:bodyPr>
          <a:lstStyle/>
          <a:p>
            <a:pPr algn="l">
              <a:spcAft>
                <a:spcPts val="400"/>
              </a:spcAft>
              <a:defRPr sz="900" b="0">
                <a:solidFill>
                  <a:srgbClr val="53657C"/>
                </a:solidFill>
                <a:latin typeface="Arial"/>
              </a:defRPr>
            </a:pPr>
            <a:r>
              <a:t>Illustrative input; table reports the paper’s aggregate experiment, not this example’s scores.</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9" name="Google Shape;229;p40"/>
          <p:cNvSpPr txBox="1"/>
          <p:nvPr/>
        </p:nvSpPr>
        <p:spPr>
          <a:xfrm>
            <a:off x="438912" y="164592"/>
            <a:ext cx="8275320" cy="4754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2300" u="none" cap="none" strike="noStrike">
                <a:solidFill>
                  <a:srgbClr val="183153"/>
                </a:solidFill>
                <a:latin typeface="Arial"/>
                <a:ea typeface="Arial"/>
                <a:cs typeface="Arial"/>
                <a:sym typeface="Arial"/>
              </a:rPr>
              <a:t>Different Problems, Same Behavior: Is Scoring Consistent?</a:t>
            </a:r>
            <a:endParaRPr/>
          </a:p>
        </p:txBody>
      </p:sp>
      <p:sp>
        <p:nvSpPr>
          <p:cNvPr id="230" name="Rectangle 229"/>
          <p:cNvSpPr/>
          <p:nvPr/>
        </p:nvSpPr>
        <p:spPr>
          <a:xfrm>
            <a:off x="438912" y="740664"/>
            <a:ext cx="8266175" cy="10972"/>
          </a:xfrm>
          <a:prstGeom prst="rect">
            <a:avLst/>
          </a:prstGeom>
          <a:solidFill>
            <a:srgbClr val="DC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530352" y="941832"/>
            <a:ext cx="8092440" cy="411480"/>
          </a:xfrm>
          <a:prstGeom prst="rect">
            <a:avLst/>
          </a:prstGeom>
          <a:noFill/>
        </p:spPr>
        <p:txBody>
          <a:bodyPr wrap="square" lIns="0" rIns="0" tIns="0" bIns="0">
            <a:spAutoFit/>
          </a:bodyPr>
          <a:lstStyle/>
          <a:p>
            <a:pPr algn="l">
              <a:spcAft>
                <a:spcPts val="400"/>
              </a:spcAft>
              <a:defRPr sz="1600" b="0">
                <a:solidFill>
                  <a:srgbClr val="193354"/>
                </a:solidFill>
                <a:latin typeface="Arial"/>
              </a:defRPr>
            </a:pPr>
            <a:r>
              <a:t>Match subgoals by reasoning pattern or failure type, then compare their scores.</a:t>
            </a:r>
          </a:p>
        </p:txBody>
      </p:sp>
      <p:sp>
        <p:nvSpPr>
          <p:cNvPr id="232" name="Rounded Rectangle 231"/>
          <p:cNvSpPr/>
          <p:nvPr/>
        </p:nvSpPr>
        <p:spPr>
          <a:xfrm>
            <a:off x="530352" y="1517904"/>
            <a:ext cx="4206240" cy="1042415"/>
          </a:xfrm>
          <a:prstGeom prst="roundRect">
            <a:avLst>
              <a:gd name="adj" fmla="val 8000"/>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713232" y="1636776"/>
            <a:ext cx="3794760" cy="283464"/>
          </a:xfrm>
          <a:prstGeom prst="rect">
            <a:avLst/>
          </a:prstGeom>
          <a:noFill/>
        </p:spPr>
        <p:txBody>
          <a:bodyPr wrap="square" lIns="0" rIns="0" tIns="0" bIns="0">
            <a:spAutoFit/>
          </a:bodyPr>
          <a:lstStyle/>
          <a:p>
            <a:pPr algn="l">
              <a:spcAft>
                <a:spcPts val="400"/>
              </a:spcAft>
              <a:defRPr sz="1500" b="1">
                <a:solidFill>
                  <a:srgbClr val="193354"/>
                </a:solidFill>
                <a:latin typeface="Arial"/>
              </a:defRPr>
            </a:pPr>
            <a:r>
              <a:t>Problem A: Maximize x(1 − x)</a:t>
            </a:r>
          </a:p>
        </p:txBody>
      </p:sp>
      <p:sp>
        <p:nvSpPr>
          <p:cNvPr id="234" name="TextBox 233"/>
          <p:cNvSpPr txBox="1"/>
          <p:nvPr/>
        </p:nvSpPr>
        <p:spPr>
          <a:xfrm>
            <a:off x="713232" y="1975104"/>
            <a:ext cx="3794760" cy="530352"/>
          </a:xfrm>
          <a:prstGeom prst="rect">
            <a:avLst/>
          </a:prstGeom>
          <a:noFill/>
        </p:spPr>
        <p:txBody>
          <a:bodyPr wrap="square" lIns="0" rIns="0" tIns="0" bIns="0">
            <a:spAutoFit/>
          </a:bodyPr>
          <a:lstStyle/>
          <a:p>
            <a:pPr algn="l">
              <a:spcAft>
                <a:spcPts val="400"/>
              </a:spcAft>
              <a:defRPr sz="1300" b="0">
                <a:solidFill>
                  <a:srgbClr val="193354"/>
                </a:solidFill>
                <a:latin typeface="Arial"/>
              </a:defRPr>
            </a:pPr>
            <a:r>
              <a:t>“x(1 − x) ≤ 1/4, so the maximum is 1/4.”</a:t>
            </a:r>
          </a:p>
          <a:p>
            <a:pPr algn="l">
              <a:spcAft>
                <a:spcPts val="400"/>
              </a:spcAft>
              <a:defRPr sz="1300" b="0">
                <a:solidFill>
                  <a:srgbClr val="193354"/>
                </a:solidFill>
                <a:latin typeface="Arial"/>
              </a:defRPr>
            </a:pPr>
            <a:r>
              <a:t>No check that equality is attainable.</a:t>
            </a:r>
          </a:p>
        </p:txBody>
      </p:sp>
      <p:sp>
        <p:nvSpPr>
          <p:cNvPr id="235" name="Rounded Rectangle 234"/>
          <p:cNvSpPr/>
          <p:nvPr/>
        </p:nvSpPr>
        <p:spPr>
          <a:xfrm>
            <a:off x="530352" y="2697480"/>
            <a:ext cx="4206240" cy="1042415"/>
          </a:xfrm>
          <a:prstGeom prst="roundRect">
            <a:avLst>
              <a:gd name="adj" fmla="val 8000"/>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713232" y="2816352"/>
            <a:ext cx="3794760" cy="283464"/>
          </a:xfrm>
          <a:prstGeom prst="rect">
            <a:avLst/>
          </a:prstGeom>
          <a:noFill/>
        </p:spPr>
        <p:txBody>
          <a:bodyPr wrap="square" lIns="0" rIns="0" tIns="0" bIns="0">
            <a:spAutoFit/>
          </a:bodyPr>
          <a:lstStyle/>
          <a:p>
            <a:pPr algn="l">
              <a:spcAft>
                <a:spcPts val="400"/>
              </a:spcAft>
              <a:defRPr sz="1500" b="1">
                <a:solidFill>
                  <a:srgbClr val="193354"/>
                </a:solidFill>
                <a:latin typeface="Arial"/>
              </a:defRPr>
            </a:pPr>
            <a:r>
              <a:t>Problem B: Maximize xy, Given x + y = 10</a:t>
            </a:r>
          </a:p>
        </p:txBody>
      </p:sp>
      <p:sp>
        <p:nvSpPr>
          <p:cNvPr id="237" name="TextBox 236"/>
          <p:cNvSpPr txBox="1"/>
          <p:nvPr/>
        </p:nvSpPr>
        <p:spPr>
          <a:xfrm>
            <a:off x="713232" y="3154680"/>
            <a:ext cx="3794760" cy="530352"/>
          </a:xfrm>
          <a:prstGeom prst="rect">
            <a:avLst/>
          </a:prstGeom>
          <a:noFill/>
        </p:spPr>
        <p:txBody>
          <a:bodyPr wrap="square" lIns="0" rIns="0" tIns="0" bIns="0">
            <a:spAutoFit/>
          </a:bodyPr>
          <a:lstStyle/>
          <a:p>
            <a:pPr algn="l">
              <a:spcAft>
                <a:spcPts val="400"/>
              </a:spcAft>
              <a:defRPr sz="1300" b="0">
                <a:solidFill>
                  <a:srgbClr val="193354"/>
                </a:solidFill>
                <a:latin typeface="Arial"/>
              </a:defRPr>
            </a:pPr>
            <a:r>
              <a:t>“xy ≤ 25 by AM–GM, so the maximum is 25.”</a:t>
            </a:r>
          </a:p>
          <a:p>
            <a:pPr algn="l">
              <a:spcAft>
                <a:spcPts val="400"/>
              </a:spcAft>
              <a:defRPr sz="1300" b="0">
                <a:solidFill>
                  <a:srgbClr val="193354"/>
                </a:solidFill>
                <a:latin typeface="Arial"/>
              </a:defRPr>
            </a:pPr>
            <a:r>
              <a:t>No check that equality is attainable.</a:t>
            </a:r>
          </a:p>
        </p:txBody>
      </p:sp>
      <p:sp>
        <p:nvSpPr>
          <p:cNvPr id="238" name="TextBox 237"/>
          <p:cNvSpPr txBox="1"/>
          <p:nvPr/>
        </p:nvSpPr>
        <p:spPr>
          <a:xfrm>
            <a:off x="640080" y="3904487"/>
            <a:ext cx="4023360" cy="640080"/>
          </a:xfrm>
          <a:prstGeom prst="rect">
            <a:avLst/>
          </a:prstGeom>
          <a:noFill/>
        </p:spPr>
        <p:txBody>
          <a:bodyPr wrap="square" lIns="0" rIns="0" tIns="0" bIns="0">
            <a:spAutoFit/>
          </a:bodyPr>
          <a:lstStyle/>
          <a:p>
            <a:pPr algn="l">
              <a:spcAft>
                <a:spcPts val="400"/>
              </a:spcAft>
              <a:defRPr sz="1400" b="1">
                <a:solidFill>
                  <a:srgbClr val="087F8C"/>
                </a:solidFill>
                <a:latin typeface="Arial"/>
              </a:defRPr>
            </a:pPr>
            <a:r>
              <a:t>Shared behavior: unproved tightness</a:t>
            </a:r>
          </a:p>
          <a:p>
            <a:pPr algn="l">
              <a:spcAft>
                <a:spcPts val="400"/>
              </a:spcAft>
              <a:defRPr sz="1400" b="1">
                <a:solidFill>
                  <a:srgbClr val="087F8C"/>
                </a:solidFill>
                <a:latin typeface="Arial"/>
              </a:defRPr>
            </a:pPr>
            <a:r>
              <a:t>Compare only the relevant subgoal spans.</a:t>
            </a:r>
          </a:p>
        </p:txBody>
      </p:sp>
      <p:sp>
        <p:nvSpPr>
          <p:cNvPr id="239" name="TextBox 238"/>
          <p:cNvSpPr txBox="1"/>
          <p:nvPr/>
        </p:nvSpPr>
        <p:spPr>
          <a:xfrm>
            <a:off x="5047488" y="1572768"/>
            <a:ext cx="3474720" cy="411480"/>
          </a:xfrm>
          <a:prstGeom prst="rect">
            <a:avLst/>
          </a:prstGeom>
          <a:noFill/>
        </p:spPr>
        <p:txBody>
          <a:bodyPr wrap="square" lIns="0" rIns="0" tIns="0" bIns="0">
            <a:spAutoFit/>
          </a:bodyPr>
          <a:lstStyle/>
          <a:p>
            <a:pPr algn="l">
              <a:spcAft>
                <a:spcPts val="400"/>
              </a:spcAft>
              <a:defRPr sz="1700" b="1">
                <a:solidFill>
                  <a:srgbClr val="193354"/>
                </a:solidFill>
                <a:latin typeface="Arial"/>
              </a:defRPr>
            </a:pPr>
            <a:r>
              <a:t>One Matched Behavior Group</a:t>
            </a:r>
          </a:p>
        </p:txBody>
      </p:sp>
      <p:sp>
        <p:nvSpPr>
          <p:cNvPr id="240" name="TextBox 239"/>
          <p:cNvSpPr txBox="1"/>
          <p:nvPr/>
        </p:nvSpPr>
        <p:spPr>
          <a:xfrm>
            <a:off x="5047488" y="2093976"/>
            <a:ext cx="3456432" cy="1124712"/>
          </a:xfrm>
          <a:prstGeom prst="rect">
            <a:avLst/>
          </a:prstGeom>
          <a:noFill/>
        </p:spPr>
        <p:txBody>
          <a:bodyPr wrap="square" lIns="0" rIns="0" tIns="0" bIns="0">
            <a:spAutoFit/>
          </a:bodyPr>
          <a:lstStyle/>
          <a:p>
            <a:pPr algn="l">
              <a:spcAft>
                <a:spcPts val="400"/>
              </a:spcAft>
              <a:defRPr sz="1400" b="0">
                <a:solidFill>
                  <a:srgbClr val="193354"/>
                </a:solidFill>
                <a:latin typeface="Arial"/>
              </a:defRPr>
            </a:pPr>
            <a:r>
              <a:t>Score both spans under each method.</a:t>
            </a:r>
          </a:p>
          <a:p>
            <a:pPr algn="l">
              <a:spcAft>
                <a:spcPts val="400"/>
              </a:spcAft>
              <a:defRPr sz="1400" b="0">
                <a:solidFill>
                  <a:srgbClr val="193354"/>
                </a:solidFill>
                <a:latin typeface="Arial"/>
              </a:defRPr>
            </a:pPr>
            <a:r>
              <a:t>SCRIBE: one shared skill rubric.</a:t>
            </a:r>
          </a:p>
          <a:p>
            <a:pPr algn="l">
              <a:spcAft>
                <a:spcPts val="400"/>
              </a:spcAft>
              <a:defRPr sz="1400" b="0">
                <a:solidFill>
                  <a:srgbClr val="193354"/>
                </a:solidFill>
                <a:latin typeface="Arial"/>
              </a:defRPr>
            </a:pPr>
            <a:r>
              <a:t>RaR: the relevant dimension from each problem’s rubric.</a:t>
            </a:r>
          </a:p>
        </p:txBody>
      </p:sp>
      <p:sp>
        <p:nvSpPr>
          <p:cNvPr id="241" name="TextBox 240"/>
          <p:cNvSpPr txBox="1"/>
          <p:nvPr/>
        </p:nvSpPr>
        <p:spPr>
          <a:xfrm>
            <a:off x="5047488" y="3328416"/>
            <a:ext cx="3456432" cy="530352"/>
          </a:xfrm>
          <a:prstGeom prst="rect">
            <a:avLst/>
          </a:prstGeom>
          <a:noFill/>
        </p:spPr>
        <p:txBody>
          <a:bodyPr wrap="square" lIns="0" rIns="0" tIns="0" bIns="0">
            <a:spAutoFit/>
          </a:bodyPr>
          <a:lstStyle/>
          <a:p>
            <a:pPr algn="l">
              <a:spcAft>
                <a:spcPts val="400"/>
              </a:spcAft>
              <a:defRPr sz="1300" b="1">
                <a:solidFill>
                  <a:srgbClr val="087F8C"/>
                </a:solidFill>
                <a:latin typeface="Arial"/>
              </a:defRPr>
            </a:pPr>
            <a:r>
              <a:t>Compare score equality and |rA − rB|.</a:t>
            </a:r>
          </a:p>
          <a:p>
            <a:pPr algn="l">
              <a:spcAft>
                <a:spcPts val="400"/>
              </a:spcAft>
              <a:defRPr sz="1300" b="1">
                <a:solidFill>
                  <a:srgbClr val="087F8C"/>
                </a:solidFill>
                <a:latin typeface="Arial"/>
              </a:defRPr>
            </a:pPr>
            <a:r>
              <a:t>50 groups; 2–11 subgoals per group.</a:t>
            </a:r>
          </a:p>
        </p:txBody>
      </p:sp>
      <p:graphicFrame>
        <p:nvGraphicFramePr>
          <p:cNvPr id="242" name="Table 241"/>
          <p:cNvGraphicFramePr>
            <a:graphicFrameLocks noGrp="1"/>
          </p:cNvGraphicFramePr>
          <p:nvPr/>
        </p:nvGraphicFramePr>
        <p:xfrm>
          <a:off x="5001768" y="3794760"/>
          <a:ext cx="3630168" cy="1024128"/>
        </p:xfrm>
        <a:graphic>
          <a:graphicData uri="http://schemas.openxmlformats.org/drawingml/2006/table">
            <a:tbl>
              <a:tblPr firstRow="1" bandRow="1">
                <a:tableStyleId>{5C22544A-7EE6-4342-B048-85BDC9FD1C3A}</a:tableStyleId>
              </a:tblPr>
              <a:tblGrid>
                <a:gridCol w="1618488"/>
                <a:gridCol w="1005840"/>
                <a:gridCol w="1005840"/>
              </a:tblGrid>
              <a:tr h="256032">
                <a:tc>
                  <a:txBody>
                    <a:bodyPr/>
                    <a:lstStyle/>
                    <a:p>
                      <a:pPr algn="l">
                        <a:defRPr sz="1000" b="1">
                          <a:solidFill>
                            <a:srgbClr val="FFFFFF"/>
                          </a:solidFill>
                          <a:latin typeface="Arial"/>
                        </a:defRPr>
                      </a:pPr>
                      <a:r>
                        <a:t>Method</a:t>
                      </a:r>
                    </a:p>
                  </a:txBody>
                  <a:tcPr marL="73152" marR="54864" marT="45720" marB="36576" anchor="ctr">
                    <a:solidFill>
                      <a:srgbClr val="193354"/>
                    </a:solidFill>
                  </a:tcPr>
                </a:tc>
                <a:tc>
                  <a:txBody>
                    <a:bodyPr/>
                    <a:lstStyle/>
                    <a:p>
                      <a:pPr algn="ctr">
                        <a:defRPr sz="1000" b="1">
                          <a:solidFill>
                            <a:srgbClr val="FFFFFF"/>
                          </a:solidFill>
                          <a:latin typeface="Arial"/>
                        </a:defRPr>
                      </a:pPr>
                      <a:r>
                        <a:t>Agree ↑</a:t>
                      </a:r>
                    </a:p>
                  </a:txBody>
                  <a:tcPr marL="73152" marR="54864" marT="45720" marB="36576" anchor="ctr">
                    <a:solidFill>
                      <a:srgbClr val="193354"/>
                    </a:solidFill>
                  </a:tcPr>
                </a:tc>
                <a:tc>
                  <a:txBody>
                    <a:bodyPr/>
                    <a:lstStyle/>
                    <a:p>
                      <a:pPr algn="ctr">
                        <a:defRPr sz="1000" b="1">
                          <a:solidFill>
                            <a:srgbClr val="FFFFFF"/>
                          </a:solidFill>
                          <a:latin typeface="Arial"/>
                        </a:defRPr>
                      </a:pPr>
                      <a:r>
                        <a:t>Gap ↓</a:t>
                      </a:r>
                    </a:p>
                  </a:txBody>
                  <a:tcPr marL="73152" marR="54864" marT="45720" marB="36576" anchor="ctr">
                    <a:solidFill>
                      <a:srgbClr val="193354"/>
                    </a:solidFill>
                  </a:tcPr>
                </a:tc>
              </a:tr>
              <a:tr h="256032">
                <a:tc>
                  <a:txBody>
                    <a:bodyPr/>
                    <a:lstStyle/>
                    <a:p>
                      <a:pPr algn="l">
                        <a:defRPr sz="1000" b="0">
                          <a:solidFill>
                            <a:srgbClr val="193354"/>
                          </a:solidFill>
                          <a:latin typeface="Arial"/>
                        </a:defRPr>
                      </a:pPr>
                      <a:r>
                        <a:t>Direct PRM</a:t>
                      </a:r>
                    </a:p>
                  </a:txBody>
                  <a:tcPr marL="73152" marR="54864" marT="45720" marB="36576" anchor="ctr">
                    <a:solidFill>
                      <a:srgbClr val="EFF5FB"/>
                    </a:solidFill>
                  </a:tcPr>
                </a:tc>
                <a:tc>
                  <a:txBody>
                    <a:bodyPr/>
                    <a:lstStyle/>
                    <a:p>
                      <a:pPr algn="ctr">
                        <a:defRPr sz="1000" b="0">
                          <a:solidFill>
                            <a:srgbClr val="193354"/>
                          </a:solidFill>
                          <a:latin typeface="Arial"/>
                        </a:defRPr>
                      </a:pPr>
                      <a:r>
                        <a:t>58.6%</a:t>
                      </a:r>
                    </a:p>
                  </a:txBody>
                  <a:tcPr marL="73152" marR="54864" marT="45720" marB="36576" anchor="ctr">
                    <a:solidFill>
                      <a:srgbClr val="EFF5FB"/>
                    </a:solidFill>
                  </a:tcPr>
                </a:tc>
                <a:tc>
                  <a:txBody>
                    <a:bodyPr/>
                    <a:lstStyle/>
                    <a:p>
                      <a:pPr algn="ctr">
                        <a:defRPr sz="1000" b="0">
                          <a:solidFill>
                            <a:srgbClr val="193354"/>
                          </a:solidFill>
                          <a:latin typeface="Arial"/>
                        </a:defRPr>
                      </a:pPr>
                      <a:r>
                        <a:t>0.82</a:t>
                      </a:r>
                    </a:p>
                  </a:txBody>
                  <a:tcPr marL="73152" marR="54864" marT="45720" marB="36576" anchor="ctr">
                    <a:solidFill>
                      <a:srgbClr val="EFF5FB"/>
                    </a:solidFill>
                  </a:tcPr>
                </a:tc>
              </a:tr>
              <a:tr h="256032">
                <a:tc>
                  <a:txBody>
                    <a:bodyPr/>
                    <a:lstStyle/>
                    <a:p>
                      <a:pPr algn="l">
                        <a:defRPr sz="1000" b="0">
                          <a:solidFill>
                            <a:srgbClr val="193354"/>
                          </a:solidFill>
                          <a:latin typeface="Arial"/>
                        </a:defRPr>
                      </a:pPr>
                      <a:r>
                        <a:t>RaR</a:t>
                      </a:r>
                    </a:p>
                  </a:txBody>
                  <a:tcPr marL="73152" marR="54864" marT="45720" marB="36576" anchor="ctr">
                    <a:solidFill>
                      <a:srgbClr val="FFFFFF"/>
                    </a:solidFill>
                  </a:tcPr>
                </a:tc>
                <a:tc>
                  <a:txBody>
                    <a:bodyPr/>
                    <a:lstStyle/>
                    <a:p>
                      <a:pPr algn="ctr">
                        <a:defRPr sz="1000" b="0">
                          <a:solidFill>
                            <a:srgbClr val="193354"/>
                          </a:solidFill>
                          <a:latin typeface="Arial"/>
                        </a:defRPr>
                      </a:pPr>
                      <a:r>
                        <a:t>69.4%</a:t>
                      </a:r>
                    </a:p>
                  </a:txBody>
                  <a:tcPr marL="73152" marR="54864" marT="45720" marB="36576" anchor="ctr">
                    <a:solidFill>
                      <a:srgbClr val="FFFFFF"/>
                    </a:solidFill>
                  </a:tcPr>
                </a:tc>
                <a:tc>
                  <a:txBody>
                    <a:bodyPr/>
                    <a:lstStyle/>
                    <a:p>
                      <a:pPr algn="ctr">
                        <a:defRPr sz="1000" b="0">
                          <a:solidFill>
                            <a:srgbClr val="193354"/>
                          </a:solidFill>
                          <a:latin typeface="Arial"/>
                        </a:defRPr>
                      </a:pPr>
                      <a:r>
                        <a:t>0.57</a:t>
                      </a:r>
                    </a:p>
                  </a:txBody>
                  <a:tcPr marL="73152" marR="54864" marT="45720" marB="36576" anchor="ctr">
                    <a:solidFill>
                      <a:srgbClr val="FFFFFF"/>
                    </a:solidFill>
                  </a:tcPr>
                </a:tc>
              </a:tr>
              <a:tr h="256032">
                <a:tc>
                  <a:txBody>
                    <a:bodyPr/>
                    <a:lstStyle/>
                    <a:p>
                      <a:pPr algn="l">
                        <a:defRPr sz="1000" b="1">
                          <a:solidFill>
                            <a:srgbClr val="193354"/>
                          </a:solidFill>
                          <a:latin typeface="Arial"/>
                        </a:defRPr>
                      </a:pPr>
                      <a:r>
                        <a:t>SCRIBE</a:t>
                      </a:r>
                    </a:p>
                  </a:txBody>
                  <a:tcPr marL="73152" marR="54864" marT="45720" marB="36576" anchor="ctr">
                    <a:solidFill>
                      <a:srgbClr val="E6F4EF"/>
                    </a:solidFill>
                  </a:tcPr>
                </a:tc>
                <a:tc>
                  <a:txBody>
                    <a:bodyPr/>
                    <a:lstStyle/>
                    <a:p>
                      <a:pPr algn="ctr">
                        <a:defRPr sz="1000" b="1">
                          <a:solidFill>
                            <a:srgbClr val="193354"/>
                          </a:solidFill>
                          <a:latin typeface="Arial"/>
                        </a:defRPr>
                      </a:pPr>
                      <a:r>
                        <a:t>86.8%</a:t>
                      </a:r>
                    </a:p>
                  </a:txBody>
                  <a:tcPr marL="73152" marR="54864" marT="45720" marB="36576" anchor="ctr">
                    <a:solidFill>
                      <a:srgbClr val="E6F4EF"/>
                    </a:solidFill>
                  </a:tcPr>
                </a:tc>
                <a:tc>
                  <a:txBody>
                    <a:bodyPr/>
                    <a:lstStyle/>
                    <a:p>
                      <a:pPr algn="ctr">
                        <a:defRPr sz="1000" b="1">
                          <a:solidFill>
                            <a:srgbClr val="193354"/>
                          </a:solidFill>
                          <a:latin typeface="Arial"/>
                        </a:defRPr>
                      </a:pPr>
                      <a:r>
                        <a:t>0.24</a:t>
                      </a:r>
                    </a:p>
                  </a:txBody>
                  <a:tcPr marL="73152" marR="54864" marT="45720" marB="36576" anchor="ctr">
                    <a:solidFill>
                      <a:srgbClr val="E6F4EF"/>
                    </a:solidFill>
                  </a:tcPr>
                </a:tc>
              </a:tr>
            </a:tbl>
          </a:graphicData>
        </a:graphic>
      </p:graphicFrame>
      <p:sp>
        <p:nvSpPr>
          <p:cNvPr id="243" name="TextBox 242"/>
          <p:cNvSpPr txBox="1"/>
          <p:nvPr/>
        </p:nvSpPr>
        <p:spPr>
          <a:xfrm>
            <a:off x="530352" y="4919472"/>
            <a:ext cx="8046720" cy="164592"/>
          </a:xfrm>
          <a:prstGeom prst="rect">
            <a:avLst/>
          </a:prstGeom>
          <a:noFill/>
        </p:spPr>
        <p:txBody>
          <a:bodyPr wrap="square" lIns="0" rIns="0" tIns="0" bIns="0">
            <a:spAutoFit/>
          </a:bodyPr>
          <a:lstStyle/>
          <a:p>
            <a:pPr algn="l">
              <a:spcAft>
                <a:spcPts val="400"/>
              </a:spcAft>
              <a:defRPr sz="900" b="0">
                <a:solidFill>
                  <a:srgbClr val="53657C"/>
                </a:solidFill>
                <a:latin typeface="Arial"/>
              </a:defRPr>
            </a:pPr>
            <a:r>
              <a:t>Illustrative matched pair; the table reports aggregate results across the paper’s 50 groups.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1"/>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2" name="Google Shape;242;p41"/>
          <p:cNvSpPr txBox="1"/>
          <p:nvPr/>
        </p:nvSpPr>
        <p:spPr>
          <a:xfrm>
            <a:off x="438912" y="164592"/>
            <a:ext cx="8321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200" u="none" cap="none" strike="noStrike">
                <a:solidFill>
                  <a:srgbClr val="183153"/>
                </a:solidFill>
                <a:latin typeface="Arial"/>
                <a:ea typeface="Arial"/>
                <a:cs typeface="Arial"/>
                <a:sym typeface="Arial"/>
              </a:rPr>
              <a:t>Reusable Rubrics Make Reward Judgments More Consistent</a:t>
            </a:r>
            <a:endParaRPr/>
          </a:p>
        </p:txBody>
      </p:sp>
      <p:sp>
        <p:nvSpPr>
          <p:cNvPr id="243" name="Google Shape;243;p41"/>
          <p:cNvSpPr txBox="1"/>
          <p:nvPr/>
        </p:nvSpPr>
        <p:spPr>
          <a:xfrm>
            <a:off x="530352" y="950976"/>
            <a:ext cx="81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183153"/>
                </a:solidFill>
                <a:latin typeface="Arial"/>
                <a:ea typeface="Arial"/>
                <a:cs typeface="Arial"/>
                <a:sym typeface="Arial"/>
              </a:rPr>
              <a:t>Compare no-rubric P</a:t>
            </a:r>
            <a:r>
              <a:rPr lang="en">
                <a:solidFill>
                  <a:srgbClr val="183153"/>
                </a:solidFill>
              </a:rPr>
              <a:t>rocess </a:t>
            </a:r>
            <a:r>
              <a:rPr b="0" i="0" lang="en" sz="1400" u="none" cap="none" strike="noStrike">
                <a:solidFill>
                  <a:srgbClr val="183153"/>
                </a:solidFill>
                <a:latin typeface="Arial"/>
                <a:ea typeface="Arial"/>
                <a:cs typeface="Arial"/>
                <a:sym typeface="Arial"/>
              </a:rPr>
              <a:t>Reward Modeling, instance-level rubrics (RaR), and reusable skill rubrics (SCRIBE).</a:t>
            </a:r>
            <a:endParaRPr/>
          </a:p>
        </p:txBody>
      </p:sp>
      <p:sp>
        <p:nvSpPr>
          <p:cNvPr id="244" name="Google Shape;244;p41"/>
          <p:cNvSpPr txBox="1"/>
          <p:nvPr/>
        </p:nvSpPr>
        <p:spPr>
          <a:xfrm>
            <a:off x="530352" y="1581912"/>
            <a:ext cx="39135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700" u="none" cap="none" strike="noStrike">
                <a:solidFill>
                  <a:srgbClr val="183153"/>
                </a:solidFill>
                <a:latin typeface="Arial"/>
                <a:ea typeface="Arial"/>
                <a:cs typeface="Arial"/>
                <a:sym typeface="Arial"/>
              </a:rPr>
              <a:t>Same input, repeated 10 times</a:t>
            </a:r>
            <a:endParaRPr/>
          </a:p>
        </p:txBody>
      </p:sp>
      <p:sp>
        <p:nvSpPr>
          <p:cNvPr id="245" name="Google Shape;245;p41"/>
          <p:cNvSpPr txBox="1"/>
          <p:nvPr/>
        </p:nvSpPr>
        <p:spPr>
          <a:xfrm>
            <a:off x="4681728" y="1581912"/>
            <a:ext cx="39135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600" u="none" cap="none" strike="noStrike">
                <a:solidFill>
                  <a:srgbClr val="183153"/>
                </a:solidFill>
                <a:latin typeface="Arial"/>
                <a:ea typeface="Arial"/>
                <a:cs typeface="Arial"/>
                <a:sym typeface="Arial"/>
              </a:rPr>
              <a:t>Similar behavior, different problems</a:t>
            </a:r>
            <a:endParaRPr/>
          </a:p>
        </p:txBody>
      </p:sp>
      <p:sp>
        <p:nvSpPr>
          <p:cNvPr id="246" name="Google Shape;246;p41"/>
          <p:cNvSpPr txBox="1"/>
          <p:nvPr/>
        </p:nvSpPr>
        <p:spPr>
          <a:xfrm>
            <a:off x="530352" y="1975104"/>
            <a:ext cx="3886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200" u="none" cap="none" strike="noStrike">
                <a:solidFill>
                  <a:srgbClr val="536477"/>
                </a:solidFill>
                <a:latin typeface="Arial"/>
                <a:ea typeface="Arial"/>
                <a:cs typeface="Arial"/>
                <a:sym typeface="Arial"/>
              </a:rPr>
              <a:t>Fix the problem, trajectory, rubric, and judge.</a:t>
            </a:r>
            <a:endParaRPr/>
          </a:p>
        </p:txBody>
      </p:sp>
      <p:sp>
        <p:nvSpPr>
          <p:cNvPr id="247" name="Google Shape;247;p41"/>
          <p:cNvSpPr txBox="1"/>
          <p:nvPr/>
        </p:nvSpPr>
        <p:spPr>
          <a:xfrm>
            <a:off x="4681728" y="1975104"/>
            <a:ext cx="3886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200" u="none" cap="none" strike="noStrike">
                <a:solidFill>
                  <a:srgbClr val="536477"/>
                </a:solidFill>
                <a:latin typeface="Arial"/>
                <a:ea typeface="Arial"/>
                <a:cs typeface="Arial"/>
                <a:sym typeface="Arial"/>
              </a:rPr>
              <a:t>50 matched behavior groups; 2–11 subgoals each.</a:t>
            </a:r>
            <a:endParaRPr/>
          </a:p>
        </p:txBody>
      </p:sp>
      <p:graphicFrame>
        <p:nvGraphicFramePr>
          <p:cNvPr id="248" name="Google Shape;248;p41"/>
          <p:cNvGraphicFramePr/>
          <p:nvPr/>
        </p:nvGraphicFramePr>
        <p:xfrm>
          <a:off x="530352" y="2532888"/>
          <a:ext cx="3000000" cy="3000000"/>
        </p:xfrm>
        <a:graphic>
          <a:graphicData uri="http://schemas.openxmlformats.org/drawingml/2006/table">
            <a:tbl>
              <a:tblPr bandRow="1" firstRow="1">
                <a:noFill/>
                <a:tableStyleId>{60C7E03B-85A4-41BA-8E18-2549407F5BF5}</a:tableStyleId>
              </a:tblPr>
              <a:tblGrid>
                <a:gridCol w="1499625"/>
                <a:gridCol w="1243575"/>
                <a:gridCol w="1170425"/>
              </a:tblGrid>
              <a:tr h="420625">
                <a:tc>
                  <a:txBody>
                    <a:bodyPr/>
                    <a:lstStyle/>
                    <a:p>
                      <a:pPr indent="0" lvl="0" marL="0" marR="0" rtl="0" algn="l">
                        <a:lnSpc>
                          <a:spcPct val="100000"/>
                        </a:lnSpc>
                        <a:spcBef>
                          <a:spcPts val="0"/>
                        </a:spcBef>
                        <a:spcAft>
                          <a:spcPts val="0"/>
                        </a:spcAft>
                        <a:buNone/>
                      </a:pPr>
                      <a:r>
                        <a:rPr b="1" lang="en" sz="1100" u="none" cap="none" strike="noStrike">
                          <a:solidFill>
                            <a:srgbClr val="FFFFFF"/>
                          </a:solidFill>
                          <a:latin typeface="Arial"/>
                          <a:ea typeface="Arial"/>
                          <a:cs typeface="Arial"/>
                          <a:sym typeface="Arial"/>
                        </a:rPr>
                        <a:t>Method</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100" u="none" cap="none" strike="noStrike">
                          <a:solidFill>
                            <a:srgbClr val="FFFFFF"/>
                          </a:solidFill>
                          <a:latin typeface="Arial"/>
                          <a:ea typeface="Arial"/>
                          <a:cs typeface="Arial"/>
                          <a:sym typeface="Arial"/>
                        </a:rPr>
                        <a:t>Agree ↑ (%)</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100" u="none" cap="none" strike="noStrike">
                          <a:solidFill>
                            <a:srgbClr val="FFFFFF"/>
                          </a:solidFill>
                          <a:latin typeface="Arial"/>
                          <a:ea typeface="Arial"/>
                          <a:cs typeface="Arial"/>
                          <a:sym typeface="Arial"/>
                        </a:rPr>
                        <a:t>Std. ↓</a:t>
                      </a:r>
                      <a:endParaRPr/>
                    </a:p>
                  </a:txBody>
                  <a:tcPr marT="45725" marB="36575" marR="45725" marL="91450" anchor="ctr">
                    <a:solidFill>
                      <a:srgbClr val="183153"/>
                    </a:solidFill>
                  </a:tcPr>
                </a:tc>
              </a:tr>
              <a:tr h="420625">
                <a:tc>
                  <a:txBody>
                    <a:bodyPr/>
                    <a:lstStyle/>
                    <a:p>
                      <a:pPr indent="0" lvl="0" marL="0" marR="0" rtl="0" algn="l">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No-rubric PRM</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71.8</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0.63</a:t>
                      </a:r>
                      <a:endParaRPr/>
                    </a:p>
                  </a:txBody>
                  <a:tcPr marT="45725" marB="36575" marR="45725" marL="91450" anchor="ctr">
                    <a:solidFill>
                      <a:srgbClr val="F7F9FC"/>
                    </a:solidFill>
                  </a:tcPr>
                </a:tc>
              </a:tr>
              <a:tr h="420625">
                <a:tc>
                  <a:txBody>
                    <a:bodyPr/>
                    <a:lstStyle/>
                    <a:p>
                      <a:pPr indent="0" lvl="0" marL="0" marR="0" rtl="0" algn="l">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RaR</a:t>
                      </a:r>
                      <a:endParaRPr/>
                    </a:p>
                  </a:txBody>
                  <a:tcPr marT="45725" marB="36575" marR="45725" marL="91450" anchor="ctr">
                    <a:solidFill>
                      <a:srgbClr val="FFFFFF"/>
                    </a:solidFill>
                  </a:tcPr>
                </a:tc>
                <a:tc>
                  <a:txBody>
                    <a:bodyPr/>
                    <a:lstStyle/>
                    <a:p>
                      <a:pPr indent="0" lvl="0" marL="0" marR="0" rtl="0" algn="ctr">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82.4</a:t>
                      </a:r>
                      <a:endParaRPr/>
                    </a:p>
                  </a:txBody>
                  <a:tcPr marT="45725" marB="36575" marR="45725" marL="91450" anchor="ctr">
                    <a:solidFill>
                      <a:srgbClr val="FFFFFF"/>
                    </a:solidFill>
                  </a:tcPr>
                </a:tc>
                <a:tc>
                  <a:txBody>
                    <a:bodyPr/>
                    <a:lstStyle/>
                    <a:p>
                      <a:pPr indent="0" lvl="0" marL="0" marR="0" rtl="0" algn="ctr">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0.41</a:t>
                      </a:r>
                      <a:endParaRPr/>
                    </a:p>
                  </a:txBody>
                  <a:tcPr marT="45725" marB="36575" marR="45725" marL="91450" anchor="ctr">
                    <a:solidFill>
                      <a:srgbClr val="FFFFFF"/>
                    </a:solidFill>
                  </a:tcPr>
                </a:tc>
              </a:tr>
              <a:tr h="420625">
                <a:tc>
                  <a:txBody>
                    <a:bodyPr/>
                    <a:lstStyle/>
                    <a:p>
                      <a:pPr indent="0" lvl="0" marL="0" marR="0" rtl="0" algn="l">
                        <a:lnSpc>
                          <a:spcPct val="100000"/>
                        </a:lnSpc>
                        <a:spcBef>
                          <a:spcPts val="0"/>
                        </a:spcBef>
                        <a:spcAft>
                          <a:spcPts val="0"/>
                        </a:spcAft>
                        <a:buNone/>
                      </a:pPr>
                      <a:r>
                        <a:rPr b="1" lang="en" sz="1100" u="none" cap="none" strike="noStrike">
                          <a:solidFill>
                            <a:srgbClr val="183153"/>
                          </a:solidFill>
                          <a:latin typeface="Arial"/>
                          <a:ea typeface="Arial"/>
                          <a:cs typeface="Arial"/>
                          <a:sym typeface="Arial"/>
                        </a:rPr>
                        <a:t>SCRIBE</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rPr b="1" lang="en" sz="1100" u="none" cap="none" strike="noStrike">
                          <a:solidFill>
                            <a:srgbClr val="183153"/>
                          </a:solidFill>
                          <a:latin typeface="Arial"/>
                          <a:ea typeface="Arial"/>
                          <a:cs typeface="Arial"/>
                          <a:sym typeface="Arial"/>
                        </a:rPr>
                        <a:t>93.7</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rPr b="1" lang="en" sz="1100" u="none" cap="none" strike="noStrike">
                          <a:solidFill>
                            <a:srgbClr val="183153"/>
                          </a:solidFill>
                          <a:latin typeface="Arial"/>
                          <a:ea typeface="Arial"/>
                          <a:cs typeface="Arial"/>
                          <a:sym typeface="Arial"/>
                        </a:rPr>
                        <a:t>0.18</a:t>
                      </a:r>
                      <a:endParaRPr/>
                    </a:p>
                  </a:txBody>
                  <a:tcPr marT="45725" marB="36575" marR="45725" marL="91450" anchor="ctr">
                    <a:solidFill>
                      <a:srgbClr val="EDF4FC"/>
                    </a:solidFill>
                  </a:tcPr>
                </a:tc>
              </a:tr>
            </a:tbl>
          </a:graphicData>
        </a:graphic>
      </p:graphicFrame>
      <p:graphicFrame>
        <p:nvGraphicFramePr>
          <p:cNvPr id="249" name="Google Shape;249;p41"/>
          <p:cNvGraphicFramePr/>
          <p:nvPr/>
        </p:nvGraphicFramePr>
        <p:xfrm>
          <a:off x="4681728" y="2532888"/>
          <a:ext cx="3000000" cy="3000000"/>
        </p:xfrm>
        <a:graphic>
          <a:graphicData uri="http://schemas.openxmlformats.org/drawingml/2006/table">
            <a:tbl>
              <a:tblPr bandRow="1" firstRow="1">
                <a:noFill/>
                <a:tableStyleId>{60C7E03B-85A4-41BA-8E18-2549407F5BF5}</a:tableStyleId>
              </a:tblPr>
              <a:tblGrid>
                <a:gridCol w="1499625"/>
                <a:gridCol w="1243575"/>
                <a:gridCol w="1170425"/>
              </a:tblGrid>
              <a:tr h="420625">
                <a:tc>
                  <a:txBody>
                    <a:bodyPr/>
                    <a:lstStyle/>
                    <a:p>
                      <a:pPr indent="0" lvl="0" marL="0" marR="0" rtl="0" algn="l">
                        <a:lnSpc>
                          <a:spcPct val="100000"/>
                        </a:lnSpc>
                        <a:spcBef>
                          <a:spcPts val="0"/>
                        </a:spcBef>
                        <a:spcAft>
                          <a:spcPts val="0"/>
                        </a:spcAft>
                        <a:buNone/>
                      </a:pPr>
                      <a:r>
                        <a:rPr b="1" lang="en" sz="1100" u="none" cap="none" strike="noStrike">
                          <a:solidFill>
                            <a:srgbClr val="FFFFFF"/>
                          </a:solidFill>
                          <a:latin typeface="Arial"/>
                          <a:ea typeface="Arial"/>
                          <a:cs typeface="Arial"/>
                          <a:sym typeface="Arial"/>
                        </a:rPr>
                        <a:t>Method</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100" u="none" cap="none" strike="noStrike">
                          <a:solidFill>
                            <a:srgbClr val="FFFFFF"/>
                          </a:solidFill>
                          <a:latin typeface="Arial"/>
                          <a:ea typeface="Arial"/>
                          <a:cs typeface="Arial"/>
                          <a:sym typeface="Arial"/>
                        </a:rPr>
                        <a:t>Agree ↑ (%)</a:t>
                      </a:r>
                      <a:endParaRPr/>
                    </a:p>
                  </a:txBody>
                  <a:tcPr marT="45725" marB="36575" marR="45725" marL="91450" anchor="ctr">
                    <a:solidFill>
                      <a:srgbClr val="183153"/>
                    </a:solidFill>
                  </a:tcPr>
                </a:tc>
                <a:tc>
                  <a:txBody>
                    <a:bodyPr/>
                    <a:lstStyle/>
                    <a:p>
                      <a:pPr indent="0" lvl="0" marL="0" marR="0" rtl="0" algn="ctr">
                        <a:lnSpc>
                          <a:spcPct val="100000"/>
                        </a:lnSpc>
                        <a:spcBef>
                          <a:spcPts val="0"/>
                        </a:spcBef>
                        <a:spcAft>
                          <a:spcPts val="0"/>
                        </a:spcAft>
                        <a:buNone/>
                      </a:pPr>
                      <a:r>
                        <a:rPr b="1" lang="en" sz="1100" u="none" cap="none" strike="noStrike">
                          <a:solidFill>
                            <a:srgbClr val="FFFFFF"/>
                          </a:solidFill>
                          <a:latin typeface="Arial"/>
                          <a:ea typeface="Arial"/>
                          <a:cs typeface="Arial"/>
                          <a:sym typeface="Arial"/>
                        </a:rPr>
                        <a:t>Gap ↓</a:t>
                      </a:r>
                      <a:endParaRPr/>
                    </a:p>
                  </a:txBody>
                  <a:tcPr marT="45725" marB="36575" marR="45725" marL="91450" anchor="ctr">
                    <a:solidFill>
                      <a:srgbClr val="183153"/>
                    </a:solidFill>
                  </a:tcPr>
                </a:tc>
              </a:tr>
              <a:tr h="420625">
                <a:tc>
                  <a:txBody>
                    <a:bodyPr/>
                    <a:lstStyle/>
                    <a:p>
                      <a:pPr indent="0" lvl="0" marL="0" marR="0" rtl="0" algn="l">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Direct PRM</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58.6</a:t>
                      </a:r>
                      <a:endParaRPr/>
                    </a:p>
                  </a:txBody>
                  <a:tcPr marT="45725" marB="36575" marR="45725" marL="91450" anchor="ctr">
                    <a:solidFill>
                      <a:srgbClr val="F7F9FC"/>
                    </a:solidFill>
                  </a:tcPr>
                </a:tc>
                <a:tc>
                  <a:txBody>
                    <a:bodyPr/>
                    <a:lstStyle/>
                    <a:p>
                      <a:pPr indent="0" lvl="0" marL="0" marR="0" rtl="0" algn="ctr">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0.82</a:t>
                      </a:r>
                      <a:endParaRPr/>
                    </a:p>
                  </a:txBody>
                  <a:tcPr marT="45725" marB="36575" marR="45725" marL="91450" anchor="ctr">
                    <a:solidFill>
                      <a:srgbClr val="F7F9FC"/>
                    </a:solidFill>
                  </a:tcPr>
                </a:tc>
              </a:tr>
              <a:tr h="420625">
                <a:tc>
                  <a:txBody>
                    <a:bodyPr/>
                    <a:lstStyle/>
                    <a:p>
                      <a:pPr indent="0" lvl="0" marL="0" marR="0" rtl="0" algn="l">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RaR</a:t>
                      </a:r>
                      <a:endParaRPr/>
                    </a:p>
                  </a:txBody>
                  <a:tcPr marT="45725" marB="36575" marR="45725" marL="91450" anchor="ctr">
                    <a:solidFill>
                      <a:srgbClr val="FFFFFF"/>
                    </a:solidFill>
                  </a:tcPr>
                </a:tc>
                <a:tc>
                  <a:txBody>
                    <a:bodyPr/>
                    <a:lstStyle/>
                    <a:p>
                      <a:pPr indent="0" lvl="0" marL="0" marR="0" rtl="0" algn="ctr">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69.4</a:t>
                      </a:r>
                      <a:endParaRPr/>
                    </a:p>
                  </a:txBody>
                  <a:tcPr marT="45725" marB="36575" marR="45725" marL="91450" anchor="ctr">
                    <a:solidFill>
                      <a:srgbClr val="FFFFFF"/>
                    </a:solidFill>
                  </a:tcPr>
                </a:tc>
                <a:tc>
                  <a:txBody>
                    <a:bodyPr/>
                    <a:lstStyle/>
                    <a:p>
                      <a:pPr indent="0" lvl="0" marL="0" marR="0" rtl="0" algn="ctr">
                        <a:lnSpc>
                          <a:spcPct val="100000"/>
                        </a:lnSpc>
                        <a:spcBef>
                          <a:spcPts val="0"/>
                        </a:spcBef>
                        <a:spcAft>
                          <a:spcPts val="0"/>
                        </a:spcAft>
                        <a:buNone/>
                      </a:pPr>
                      <a:r>
                        <a:rPr b="0" lang="en" sz="1100" u="none" cap="none" strike="noStrike">
                          <a:solidFill>
                            <a:srgbClr val="183153"/>
                          </a:solidFill>
                          <a:latin typeface="Arial"/>
                          <a:ea typeface="Arial"/>
                          <a:cs typeface="Arial"/>
                          <a:sym typeface="Arial"/>
                        </a:rPr>
                        <a:t>0.57</a:t>
                      </a:r>
                      <a:endParaRPr/>
                    </a:p>
                  </a:txBody>
                  <a:tcPr marT="45725" marB="36575" marR="45725" marL="91450" anchor="ctr">
                    <a:solidFill>
                      <a:srgbClr val="FFFFFF"/>
                    </a:solidFill>
                  </a:tcPr>
                </a:tc>
              </a:tr>
              <a:tr h="420625">
                <a:tc>
                  <a:txBody>
                    <a:bodyPr/>
                    <a:lstStyle/>
                    <a:p>
                      <a:pPr indent="0" lvl="0" marL="0" marR="0" rtl="0" algn="l">
                        <a:lnSpc>
                          <a:spcPct val="100000"/>
                        </a:lnSpc>
                        <a:spcBef>
                          <a:spcPts val="0"/>
                        </a:spcBef>
                        <a:spcAft>
                          <a:spcPts val="0"/>
                        </a:spcAft>
                        <a:buNone/>
                      </a:pPr>
                      <a:r>
                        <a:rPr b="1" lang="en" sz="1100" u="none" cap="none" strike="noStrike">
                          <a:solidFill>
                            <a:srgbClr val="183153"/>
                          </a:solidFill>
                          <a:latin typeface="Arial"/>
                          <a:ea typeface="Arial"/>
                          <a:cs typeface="Arial"/>
                          <a:sym typeface="Arial"/>
                        </a:rPr>
                        <a:t>SCRIBE</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rPr b="1" lang="en" sz="1100" u="none" cap="none" strike="noStrike">
                          <a:solidFill>
                            <a:srgbClr val="183153"/>
                          </a:solidFill>
                          <a:latin typeface="Arial"/>
                          <a:ea typeface="Arial"/>
                          <a:cs typeface="Arial"/>
                          <a:sym typeface="Arial"/>
                        </a:rPr>
                        <a:t>86.8</a:t>
                      </a:r>
                      <a:endParaRPr/>
                    </a:p>
                  </a:txBody>
                  <a:tcPr marT="45725" marB="36575" marR="45725" marL="91450" anchor="ctr">
                    <a:solidFill>
                      <a:srgbClr val="EDF4FC"/>
                    </a:solidFill>
                  </a:tcPr>
                </a:tc>
                <a:tc>
                  <a:txBody>
                    <a:bodyPr/>
                    <a:lstStyle/>
                    <a:p>
                      <a:pPr indent="0" lvl="0" marL="0" marR="0" rtl="0" algn="ctr">
                        <a:lnSpc>
                          <a:spcPct val="100000"/>
                        </a:lnSpc>
                        <a:spcBef>
                          <a:spcPts val="0"/>
                        </a:spcBef>
                        <a:spcAft>
                          <a:spcPts val="0"/>
                        </a:spcAft>
                        <a:buNone/>
                      </a:pPr>
                      <a:r>
                        <a:rPr b="1" lang="en" sz="1100" u="none" cap="none" strike="noStrike">
                          <a:solidFill>
                            <a:srgbClr val="183153"/>
                          </a:solidFill>
                          <a:latin typeface="Arial"/>
                          <a:ea typeface="Arial"/>
                          <a:cs typeface="Arial"/>
                          <a:sym typeface="Arial"/>
                        </a:rPr>
                        <a:t>0.24</a:t>
                      </a:r>
                      <a:endParaRPr/>
                    </a:p>
                  </a:txBody>
                  <a:tcPr marT="45725" marB="36575" marR="45725" marL="91450" anchor="ctr">
                    <a:solidFill>
                      <a:srgbClr val="EDF4FC"/>
                    </a:solidFill>
                  </a:tcPr>
                </a:tc>
              </a:tr>
            </a:tbl>
          </a:graphicData>
        </a:graphic>
      </p:graphicFrame>
      <p:sp>
        <p:nvSpPr>
          <p:cNvPr id="250" name="Google Shape;250;p41"/>
          <p:cNvSpPr txBox="1"/>
          <p:nvPr/>
        </p:nvSpPr>
        <p:spPr>
          <a:xfrm>
            <a:off x="594360" y="4443984"/>
            <a:ext cx="79554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rgbClr val="176B50"/>
                </a:solidFill>
                <a:latin typeface="Arial"/>
                <a:ea typeface="Arial"/>
                <a:cs typeface="Arial"/>
                <a:sym typeface="Arial"/>
              </a:rPr>
              <a:t>One shared rubric gives similar reasoning behaviors a more consistent reward standard.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type="ctrTitle"/>
          </p:nvPr>
        </p:nvSpPr>
        <p:spPr>
          <a:xfrm>
            <a:off x="438912" y="164592"/>
            <a:ext cx="7498200" cy="475500"/>
          </a:xfrm>
          <a:prstGeom prst="rect">
            <a:avLst/>
          </a:prstGeom>
          <a:noFill/>
          <a:ln>
            <a:noFill/>
          </a:ln>
        </p:spPr>
        <p:txBody>
          <a:bodyPr anchorCtr="0" anchor="ctr" bIns="34275" lIns="0" spcFirstLastPara="1" rIns="0" wrap="square" tIns="34275">
            <a:normAutofit/>
          </a:bodyPr>
          <a:lstStyle/>
          <a:p>
            <a:pPr indent="0" lvl="0" marL="0" rtl="0" algn="l">
              <a:lnSpc>
                <a:spcPct val="100000"/>
              </a:lnSpc>
              <a:spcBef>
                <a:spcPts val="0"/>
              </a:spcBef>
              <a:spcAft>
                <a:spcPts val="0"/>
              </a:spcAft>
              <a:buSzPts val="2556"/>
              <a:buNone/>
            </a:pPr>
            <a:r>
              <a:rPr b="1" lang="en" sz="2300">
                <a:solidFill>
                  <a:srgbClr val="162849"/>
                </a:solidFill>
                <a:latin typeface="Play"/>
                <a:ea typeface="Play"/>
                <a:cs typeface="Play"/>
                <a:sym typeface="Play"/>
              </a:rPr>
              <a:t>Improved Reasoning on Math Tasks</a:t>
            </a:r>
            <a:endParaRPr/>
          </a:p>
        </p:txBody>
      </p:sp>
      <p:sp>
        <p:nvSpPr>
          <p:cNvPr id="258" name="Google Shape;258;p42"/>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aphicFrame>
        <p:nvGraphicFramePr>
          <p:cNvPr id="259" name="Table 258"/>
          <p:cNvGraphicFramePr>
            <a:graphicFrameLocks noGrp="1"/>
          </p:cNvGraphicFramePr>
          <p:nvPr/>
        </p:nvGraphicFramePr>
        <p:xfrm>
          <a:off x="594360" y="1325880"/>
          <a:ext cx="7955280" cy="3072384"/>
        </p:xfrm>
        <a:graphic>
          <a:graphicData uri="http://schemas.openxmlformats.org/drawingml/2006/table">
            <a:tbl>
              <a:tblPr firstRow="1" bandRow="1">
                <a:tableStyleId>{5C22544A-7EE6-4342-B048-85BDC9FD1C3A}</a:tableStyleId>
              </a:tblPr>
              <a:tblGrid>
                <a:gridCol w="1965960"/>
                <a:gridCol w="2971800"/>
                <a:gridCol w="1508760"/>
                <a:gridCol w="1508760"/>
              </a:tblGrid>
              <a:tr h="438912">
                <a:tc>
                  <a:txBody>
                    <a:bodyPr/>
                    <a:lstStyle/>
                    <a:p>
                      <a:pPr algn="l">
                        <a:defRPr sz="1400" b="1">
                          <a:solidFill>
                            <a:srgbClr val="FFFFFF"/>
                          </a:solidFill>
                          <a:latin typeface="Arial"/>
                        </a:defRPr>
                      </a:pPr>
                      <a:r>
                        <a:t>Model</a:t>
                      </a:r>
                    </a:p>
                  </a:txBody>
                  <a:tcPr marL="73152" marR="54864" marT="45720" marB="36576" anchor="ctr">
                    <a:solidFill>
                      <a:srgbClr val="193354"/>
                    </a:solidFill>
                  </a:tcPr>
                </a:tc>
                <a:tc>
                  <a:txBody>
                    <a:bodyPr/>
                    <a:lstStyle/>
                    <a:p>
                      <a:pPr algn="ctr">
                        <a:defRPr sz="1400" b="1">
                          <a:solidFill>
                            <a:srgbClr val="FFFFFF"/>
                          </a:solidFill>
                          <a:latin typeface="Arial"/>
                        </a:defRPr>
                      </a:pPr>
                      <a:r>
                        <a:t>Method</a:t>
                      </a:r>
                    </a:p>
                  </a:txBody>
                  <a:tcPr marL="73152" marR="54864" marT="45720" marB="36576" anchor="ctr">
                    <a:solidFill>
                      <a:srgbClr val="193354"/>
                    </a:solidFill>
                  </a:tcPr>
                </a:tc>
                <a:tc>
                  <a:txBody>
                    <a:bodyPr/>
                    <a:lstStyle/>
                    <a:p>
                      <a:pPr algn="ctr">
                        <a:defRPr sz="1400" b="1">
                          <a:solidFill>
                            <a:srgbClr val="FFFFFF"/>
                          </a:solidFill>
                          <a:latin typeface="Arial"/>
                        </a:defRPr>
                      </a:pPr>
                      <a:r>
                        <a:t>MATH500</a:t>
                      </a:r>
                    </a:p>
                  </a:txBody>
                  <a:tcPr marL="73152" marR="54864" marT="45720" marB="36576" anchor="ctr">
                    <a:solidFill>
                      <a:srgbClr val="193354"/>
                    </a:solidFill>
                  </a:tcPr>
                </a:tc>
                <a:tc>
                  <a:txBody>
                    <a:bodyPr/>
                    <a:lstStyle/>
                    <a:p>
                      <a:pPr algn="ctr">
                        <a:defRPr sz="1400" b="1">
                          <a:solidFill>
                            <a:srgbClr val="FFFFFF"/>
                          </a:solidFill>
                          <a:latin typeface="Arial"/>
                        </a:defRPr>
                      </a:pPr>
                      <a:r>
                        <a:t>AIME25</a:t>
                      </a:r>
                    </a:p>
                  </a:txBody>
                  <a:tcPr marL="73152" marR="54864" marT="45720" marB="36576" anchor="ctr">
                    <a:solidFill>
                      <a:srgbClr val="193354"/>
                    </a:solidFill>
                  </a:tcPr>
                </a:tc>
              </a:tr>
              <a:tr h="438912">
                <a:tc rowSpan="3">
                  <a:txBody>
                    <a:bodyPr/>
                    <a:lstStyle/>
                    <a:p>
                      <a:pPr algn="ctr">
                        <a:defRPr sz="1400" b="1">
                          <a:solidFill>
                            <a:srgbClr val="193354"/>
                          </a:solidFill>
                          <a:latin typeface="Arial"/>
                        </a:defRPr>
                      </a:pPr>
                      <a:r>
                        <a:t>Qwen3-4B</a:t>
                      </a:r>
                    </a:p>
                    <a:p>
                      <a:pPr algn="ctr">
                        <a:defRPr sz="1400" b="1">
                          <a:solidFill>
                            <a:srgbClr val="193354"/>
                          </a:solidFill>
                          <a:latin typeface="Arial"/>
                        </a:defRPr>
                      </a:pPr>
                      <a:r>
                        <a:t>Instruct-2507</a:t>
                      </a:r>
                    </a:p>
                  </a:txBody>
                  <a:tcPr marL="73152" marR="54864" marT="45720" marB="36576" anchor="ctr">
                    <a:solidFill>
                      <a:srgbClr val="E7EEF6"/>
                    </a:solidFill>
                  </a:tcPr>
                </a:tc>
                <a:tc>
                  <a:txBody>
                    <a:bodyPr/>
                    <a:lstStyle/>
                    <a:p>
                      <a:pPr algn="ctr">
                        <a:defRPr sz="1400" b="0">
                          <a:solidFill>
                            <a:srgbClr val="193354"/>
                          </a:solidFill>
                          <a:latin typeface="Arial"/>
                        </a:defRPr>
                      </a:pPr>
                      <a:r>
                        <a:t>Base</a:t>
                      </a:r>
                    </a:p>
                  </a:txBody>
                  <a:tcPr marL="73152" marR="54864" marT="45720" marB="36576" anchor="ctr">
                    <a:solidFill>
                      <a:srgbClr val="EFF5FB"/>
                    </a:solidFill>
                  </a:tcPr>
                </a:tc>
                <a:tc>
                  <a:txBody>
                    <a:bodyPr/>
                    <a:lstStyle/>
                    <a:p>
                      <a:pPr algn="ctr">
                        <a:defRPr sz="1400" b="0">
                          <a:solidFill>
                            <a:srgbClr val="193354"/>
                          </a:solidFill>
                          <a:latin typeface="Arial"/>
                        </a:defRPr>
                      </a:pPr>
                      <a:r>
                        <a:t>89.1</a:t>
                      </a:r>
                    </a:p>
                  </a:txBody>
                  <a:tcPr marL="73152" marR="54864" marT="45720" marB="36576" anchor="ctr">
                    <a:solidFill>
                      <a:srgbClr val="EFF5FB"/>
                    </a:solidFill>
                  </a:tcPr>
                </a:tc>
                <a:tc>
                  <a:txBody>
                    <a:bodyPr/>
                    <a:lstStyle/>
                    <a:p>
                      <a:pPr algn="ctr">
                        <a:defRPr sz="1400" b="0">
                          <a:solidFill>
                            <a:srgbClr val="193354"/>
                          </a:solidFill>
                          <a:latin typeface="Arial"/>
                        </a:defRPr>
                      </a:pPr>
                      <a:r>
                        <a:t>43.3</a:t>
                      </a:r>
                    </a:p>
                  </a:txBody>
                  <a:tcPr marL="73152" marR="54864" marT="45720" marB="36576" anchor="ctr">
                    <a:solidFill>
                      <a:srgbClr val="EFF5FB"/>
                    </a:solidFill>
                  </a:tcPr>
                </a:tc>
              </a:tr>
              <a:tr h="438912">
                <a:tc vMerge="1">
                  <a:txBody>
                    <a:bodyPr/>
                    <a:lstStyle/>
                    <a:p>
                      <a:pPr algn="l">
                        <a:defRPr sz="1400" b="0">
                          <a:solidFill>
                            <a:srgbClr val="193354"/>
                          </a:solidFill>
                          <a:latin typeface="Arial"/>
                        </a:defRPr>
                      </a:pPr>
                    </a:p>
                  </a:txBody>
                  <a:tcPr marL="73152" marR="54864" marT="45720" marB="36576" anchor="ctr">
                    <a:solidFill>
                      <a:srgbClr val="FFFFFF"/>
                    </a:solidFill>
                  </a:tcPr>
                </a:tc>
                <a:tc>
                  <a:txBody>
                    <a:bodyPr/>
                    <a:lstStyle/>
                    <a:p>
                      <a:pPr algn="ctr">
                        <a:defRPr sz="1400" b="0">
                          <a:solidFill>
                            <a:srgbClr val="193354"/>
                          </a:solidFill>
                          <a:latin typeface="Arial"/>
                        </a:defRPr>
                      </a:pPr>
                      <a:r>
                        <a:t>Process Reward Modeling</a:t>
                      </a:r>
                    </a:p>
                  </a:txBody>
                  <a:tcPr marL="73152" marR="54864" marT="45720" marB="36576" anchor="ctr">
                    <a:solidFill>
                      <a:srgbClr val="FFFFFF"/>
                    </a:solidFill>
                  </a:tcPr>
                </a:tc>
                <a:tc>
                  <a:txBody>
                    <a:bodyPr/>
                    <a:lstStyle/>
                    <a:p>
                      <a:pPr algn="ctr">
                        <a:defRPr sz="1400" b="0">
                          <a:solidFill>
                            <a:srgbClr val="193354"/>
                          </a:solidFill>
                          <a:latin typeface="Arial"/>
                        </a:defRPr>
                      </a:pPr>
                      <a:r>
                        <a:t>92.3</a:t>
                      </a:r>
                    </a:p>
                  </a:txBody>
                  <a:tcPr marL="73152" marR="54864" marT="45720" marB="36576" anchor="ctr">
                    <a:solidFill>
                      <a:srgbClr val="FFFFFF"/>
                    </a:solidFill>
                  </a:tcPr>
                </a:tc>
                <a:tc>
                  <a:txBody>
                    <a:bodyPr/>
                    <a:lstStyle/>
                    <a:p>
                      <a:pPr algn="ctr">
                        <a:defRPr sz="1400" b="0">
                          <a:solidFill>
                            <a:srgbClr val="193354"/>
                          </a:solidFill>
                          <a:latin typeface="Arial"/>
                        </a:defRPr>
                      </a:pPr>
                      <a:r>
                        <a:t>51.7</a:t>
                      </a:r>
                    </a:p>
                  </a:txBody>
                  <a:tcPr marL="73152" marR="54864" marT="45720" marB="36576" anchor="ctr">
                    <a:solidFill>
                      <a:srgbClr val="FFFFFF"/>
                    </a:solidFill>
                  </a:tcPr>
                </a:tc>
              </a:tr>
              <a:tr h="438912">
                <a:tc vMerge="1">
                  <a:txBody>
                    <a:bodyPr/>
                    <a:lstStyle/>
                    <a:p>
                      <a:pPr algn="l">
                        <a:defRPr sz="1400" b="1">
                          <a:solidFill>
                            <a:srgbClr val="193354"/>
                          </a:solidFill>
                          <a:latin typeface="Arial"/>
                        </a:defRPr>
                      </a:pPr>
                    </a:p>
                  </a:txBody>
                  <a:tcPr marL="73152" marR="54864" marT="45720" marB="36576" anchor="ctr">
                    <a:solidFill>
                      <a:srgbClr val="E6F4EF"/>
                    </a:solidFill>
                  </a:tcPr>
                </a:tc>
                <a:tc>
                  <a:txBody>
                    <a:bodyPr/>
                    <a:lstStyle/>
                    <a:p>
                      <a:pPr algn="ctr">
                        <a:defRPr sz="1400" b="1">
                          <a:solidFill>
                            <a:srgbClr val="193354"/>
                          </a:solidFill>
                          <a:latin typeface="Arial"/>
                        </a:defRPr>
                      </a:pPr>
                      <a:r>
                        <a:t>SCRIBE (Ours)</a:t>
                      </a:r>
                    </a:p>
                  </a:txBody>
                  <a:tcPr marL="73152" marR="54864" marT="45720" marB="36576" anchor="ctr">
                    <a:solidFill>
                      <a:srgbClr val="E6F4EF"/>
                    </a:solidFill>
                  </a:tcPr>
                </a:tc>
                <a:tc>
                  <a:txBody>
                    <a:bodyPr/>
                    <a:lstStyle/>
                    <a:p>
                      <a:pPr algn="ctr">
                        <a:defRPr sz="1400" b="1">
                          <a:solidFill>
                            <a:srgbClr val="193354"/>
                          </a:solidFill>
                          <a:latin typeface="Arial"/>
                        </a:defRPr>
                      </a:pPr>
                    </a:p>
                  </a:txBody>
                  <a:tcPr marL="73152" marR="54864" marT="45720" marB="36576" anchor="ctr">
                    <a:solidFill>
                      <a:srgbClr val="E6F4EF"/>
                    </a:solidFill>
                  </a:tcPr>
                </a:tc>
                <a:tc>
                  <a:txBody>
                    <a:bodyPr/>
                    <a:lstStyle/>
                    <a:p>
                      <a:pPr algn="ctr">
                        <a:defRPr sz="1400" b="1">
                          <a:solidFill>
                            <a:srgbClr val="193354"/>
                          </a:solidFill>
                          <a:latin typeface="Arial"/>
                        </a:defRPr>
                      </a:pPr>
                    </a:p>
                  </a:txBody>
                  <a:tcPr marL="73152" marR="54864" marT="45720" marB="36576" anchor="ctr">
                    <a:solidFill>
                      <a:srgbClr val="E6F4EF"/>
                    </a:solidFill>
                  </a:tcPr>
                </a:tc>
              </a:tr>
              <a:tr h="438912">
                <a:tc rowSpan="3">
                  <a:txBody>
                    <a:bodyPr/>
                    <a:lstStyle/>
                    <a:p>
                      <a:pPr algn="ctr">
                        <a:defRPr sz="1400" b="1">
                          <a:solidFill>
                            <a:srgbClr val="193354"/>
                          </a:solidFill>
                          <a:latin typeface="Arial"/>
                        </a:defRPr>
                      </a:pPr>
                      <a:r>
                        <a:t>LLaMA</a:t>
                      </a:r>
                    </a:p>
                    <a:p>
                      <a:pPr algn="ctr">
                        <a:defRPr sz="1400" b="1">
                          <a:solidFill>
                            <a:srgbClr val="193354"/>
                          </a:solidFill>
                          <a:latin typeface="Arial"/>
                        </a:defRPr>
                      </a:pPr>
                      <a:r>
                        <a:t>3.2-3B-Instruct</a:t>
                      </a:r>
                    </a:p>
                  </a:txBody>
                  <a:tcPr marL="73152" marR="54864" marT="45720" marB="36576" anchor="ctr">
                    <a:solidFill>
                      <a:srgbClr val="E7EEF6"/>
                    </a:solidFill>
                  </a:tcPr>
                </a:tc>
                <a:tc>
                  <a:txBody>
                    <a:bodyPr/>
                    <a:lstStyle/>
                    <a:p>
                      <a:pPr algn="ctr">
                        <a:defRPr sz="1400" b="0">
                          <a:solidFill>
                            <a:srgbClr val="193354"/>
                          </a:solidFill>
                          <a:latin typeface="Arial"/>
                        </a:defRPr>
                      </a:pPr>
                      <a:r>
                        <a:t>Base</a:t>
                      </a:r>
                    </a:p>
                  </a:txBody>
                  <a:tcPr marL="73152" marR="54864" marT="45720" marB="36576" anchor="ctr">
                    <a:solidFill>
                      <a:srgbClr val="FFFFFF"/>
                    </a:solidFill>
                  </a:tcPr>
                </a:tc>
                <a:tc>
                  <a:txBody>
                    <a:bodyPr/>
                    <a:lstStyle/>
                    <a:p>
                      <a:pPr algn="ctr">
                        <a:defRPr sz="1400" b="0">
                          <a:solidFill>
                            <a:srgbClr val="193354"/>
                          </a:solidFill>
                          <a:latin typeface="Arial"/>
                        </a:defRPr>
                      </a:pPr>
                      <a:r>
                        <a:t>40.8</a:t>
                      </a:r>
                    </a:p>
                  </a:txBody>
                  <a:tcPr marL="73152" marR="54864" marT="45720" marB="36576" anchor="ctr">
                    <a:solidFill>
                      <a:srgbClr val="FFFFFF"/>
                    </a:solidFill>
                  </a:tcPr>
                </a:tc>
                <a:tc>
                  <a:txBody>
                    <a:bodyPr/>
                    <a:lstStyle/>
                    <a:p>
                      <a:pPr algn="ctr">
                        <a:defRPr sz="1400" b="0">
                          <a:solidFill>
                            <a:srgbClr val="193354"/>
                          </a:solidFill>
                          <a:latin typeface="Arial"/>
                        </a:defRPr>
                      </a:pPr>
                      <a:r>
                        <a:t>1.7</a:t>
                      </a:r>
                    </a:p>
                  </a:txBody>
                  <a:tcPr marL="73152" marR="54864" marT="45720" marB="36576" anchor="ctr">
                    <a:solidFill>
                      <a:srgbClr val="FFFFFF"/>
                    </a:solidFill>
                  </a:tcPr>
                </a:tc>
              </a:tr>
              <a:tr h="438912">
                <a:tc vMerge="1">
                  <a:txBody>
                    <a:bodyPr/>
                    <a:lstStyle/>
                    <a:p>
                      <a:pPr algn="l">
                        <a:defRPr sz="1400" b="0">
                          <a:solidFill>
                            <a:srgbClr val="193354"/>
                          </a:solidFill>
                          <a:latin typeface="Arial"/>
                        </a:defRPr>
                      </a:pPr>
                    </a:p>
                  </a:txBody>
                  <a:tcPr marL="73152" marR="54864" marT="45720" marB="36576" anchor="ctr">
                    <a:solidFill>
                      <a:srgbClr val="EFF5FB"/>
                    </a:solidFill>
                  </a:tcPr>
                </a:tc>
                <a:tc>
                  <a:txBody>
                    <a:bodyPr/>
                    <a:lstStyle/>
                    <a:p>
                      <a:pPr algn="ctr">
                        <a:defRPr sz="1400" b="0">
                          <a:solidFill>
                            <a:srgbClr val="193354"/>
                          </a:solidFill>
                          <a:latin typeface="Arial"/>
                        </a:defRPr>
                      </a:pPr>
                      <a:r>
                        <a:t>Process Reward Modeling</a:t>
                      </a:r>
                    </a:p>
                  </a:txBody>
                  <a:tcPr marL="73152" marR="54864" marT="45720" marB="36576" anchor="ctr">
                    <a:solidFill>
                      <a:srgbClr val="EFF5FB"/>
                    </a:solidFill>
                  </a:tcPr>
                </a:tc>
                <a:tc>
                  <a:txBody>
                    <a:bodyPr/>
                    <a:lstStyle/>
                    <a:p>
                      <a:pPr algn="ctr">
                        <a:defRPr sz="1400" b="0">
                          <a:solidFill>
                            <a:srgbClr val="193354"/>
                          </a:solidFill>
                          <a:latin typeface="Arial"/>
                        </a:defRPr>
                      </a:pPr>
                      <a:r>
                        <a:t>48.3</a:t>
                      </a:r>
                    </a:p>
                  </a:txBody>
                  <a:tcPr marL="73152" marR="54864" marT="45720" marB="36576" anchor="ctr">
                    <a:solidFill>
                      <a:srgbClr val="EFF5FB"/>
                    </a:solidFill>
                  </a:tcPr>
                </a:tc>
                <a:tc>
                  <a:txBody>
                    <a:bodyPr/>
                    <a:lstStyle/>
                    <a:p>
                      <a:pPr algn="ctr">
                        <a:defRPr sz="1400" b="0">
                          <a:solidFill>
                            <a:srgbClr val="193354"/>
                          </a:solidFill>
                          <a:latin typeface="Arial"/>
                        </a:defRPr>
                      </a:pPr>
                      <a:r>
                        <a:t>6.7</a:t>
                      </a:r>
                    </a:p>
                  </a:txBody>
                  <a:tcPr marL="73152" marR="54864" marT="45720" marB="36576" anchor="ctr">
                    <a:solidFill>
                      <a:srgbClr val="EFF5FB"/>
                    </a:solidFill>
                  </a:tcPr>
                </a:tc>
              </a:tr>
              <a:tr h="438912">
                <a:tc vMerge="1">
                  <a:txBody>
                    <a:bodyPr/>
                    <a:lstStyle/>
                    <a:p>
                      <a:pPr algn="l">
                        <a:defRPr sz="1400" b="1">
                          <a:solidFill>
                            <a:srgbClr val="193354"/>
                          </a:solidFill>
                          <a:latin typeface="Arial"/>
                        </a:defRPr>
                      </a:pPr>
                    </a:p>
                  </a:txBody>
                  <a:tcPr marL="73152" marR="54864" marT="45720" marB="36576" anchor="ctr">
                    <a:solidFill>
                      <a:srgbClr val="E6F4EF"/>
                    </a:solidFill>
                  </a:tcPr>
                </a:tc>
                <a:tc>
                  <a:txBody>
                    <a:bodyPr/>
                    <a:lstStyle/>
                    <a:p>
                      <a:pPr algn="ctr">
                        <a:defRPr sz="1400" b="1">
                          <a:solidFill>
                            <a:srgbClr val="193354"/>
                          </a:solidFill>
                          <a:latin typeface="Arial"/>
                        </a:defRPr>
                      </a:pPr>
                      <a:r>
                        <a:t>SCRIBE (Ours)</a:t>
                      </a:r>
                    </a:p>
                  </a:txBody>
                  <a:tcPr marL="73152" marR="54864" marT="45720" marB="36576" anchor="ctr">
                    <a:solidFill>
                      <a:srgbClr val="E6F4EF"/>
                    </a:solidFill>
                  </a:tcPr>
                </a:tc>
                <a:tc>
                  <a:txBody>
                    <a:bodyPr/>
                    <a:lstStyle/>
                    <a:p>
                      <a:pPr algn="ctr">
                        <a:defRPr sz="1400" b="1">
                          <a:solidFill>
                            <a:srgbClr val="193354"/>
                          </a:solidFill>
                          <a:latin typeface="Arial"/>
                        </a:defRPr>
                      </a:pPr>
                    </a:p>
                  </a:txBody>
                  <a:tcPr marL="73152" marR="54864" marT="45720" marB="36576" anchor="ctr">
                    <a:solidFill>
                      <a:srgbClr val="E6F4EF"/>
                    </a:solidFill>
                  </a:tcPr>
                </a:tc>
                <a:tc>
                  <a:txBody>
                    <a:bodyPr/>
                    <a:lstStyle/>
                    <a:p>
                      <a:pPr algn="ctr">
                        <a:defRPr sz="1400" b="1">
                          <a:solidFill>
                            <a:srgbClr val="193354"/>
                          </a:solidFill>
                          <a:latin typeface="Arial"/>
                        </a:defRPr>
                      </a:pPr>
                    </a:p>
                  </a:txBody>
                  <a:tcPr marL="73152" marR="54864" marT="45720" marB="36576" anchor="ctr">
                    <a:solidFill>
                      <a:srgbClr val="E6F4E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3"/>
          <p:cNvSpPr txBox="1"/>
          <p:nvPr>
            <p:ph type="ctrTitle"/>
          </p:nvPr>
        </p:nvSpPr>
        <p:spPr>
          <a:xfrm>
            <a:off x="438912" y="164592"/>
            <a:ext cx="7498200" cy="475500"/>
          </a:xfrm>
          <a:prstGeom prst="rect">
            <a:avLst/>
          </a:prstGeom>
          <a:noFill/>
          <a:ln>
            <a:noFill/>
          </a:ln>
        </p:spPr>
        <p:txBody>
          <a:bodyPr anchorCtr="0" anchor="ctr" bIns="34275" lIns="0" spcFirstLastPara="1" rIns="0" wrap="square" tIns="34275">
            <a:normAutofit/>
          </a:bodyPr>
          <a:lstStyle/>
          <a:p>
            <a:pPr indent="0" lvl="0" marL="0" rtl="0" algn="l">
              <a:lnSpc>
                <a:spcPct val="100000"/>
              </a:lnSpc>
              <a:spcBef>
                <a:spcPts val="0"/>
              </a:spcBef>
              <a:spcAft>
                <a:spcPts val="0"/>
              </a:spcAft>
              <a:buSzPts val="2556"/>
              <a:buNone/>
            </a:pPr>
            <a:r>
              <a:rPr b="1" lang="en" sz="2300">
                <a:solidFill>
                  <a:srgbClr val="162849"/>
                </a:solidFill>
                <a:latin typeface="Play"/>
                <a:ea typeface="Play"/>
                <a:cs typeface="Play"/>
                <a:sym typeface="Play"/>
              </a:rPr>
              <a:t>Improved Reasoning on Math Tasks</a:t>
            </a:r>
            <a:endParaRPr/>
          </a:p>
        </p:txBody>
      </p:sp>
      <p:sp>
        <p:nvSpPr>
          <p:cNvPr id="266" name="Google Shape;266;p43"/>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aphicFrame>
        <p:nvGraphicFramePr>
          <p:cNvPr id="267" name="Table 266"/>
          <p:cNvGraphicFramePr>
            <a:graphicFrameLocks noGrp="1"/>
          </p:cNvGraphicFramePr>
          <p:nvPr/>
        </p:nvGraphicFramePr>
        <p:xfrm>
          <a:off x="594360" y="1325880"/>
          <a:ext cx="7955280" cy="3072384"/>
        </p:xfrm>
        <a:graphic>
          <a:graphicData uri="http://schemas.openxmlformats.org/drawingml/2006/table">
            <a:tbl>
              <a:tblPr firstRow="1" bandRow="1">
                <a:tableStyleId>{5C22544A-7EE6-4342-B048-85BDC9FD1C3A}</a:tableStyleId>
              </a:tblPr>
              <a:tblGrid>
                <a:gridCol w="1965960"/>
                <a:gridCol w="2971800"/>
                <a:gridCol w="1508760"/>
                <a:gridCol w="1508760"/>
              </a:tblGrid>
              <a:tr h="438912">
                <a:tc>
                  <a:txBody>
                    <a:bodyPr/>
                    <a:lstStyle/>
                    <a:p>
                      <a:pPr algn="l">
                        <a:defRPr sz="1400" b="1">
                          <a:solidFill>
                            <a:srgbClr val="FFFFFF"/>
                          </a:solidFill>
                          <a:latin typeface="Arial"/>
                        </a:defRPr>
                      </a:pPr>
                      <a:r>
                        <a:t>Model</a:t>
                      </a:r>
                    </a:p>
                  </a:txBody>
                  <a:tcPr marL="73152" marR="54864" marT="45720" marB="36576" anchor="ctr">
                    <a:solidFill>
                      <a:srgbClr val="193354"/>
                    </a:solidFill>
                  </a:tcPr>
                </a:tc>
                <a:tc>
                  <a:txBody>
                    <a:bodyPr/>
                    <a:lstStyle/>
                    <a:p>
                      <a:pPr algn="ctr">
                        <a:defRPr sz="1400" b="1">
                          <a:solidFill>
                            <a:srgbClr val="FFFFFF"/>
                          </a:solidFill>
                          <a:latin typeface="Arial"/>
                        </a:defRPr>
                      </a:pPr>
                      <a:r>
                        <a:t>Method</a:t>
                      </a:r>
                    </a:p>
                  </a:txBody>
                  <a:tcPr marL="73152" marR="54864" marT="45720" marB="36576" anchor="ctr">
                    <a:solidFill>
                      <a:srgbClr val="193354"/>
                    </a:solidFill>
                  </a:tcPr>
                </a:tc>
                <a:tc>
                  <a:txBody>
                    <a:bodyPr/>
                    <a:lstStyle/>
                    <a:p>
                      <a:pPr algn="ctr">
                        <a:defRPr sz="1400" b="1">
                          <a:solidFill>
                            <a:srgbClr val="FFFFFF"/>
                          </a:solidFill>
                          <a:latin typeface="Arial"/>
                        </a:defRPr>
                      </a:pPr>
                      <a:r>
                        <a:t>MATH500</a:t>
                      </a:r>
                    </a:p>
                  </a:txBody>
                  <a:tcPr marL="73152" marR="54864" marT="45720" marB="36576" anchor="ctr">
                    <a:solidFill>
                      <a:srgbClr val="193354"/>
                    </a:solidFill>
                  </a:tcPr>
                </a:tc>
                <a:tc>
                  <a:txBody>
                    <a:bodyPr/>
                    <a:lstStyle/>
                    <a:p>
                      <a:pPr algn="ctr">
                        <a:defRPr sz="1400" b="1">
                          <a:solidFill>
                            <a:srgbClr val="FFFFFF"/>
                          </a:solidFill>
                          <a:latin typeface="Arial"/>
                        </a:defRPr>
                      </a:pPr>
                      <a:r>
                        <a:t>AIME25</a:t>
                      </a:r>
                    </a:p>
                  </a:txBody>
                  <a:tcPr marL="73152" marR="54864" marT="45720" marB="36576" anchor="ctr">
                    <a:solidFill>
                      <a:srgbClr val="193354"/>
                    </a:solidFill>
                  </a:tcPr>
                </a:tc>
              </a:tr>
              <a:tr h="438912">
                <a:tc rowSpan="3">
                  <a:txBody>
                    <a:bodyPr/>
                    <a:lstStyle/>
                    <a:p>
                      <a:pPr algn="ctr">
                        <a:defRPr sz="1400" b="1">
                          <a:solidFill>
                            <a:srgbClr val="193354"/>
                          </a:solidFill>
                          <a:latin typeface="Arial"/>
                        </a:defRPr>
                      </a:pPr>
                      <a:r>
                        <a:t>Qwen3-4B</a:t>
                      </a:r>
                    </a:p>
                    <a:p>
                      <a:pPr algn="ctr">
                        <a:defRPr sz="1400" b="1">
                          <a:solidFill>
                            <a:srgbClr val="193354"/>
                          </a:solidFill>
                          <a:latin typeface="Arial"/>
                        </a:defRPr>
                      </a:pPr>
                      <a:r>
                        <a:t>Instruct-2507</a:t>
                      </a:r>
                    </a:p>
                  </a:txBody>
                  <a:tcPr marL="73152" marR="54864" marT="45720" marB="36576" anchor="ctr">
                    <a:solidFill>
                      <a:srgbClr val="E7EEF6"/>
                    </a:solidFill>
                  </a:tcPr>
                </a:tc>
                <a:tc>
                  <a:txBody>
                    <a:bodyPr/>
                    <a:lstStyle/>
                    <a:p>
                      <a:pPr algn="ctr">
                        <a:defRPr sz="1400" b="0">
                          <a:solidFill>
                            <a:srgbClr val="193354"/>
                          </a:solidFill>
                          <a:latin typeface="Arial"/>
                        </a:defRPr>
                      </a:pPr>
                      <a:r>
                        <a:t>Base</a:t>
                      </a:r>
                    </a:p>
                  </a:txBody>
                  <a:tcPr marL="73152" marR="54864" marT="45720" marB="36576" anchor="ctr">
                    <a:solidFill>
                      <a:srgbClr val="EFF5FB"/>
                    </a:solidFill>
                  </a:tcPr>
                </a:tc>
                <a:tc>
                  <a:txBody>
                    <a:bodyPr/>
                    <a:lstStyle/>
                    <a:p>
                      <a:pPr algn="ctr">
                        <a:defRPr sz="1400" b="0">
                          <a:solidFill>
                            <a:srgbClr val="193354"/>
                          </a:solidFill>
                          <a:latin typeface="Arial"/>
                        </a:defRPr>
                      </a:pPr>
                      <a:r>
                        <a:t>89.1</a:t>
                      </a:r>
                    </a:p>
                  </a:txBody>
                  <a:tcPr marL="73152" marR="54864" marT="45720" marB="36576" anchor="ctr">
                    <a:solidFill>
                      <a:srgbClr val="EFF5FB"/>
                    </a:solidFill>
                  </a:tcPr>
                </a:tc>
                <a:tc>
                  <a:txBody>
                    <a:bodyPr/>
                    <a:lstStyle/>
                    <a:p>
                      <a:pPr algn="ctr">
                        <a:defRPr sz="1400" b="0">
                          <a:solidFill>
                            <a:srgbClr val="193354"/>
                          </a:solidFill>
                          <a:latin typeface="Arial"/>
                        </a:defRPr>
                      </a:pPr>
                      <a:r>
                        <a:t>43.3</a:t>
                      </a:r>
                    </a:p>
                  </a:txBody>
                  <a:tcPr marL="73152" marR="54864" marT="45720" marB="36576" anchor="ctr">
                    <a:solidFill>
                      <a:srgbClr val="EFF5FB"/>
                    </a:solidFill>
                  </a:tcPr>
                </a:tc>
              </a:tr>
              <a:tr h="438912">
                <a:tc vMerge="1">
                  <a:txBody>
                    <a:bodyPr/>
                    <a:lstStyle/>
                    <a:p>
                      <a:pPr algn="l">
                        <a:defRPr sz="1400" b="0">
                          <a:solidFill>
                            <a:srgbClr val="193354"/>
                          </a:solidFill>
                          <a:latin typeface="Arial"/>
                        </a:defRPr>
                      </a:pPr>
                    </a:p>
                  </a:txBody>
                  <a:tcPr marL="73152" marR="54864" marT="45720" marB="36576" anchor="ctr">
                    <a:solidFill>
                      <a:srgbClr val="FFFFFF"/>
                    </a:solidFill>
                  </a:tcPr>
                </a:tc>
                <a:tc>
                  <a:txBody>
                    <a:bodyPr/>
                    <a:lstStyle/>
                    <a:p>
                      <a:pPr algn="ctr">
                        <a:defRPr sz="1400" b="0">
                          <a:solidFill>
                            <a:srgbClr val="193354"/>
                          </a:solidFill>
                          <a:latin typeface="Arial"/>
                        </a:defRPr>
                      </a:pPr>
                      <a:r>
                        <a:t>Process Reward Modeling</a:t>
                      </a:r>
                    </a:p>
                  </a:txBody>
                  <a:tcPr marL="73152" marR="54864" marT="45720" marB="36576" anchor="ctr">
                    <a:solidFill>
                      <a:srgbClr val="FFFFFF"/>
                    </a:solidFill>
                  </a:tcPr>
                </a:tc>
                <a:tc>
                  <a:txBody>
                    <a:bodyPr/>
                    <a:lstStyle/>
                    <a:p>
                      <a:pPr algn="ctr">
                        <a:defRPr sz="1400" b="0">
                          <a:solidFill>
                            <a:srgbClr val="193354"/>
                          </a:solidFill>
                          <a:latin typeface="Arial"/>
                        </a:defRPr>
                      </a:pPr>
                      <a:r>
                        <a:t>92.3</a:t>
                      </a:r>
                    </a:p>
                  </a:txBody>
                  <a:tcPr marL="73152" marR="54864" marT="45720" marB="36576" anchor="ctr">
                    <a:solidFill>
                      <a:srgbClr val="FFFFFF"/>
                    </a:solidFill>
                  </a:tcPr>
                </a:tc>
                <a:tc>
                  <a:txBody>
                    <a:bodyPr/>
                    <a:lstStyle/>
                    <a:p>
                      <a:pPr algn="ctr">
                        <a:defRPr sz="1400" b="0">
                          <a:solidFill>
                            <a:srgbClr val="193354"/>
                          </a:solidFill>
                          <a:latin typeface="Arial"/>
                        </a:defRPr>
                      </a:pPr>
                      <a:r>
                        <a:t>51.7</a:t>
                      </a:r>
                    </a:p>
                  </a:txBody>
                  <a:tcPr marL="73152" marR="54864" marT="45720" marB="36576" anchor="ctr">
                    <a:solidFill>
                      <a:srgbClr val="FFFFFF"/>
                    </a:solidFill>
                  </a:tcPr>
                </a:tc>
              </a:tr>
              <a:tr h="438912">
                <a:tc vMerge="1">
                  <a:txBody>
                    <a:bodyPr/>
                    <a:lstStyle/>
                    <a:p>
                      <a:pPr algn="l">
                        <a:defRPr sz="1400" b="1">
                          <a:solidFill>
                            <a:srgbClr val="193354"/>
                          </a:solidFill>
                          <a:latin typeface="Arial"/>
                        </a:defRPr>
                      </a:pPr>
                    </a:p>
                  </a:txBody>
                  <a:tcPr marL="73152" marR="54864" marT="45720" marB="36576" anchor="ctr">
                    <a:solidFill>
                      <a:srgbClr val="E6F4EF"/>
                    </a:solidFill>
                  </a:tcPr>
                </a:tc>
                <a:tc>
                  <a:txBody>
                    <a:bodyPr/>
                    <a:lstStyle/>
                    <a:p>
                      <a:pPr algn="ctr">
                        <a:defRPr sz="1400" b="1">
                          <a:solidFill>
                            <a:srgbClr val="193354"/>
                          </a:solidFill>
                          <a:latin typeface="Arial"/>
                        </a:defRPr>
                      </a:pPr>
                      <a:r>
                        <a:t>SCRIBE (Ours)</a:t>
                      </a:r>
                    </a:p>
                  </a:txBody>
                  <a:tcPr marL="73152" marR="54864" marT="45720" marB="36576" anchor="ctr">
                    <a:solidFill>
                      <a:srgbClr val="E6F4EF"/>
                    </a:solidFill>
                  </a:tcPr>
                </a:tc>
                <a:tc>
                  <a:txBody>
                    <a:bodyPr/>
                    <a:lstStyle/>
                    <a:p>
                      <a:pPr algn="ctr">
                        <a:defRPr sz="1400" b="1">
                          <a:solidFill>
                            <a:srgbClr val="193354"/>
                          </a:solidFill>
                          <a:latin typeface="Arial"/>
                        </a:defRPr>
                      </a:pPr>
                      <a:r>
                        <a:t>95.8</a:t>
                      </a:r>
                    </a:p>
                  </a:txBody>
                  <a:tcPr marL="73152" marR="54864" marT="45720" marB="36576" anchor="ctr">
                    <a:solidFill>
                      <a:srgbClr val="E6F4EF"/>
                    </a:solidFill>
                  </a:tcPr>
                </a:tc>
                <a:tc>
                  <a:txBody>
                    <a:bodyPr/>
                    <a:lstStyle/>
                    <a:p>
                      <a:pPr algn="ctr">
                        <a:defRPr sz="1400" b="1">
                          <a:solidFill>
                            <a:srgbClr val="193354"/>
                          </a:solidFill>
                          <a:latin typeface="Arial"/>
                        </a:defRPr>
                      </a:pPr>
                      <a:r>
                        <a:t>63.3</a:t>
                      </a:r>
                    </a:p>
                  </a:txBody>
                  <a:tcPr marL="73152" marR="54864" marT="45720" marB="36576" anchor="ctr">
                    <a:solidFill>
                      <a:srgbClr val="E6F4EF"/>
                    </a:solidFill>
                  </a:tcPr>
                </a:tc>
              </a:tr>
              <a:tr h="438912">
                <a:tc rowSpan="3">
                  <a:txBody>
                    <a:bodyPr/>
                    <a:lstStyle/>
                    <a:p>
                      <a:pPr algn="ctr">
                        <a:defRPr sz="1400" b="1">
                          <a:solidFill>
                            <a:srgbClr val="193354"/>
                          </a:solidFill>
                          <a:latin typeface="Arial"/>
                        </a:defRPr>
                      </a:pPr>
                      <a:r>
                        <a:t>LLaMA</a:t>
                      </a:r>
                    </a:p>
                    <a:p>
                      <a:pPr algn="ctr">
                        <a:defRPr sz="1400" b="1">
                          <a:solidFill>
                            <a:srgbClr val="193354"/>
                          </a:solidFill>
                          <a:latin typeface="Arial"/>
                        </a:defRPr>
                      </a:pPr>
                      <a:r>
                        <a:t>3.2-3B-Instruct</a:t>
                      </a:r>
                    </a:p>
                  </a:txBody>
                  <a:tcPr marL="73152" marR="54864" marT="45720" marB="36576" anchor="ctr">
                    <a:solidFill>
                      <a:srgbClr val="E7EEF6"/>
                    </a:solidFill>
                  </a:tcPr>
                </a:tc>
                <a:tc>
                  <a:txBody>
                    <a:bodyPr/>
                    <a:lstStyle/>
                    <a:p>
                      <a:pPr algn="ctr">
                        <a:defRPr sz="1400" b="0">
                          <a:solidFill>
                            <a:srgbClr val="193354"/>
                          </a:solidFill>
                          <a:latin typeface="Arial"/>
                        </a:defRPr>
                      </a:pPr>
                      <a:r>
                        <a:t>Base</a:t>
                      </a:r>
                    </a:p>
                  </a:txBody>
                  <a:tcPr marL="73152" marR="54864" marT="45720" marB="36576" anchor="ctr">
                    <a:solidFill>
                      <a:srgbClr val="FFFFFF"/>
                    </a:solidFill>
                  </a:tcPr>
                </a:tc>
                <a:tc>
                  <a:txBody>
                    <a:bodyPr/>
                    <a:lstStyle/>
                    <a:p>
                      <a:pPr algn="ctr">
                        <a:defRPr sz="1400" b="0">
                          <a:solidFill>
                            <a:srgbClr val="193354"/>
                          </a:solidFill>
                          <a:latin typeface="Arial"/>
                        </a:defRPr>
                      </a:pPr>
                      <a:r>
                        <a:t>40.8</a:t>
                      </a:r>
                    </a:p>
                  </a:txBody>
                  <a:tcPr marL="73152" marR="54864" marT="45720" marB="36576" anchor="ctr">
                    <a:solidFill>
                      <a:srgbClr val="FFFFFF"/>
                    </a:solidFill>
                  </a:tcPr>
                </a:tc>
                <a:tc>
                  <a:txBody>
                    <a:bodyPr/>
                    <a:lstStyle/>
                    <a:p>
                      <a:pPr algn="ctr">
                        <a:defRPr sz="1400" b="0">
                          <a:solidFill>
                            <a:srgbClr val="193354"/>
                          </a:solidFill>
                          <a:latin typeface="Arial"/>
                        </a:defRPr>
                      </a:pPr>
                      <a:r>
                        <a:t>1.7</a:t>
                      </a:r>
                    </a:p>
                  </a:txBody>
                  <a:tcPr marL="73152" marR="54864" marT="45720" marB="36576" anchor="ctr">
                    <a:solidFill>
                      <a:srgbClr val="FFFFFF"/>
                    </a:solidFill>
                  </a:tcPr>
                </a:tc>
              </a:tr>
              <a:tr h="438912">
                <a:tc vMerge="1">
                  <a:txBody>
                    <a:bodyPr/>
                    <a:lstStyle/>
                    <a:p>
                      <a:pPr algn="l">
                        <a:defRPr sz="1400" b="0">
                          <a:solidFill>
                            <a:srgbClr val="193354"/>
                          </a:solidFill>
                          <a:latin typeface="Arial"/>
                        </a:defRPr>
                      </a:pPr>
                    </a:p>
                  </a:txBody>
                  <a:tcPr marL="73152" marR="54864" marT="45720" marB="36576" anchor="ctr">
                    <a:solidFill>
                      <a:srgbClr val="EFF5FB"/>
                    </a:solidFill>
                  </a:tcPr>
                </a:tc>
                <a:tc>
                  <a:txBody>
                    <a:bodyPr/>
                    <a:lstStyle/>
                    <a:p>
                      <a:pPr algn="ctr">
                        <a:defRPr sz="1400" b="0">
                          <a:solidFill>
                            <a:srgbClr val="193354"/>
                          </a:solidFill>
                          <a:latin typeface="Arial"/>
                        </a:defRPr>
                      </a:pPr>
                      <a:r>
                        <a:t>Process Reward Modeling</a:t>
                      </a:r>
                    </a:p>
                  </a:txBody>
                  <a:tcPr marL="73152" marR="54864" marT="45720" marB="36576" anchor="ctr">
                    <a:solidFill>
                      <a:srgbClr val="EFF5FB"/>
                    </a:solidFill>
                  </a:tcPr>
                </a:tc>
                <a:tc>
                  <a:txBody>
                    <a:bodyPr/>
                    <a:lstStyle/>
                    <a:p>
                      <a:pPr algn="ctr">
                        <a:defRPr sz="1400" b="0">
                          <a:solidFill>
                            <a:srgbClr val="193354"/>
                          </a:solidFill>
                          <a:latin typeface="Arial"/>
                        </a:defRPr>
                      </a:pPr>
                      <a:r>
                        <a:t>48.3</a:t>
                      </a:r>
                    </a:p>
                  </a:txBody>
                  <a:tcPr marL="73152" marR="54864" marT="45720" marB="36576" anchor="ctr">
                    <a:solidFill>
                      <a:srgbClr val="EFF5FB"/>
                    </a:solidFill>
                  </a:tcPr>
                </a:tc>
                <a:tc>
                  <a:txBody>
                    <a:bodyPr/>
                    <a:lstStyle/>
                    <a:p>
                      <a:pPr algn="ctr">
                        <a:defRPr sz="1400" b="0">
                          <a:solidFill>
                            <a:srgbClr val="193354"/>
                          </a:solidFill>
                          <a:latin typeface="Arial"/>
                        </a:defRPr>
                      </a:pPr>
                      <a:r>
                        <a:t>6.7</a:t>
                      </a:r>
                    </a:p>
                  </a:txBody>
                  <a:tcPr marL="73152" marR="54864" marT="45720" marB="36576" anchor="ctr">
                    <a:solidFill>
                      <a:srgbClr val="EFF5FB"/>
                    </a:solidFill>
                  </a:tcPr>
                </a:tc>
              </a:tr>
              <a:tr h="438912">
                <a:tc vMerge="1">
                  <a:txBody>
                    <a:bodyPr/>
                    <a:lstStyle/>
                    <a:p>
                      <a:pPr algn="l">
                        <a:defRPr sz="1400" b="1">
                          <a:solidFill>
                            <a:srgbClr val="193354"/>
                          </a:solidFill>
                          <a:latin typeface="Arial"/>
                        </a:defRPr>
                      </a:pPr>
                    </a:p>
                  </a:txBody>
                  <a:tcPr marL="73152" marR="54864" marT="45720" marB="36576" anchor="ctr">
                    <a:solidFill>
                      <a:srgbClr val="E6F4EF"/>
                    </a:solidFill>
                  </a:tcPr>
                </a:tc>
                <a:tc>
                  <a:txBody>
                    <a:bodyPr/>
                    <a:lstStyle/>
                    <a:p>
                      <a:pPr algn="ctr">
                        <a:defRPr sz="1400" b="1">
                          <a:solidFill>
                            <a:srgbClr val="193354"/>
                          </a:solidFill>
                          <a:latin typeface="Arial"/>
                        </a:defRPr>
                      </a:pPr>
                      <a:r>
                        <a:t>SCRIBE (Ours)</a:t>
                      </a:r>
                    </a:p>
                  </a:txBody>
                  <a:tcPr marL="73152" marR="54864" marT="45720" marB="36576" anchor="ctr">
                    <a:solidFill>
                      <a:srgbClr val="E6F4EF"/>
                    </a:solidFill>
                  </a:tcPr>
                </a:tc>
                <a:tc>
                  <a:txBody>
                    <a:bodyPr/>
                    <a:lstStyle/>
                    <a:p>
                      <a:pPr algn="ctr">
                        <a:defRPr sz="1400" b="1">
                          <a:solidFill>
                            <a:srgbClr val="193354"/>
                          </a:solidFill>
                          <a:latin typeface="Arial"/>
                        </a:defRPr>
                      </a:pPr>
                      <a:r>
                        <a:t>63.4</a:t>
                      </a:r>
                    </a:p>
                  </a:txBody>
                  <a:tcPr marL="73152" marR="54864" marT="45720" marB="36576" anchor="ctr">
                    <a:solidFill>
                      <a:srgbClr val="E6F4EF"/>
                    </a:solidFill>
                  </a:tcPr>
                </a:tc>
                <a:tc>
                  <a:txBody>
                    <a:bodyPr/>
                    <a:lstStyle/>
                    <a:p>
                      <a:pPr algn="ctr">
                        <a:defRPr sz="1400" b="1">
                          <a:solidFill>
                            <a:srgbClr val="193354"/>
                          </a:solidFill>
                          <a:latin typeface="Arial"/>
                        </a:defRPr>
                      </a:pPr>
                      <a:r>
                        <a:t>15.8</a:t>
                      </a:r>
                    </a:p>
                  </a:txBody>
                  <a:tcPr marL="73152" marR="54864" marT="45720" marB="36576" anchor="ctr">
                    <a:solidFill>
                      <a:srgbClr val="E6F4E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44"/>
          <p:cNvSpPr txBox="1"/>
          <p:nvPr/>
        </p:nvSpPr>
        <p:spPr>
          <a:xfrm>
            <a:off x="438912" y="292608"/>
            <a:ext cx="7818000" cy="421800"/>
          </a:xfrm>
          <a:prstGeom prst="rect">
            <a:avLst/>
          </a:prstGeom>
          <a:noFill/>
          <a:ln>
            <a:noFill/>
          </a:ln>
        </p:spPr>
        <p:txBody>
          <a:bodyPr anchorCtr="0" anchor="ctr" bIns="18275" lIns="54850" spcFirstLastPara="1" rIns="54850" wrap="square" tIns="18275">
            <a:sp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162849"/>
                </a:solidFill>
                <a:latin typeface="Arial"/>
                <a:ea typeface="Arial"/>
                <a:cs typeface="Arial"/>
                <a:sym typeface="Arial"/>
              </a:rPr>
              <a:t>BFCL V4: Evaluating Tool-Calling Behavior</a:t>
            </a:r>
            <a:endParaRPr b="0" i="0" sz="1400" u="none" cap="none" strike="noStrike">
              <a:solidFill>
                <a:srgbClr val="000000"/>
              </a:solidFill>
              <a:latin typeface="Arial"/>
              <a:ea typeface="Arial"/>
              <a:cs typeface="Arial"/>
              <a:sym typeface="Arial"/>
            </a:endParaRPr>
          </a:p>
        </p:txBody>
      </p:sp>
      <p:sp>
        <p:nvSpPr>
          <p:cNvPr id="272" name="Google Shape;272;p44"/>
          <p:cNvSpPr/>
          <p:nvPr/>
        </p:nvSpPr>
        <p:spPr>
          <a:xfrm>
            <a:off x="566928" y="1024128"/>
            <a:ext cx="2788800" cy="3383400"/>
          </a:xfrm>
          <a:prstGeom prst="roundRect">
            <a:avLst>
              <a:gd fmla="val 16667" name="adj"/>
            </a:avLst>
          </a:prstGeom>
          <a:solidFill>
            <a:srgbClr val="F7F9FD"/>
          </a:solidFill>
          <a:ln>
            <a:noFill/>
          </a:ln>
          <a:effectLst>
            <a:outerShdw blurRad="40000" rotWithShape="0" dir="5400000" dist="23000">
              <a:srgbClr val="000000">
                <a:alpha val="34902"/>
              </a:srgbClr>
            </a:outerShdw>
          </a:effectLst>
        </p:spPr>
        <p:txBody>
          <a:bodyPr anchorCtr="0" anchor="ctr" bIns="18275" lIns="54850" spcFirstLastPara="1" rIns="54850" wrap="square" tIns="18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3" name="Google Shape;273;p44"/>
          <p:cNvSpPr txBox="1"/>
          <p:nvPr/>
        </p:nvSpPr>
        <p:spPr>
          <a:xfrm>
            <a:off x="786384" y="1261872"/>
            <a:ext cx="2359200" cy="175500"/>
          </a:xfrm>
          <a:prstGeom prst="rect">
            <a:avLst/>
          </a:prstGeom>
          <a:noFill/>
          <a:ln>
            <a:noFill/>
          </a:ln>
        </p:spPr>
        <p:txBody>
          <a:bodyPr anchorCtr="0" anchor="ctr" bIns="18275" lIns="54850" spcFirstLastPara="1" rIns="54850" wrap="square" tIns="1827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2870E6"/>
                </a:solidFill>
                <a:latin typeface="Arial"/>
                <a:ea typeface="Arial"/>
                <a:cs typeface="Arial"/>
                <a:sym typeface="Arial"/>
              </a:rPr>
              <a:t>WHAT IT TESTS</a:t>
            </a:r>
            <a:endParaRPr b="0" i="0" sz="1400" u="none" cap="none" strike="noStrike">
              <a:solidFill>
                <a:srgbClr val="000000"/>
              </a:solidFill>
              <a:latin typeface="Arial"/>
              <a:ea typeface="Arial"/>
              <a:cs typeface="Arial"/>
              <a:sym typeface="Arial"/>
            </a:endParaRPr>
          </a:p>
        </p:txBody>
      </p:sp>
      <p:sp>
        <p:nvSpPr>
          <p:cNvPr id="274" name="Google Shape;274;p44"/>
          <p:cNvSpPr txBox="1"/>
          <p:nvPr/>
        </p:nvSpPr>
        <p:spPr>
          <a:xfrm>
            <a:off x="786384" y="1609344"/>
            <a:ext cx="2359200" cy="1114500"/>
          </a:xfrm>
          <a:prstGeom prst="rect">
            <a:avLst/>
          </a:prstGeom>
          <a:noFill/>
          <a:ln>
            <a:noFill/>
          </a:ln>
        </p:spPr>
        <p:txBody>
          <a:bodyPr anchorCtr="0" anchor="ctr" bIns="18275" lIns="54850" spcFirstLastPara="1" rIns="54850" wrap="square" tIns="18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162849"/>
                </a:solidFill>
                <a:latin typeface="Arial"/>
                <a:ea typeface="Arial"/>
                <a:cs typeface="Arial"/>
                <a:sym typeface="Arial"/>
              </a:rPr>
              <a:t>Can a model select the correct function, construct valid arguments, and coordinate multiple calls?</a:t>
            </a:r>
            <a:endParaRPr b="0" i="0" sz="1400" u="none" cap="none" strike="noStrike">
              <a:solidFill>
                <a:srgbClr val="000000"/>
              </a:solidFill>
              <a:latin typeface="Arial"/>
              <a:ea typeface="Arial"/>
              <a:cs typeface="Arial"/>
              <a:sym typeface="Arial"/>
            </a:endParaRPr>
          </a:p>
        </p:txBody>
      </p:sp>
      <p:sp>
        <p:nvSpPr>
          <p:cNvPr id="275" name="Google Shape;275;p44"/>
          <p:cNvSpPr txBox="1"/>
          <p:nvPr/>
        </p:nvSpPr>
        <p:spPr>
          <a:xfrm>
            <a:off x="786384" y="2679192"/>
            <a:ext cx="2359200" cy="175500"/>
          </a:xfrm>
          <a:prstGeom prst="rect">
            <a:avLst/>
          </a:prstGeom>
          <a:noFill/>
          <a:ln>
            <a:noFill/>
          </a:ln>
        </p:spPr>
        <p:txBody>
          <a:bodyPr anchorCtr="0" anchor="ctr" bIns="18275" lIns="54850" spcFirstLastPara="1" rIns="54850" wrap="square" tIns="1827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2870E6"/>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276" name="Google Shape;276;p44"/>
          <p:cNvSpPr txBox="1"/>
          <p:nvPr/>
        </p:nvSpPr>
        <p:spPr>
          <a:xfrm>
            <a:off x="786384" y="2999232"/>
            <a:ext cx="2359200" cy="614100"/>
          </a:xfrm>
          <a:prstGeom prst="rect">
            <a:avLst/>
          </a:prstGeom>
          <a:noFill/>
          <a:ln>
            <a:noFill/>
          </a:ln>
        </p:spPr>
        <p:txBody>
          <a:bodyPr anchorCtr="0" anchor="ctr" bIns="18275" lIns="54850" spcFirstLastPara="1" rIns="54850" wrap="square" tIns="18275">
            <a:spAutoFit/>
          </a:bodyPr>
          <a:lstStyle/>
          <a:p>
            <a:pPr indent="0" lvl="0" marL="0" marR="0" rtl="0" algn="l">
              <a:lnSpc>
                <a:spcPct val="100000"/>
              </a:lnSpc>
              <a:spcBef>
                <a:spcPts val="0"/>
              </a:spcBef>
              <a:spcAft>
                <a:spcPts val="0"/>
              </a:spcAft>
              <a:buClr>
                <a:srgbClr val="000000"/>
              </a:buClr>
              <a:buSzPts val="1250"/>
              <a:buFont typeface="Arial"/>
              <a:buNone/>
            </a:pPr>
            <a:r>
              <a:rPr b="0" i="0" lang="en" sz="1250" u="none" cap="none" strike="noStrike">
                <a:solidFill>
                  <a:srgbClr val="596881"/>
                </a:solidFill>
                <a:latin typeface="Arial"/>
                <a:ea typeface="Arial"/>
                <a:cs typeface="Arial"/>
                <a:sym typeface="Arial"/>
              </a:rPr>
              <a:t>One or more executable function calls—not a free-form final answer.</a:t>
            </a:r>
            <a:endParaRPr b="0" i="0" sz="1400" u="none" cap="none" strike="noStrike">
              <a:solidFill>
                <a:srgbClr val="000000"/>
              </a:solidFill>
              <a:latin typeface="Arial"/>
              <a:ea typeface="Arial"/>
              <a:cs typeface="Arial"/>
              <a:sym typeface="Arial"/>
            </a:endParaRPr>
          </a:p>
        </p:txBody>
      </p:sp>
      <p:sp>
        <p:nvSpPr>
          <p:cNvPr id="277" name="Google Shape;277;p44"/>
          <p:cNvSpPr txBox="1"/>
          <p:nvPr/>
        </p:nvSpPr>
        <p:spPr>
          <a:xfrm>
            <a:off x="786384" y="3840480"/>
            <a:ext cx="2359200" cy="167700"/>
          </a:xfrm>
          <a:prstGeom prst="rect">
            <a:avLst/>
          </a:prstGeom>
          <a:noFill/>
          <a:ln>
            <a:noFill/>
          </a:ln>
        </p:spPr>
        <p:txBody>
          <a:bodyPr anchorCtr="0" anchor="ctr" bIns="18275" lIns="54850" spcFirstLastPara="1" rIns="54850" wrap="square" tIns="18275">
            <a:spAutoFit/>
          </a:bodyPr>
          <a:lstStyle/>
          <a:p>
            <a:pPr indent="0" lvl="0" marL="0" marR="0" rtl="0" algn="l">
              <a:lnSpc>
                <a:spcPct val="100000"/>
              </a:lnSpc>
              <a:spcBef>
                <a:spcPts val="0"/>
              </a:spcBef>
              <a:spcAft>
                <a:spcPts val="0"/>
              </a:spcAft>
              <a:buClr>
                <a:srgbClr val="000000"/>
              </a:buClr>
              <a:buSzPts val="850"/>
              <a:buFont typeface="Arial"/>
              <a:buNone/>
            </a:pPr>
            <a:r>
              <a:rPr b="1" i="0" lang="en" sz="850" u="none" cap="none" strike="noStrike">
                <a:solidFill>
                  <a:srgbClr val="596881"/>
                </a:solidFill>
                <a:latin typeface="Arial"/>
                <a:ea typeface="Arial"/>
                <a:cs typeface="Arial"/>
                <a:sym typeface="Arial"/>
              </a:rPr>
              <a:t>Berkeley Function Calling Leaderboard · V4</a:t>
            </a:r>
            <a:endParaRPr b="0" i="0" sz="1400" u="none" cap="none" strike="noStrike">
              <a:solidFill>
                <a:srgbClr val="000000"/>
              </a:solidFill>
              <a:latin typeface="Arial"/>
              <a:ea typeface="Arial"/>
              <a:cs typeface="Arial"/>
              <a:sym typeface="Arial"/>
            </a:endParaRPr>
          </a:p>
        </p:txBody>
      </p:sp>
      <p:sp>
        <p:nvSpPr>
          <p:cNvPr id="278" name="Google Shape;278;p44"/>
          <p:cNvSpPr/>
          <p:nvPr/>
        </p:nvSpPr>
        <p:spPr>
          <a:xfrm>
            <a:off x="3639312" y="1024128"/>
            <a:ext cx="4937700" cy="1417200"/>
          </a:xfrm>
          <a:prstGeom prst="roundRect">
            <a:avLst>
              <a:gd fmla="val 16667" name="adj"/>
            </a:avLst>
          </a:prstGeom>
          <a:solidFill>
            <a:srgbClr val="E8F0FE"/>
          </a:solidFill>
          <a:ln>
            <a:noFill/>
          </a:ln>
          <a:effectLst>
            <a:outerShdw blurRad="40000" rotWithShape="0" dir="5400000" dist="23000">
              <a:srgbClr val="000000">
                <a:alpha val="34902"/>
              </a:srgbClr>
            </a:outerShdw>
          </a:effectLst>
        </p:spPr>
        <p:txBody>
          <a:bodyPr anchorCtr="0" anchor="ctr" bIns="18275" lIns="54850" spcFirstLastPara="1" rIns="54850" wrap="square" tIns="18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9" name="Google Shape;279;p44"/>
          <p:cNvSpPr txBox="1"/>
          <p:nvPr/>
        </p:nvSpPr>
        <p:spPr>
          <a:xfrm>
            <a:off x="3858768" y="1225296"/>
            <a:ext cx="4498800" cy="175500"/>
          </a:xfrm>
          <a:prstGeom prst="rect">
            <a:avLst/>
          </a:prstGeom>
          <a:noFill/>
          <a:ln>
            <a:noFill/>
          </a:ln>
        </p:spPr>
        <p:txBody>
          <a:bodyPr anchorCtr="0" anchor="ctr" bIns="18275" lIns="54850" spcFirstLastPara="1" rIns="54850" wrap="square" tIns="1827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2870E6"/>
                </a:solidFill>
                <a:latin typeface="Arial"/>
                <a:ea typeface="Arial"/>
                <a:cs typeface="Arial"/>
                <a:sym typeface="Arial"/>
              </a:rPr>
              <a:t>ILLUSTRATIVE TASK FORMAT</a:t>
            </a:r>
            <a:endParaRPr b="0" i="0" sz="1400" u="none" cap="none" strike="noStrike">
              <a:solidFill>
                <a:srgbClr val="000000"/>
              </a:solidFill>
              <a:latin typeface="Arial"/>
              <a:ea typeface="Arial"/>
              <a:cs typeface="Arial"/>
              <a:sym typeface="Arial"/>
            </a:endParaRPr>
          </a:p>
        </p:txBody>
      </p:sp>
      <p:sp>
        <p:nvSpPr>
          <p:cNvPr id="280" name="Google Shape;280;p44"/>
          <p:cNvSpPr txBox="1"/>
          <p:nvPr/>
        </p:nvSpPr>
        <p:spPr>
          <a:xfrm>
            <a:off x="3858768" y="1536192"/>
            <a:ext cx="4498800" cy="498600"/>
          </a:xfrm>
          <a:prstGeom prst="rect">
            <a:avLst/>
          </a:prstGeom>
          <a:noFill/>
          <a:ln>
            <a:noFill/>
          </a:ln>
        </p:spPr>
        <p:txBody>
          <a:bodyPr anchorCtr="0" anchor="ctr" bIns="18275" lIns="54850" spcFirstLastPara="1" rIns="54850" wrap="square" tIns="18275">
            <a:sp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162849"/>
                </a:solidFill>
                <a:latin typeface="Arial"/>
                <a:ea typeface="Arial"/>
                <a:cs typeface="Arial"/>
                <a:sym typeface="Arial"/>
              </a:rPr>
              <a:t>User request + available function schemas</a:t>
            </a:r>
            <a:br>
              <a:rPr b="1" i="0" lang="en" sz="1500" u="none" cap="none" strike="noStrike">
                <a:solidFill>
                  <a:srgbClr val="162849"/>
                </a:solidFill>
                <a:latin typeface="Arial"/>
                <a:ea typeface="Arial"/>
                <a:cs typeface="Arial"/>
                <a:sym typeface="Arial"/>
              </a:rPr>
            </a:br>
            <a:r>
              <a:rPr b="1" i="0" lang="en" sz="1500" u="none" cap="none" strike="noStrike">
                <a:solidFill>
                  <a:srgbClr val="162849"/>
                </a:solidFill>
                <a:latin typeface="Arial"/>
                <a:ea typeface="Arial"/>
                <a:cs typeface="Arial"/>
                <a:sym typeface="Arial"/>
              </a:rPr>
              <a:t>→ choose tool(s) → fill arguments → order calls</a:t>
            </a:r>
            <a:endParaRPr b="0" i="0" sz="1400" u="none" cap="none" strike="noStrike">
              <a:solidFill>
                <a:srgbClr val="000000"/>
              </a:solidFill>
              <a:latin typeface="Arial"/>
              <a:ea typeface="Arial"/>
              <a:cs typeface="Arial"/>
              <a:sym typeface="Arial"/>
            </a:endParaRPr>
          </a:p>
        </p:txBody>
      </p:sp>
      <p:sp>
        <p:nvSpPr>
          <p:cNvPr id="281" name="Google Shape;281;p44"/>
          <p:cNvSpPr/>
          <p:nvPr/>
        </p:nvSpPr>
        <p:spPr>
          <a:xfrm>
            <a:off x="3639312" y="2670048"/>
            <a:ext cx="2377500" cy="65850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18275" lIns="128000" spcFirstLastPara="1" rIns="128000" wrap="square" tIns="18275">
            <a:noAutofit/>
          </a:bodyPr>
          <a:lstStyle/>
          <a:p>
            <a:pPr indent="0" lvl="0" marL="0" marR="0" rtl="0" algn="l">
              <a:lnSpc>
                <a:spcPct val="100000"/>
              </a:lnSpc>
              <a:spcBef>
                <a:spcPts val="0"/>
              </a:spcBef>
              <a:spcAft>
                <a:spcPts val="0"/>
              </a:spcAft>
              <a:buClr>
                <a:srgbClr val="000000"/>
              </a:buClr>
              <a:buSzPts val="1018"/>
              <a:buFont typeface="Arial"/>
              <a:buNone/>
            </a:pPr>
            <a:r>
              <a:rPr b="1" i="0" lang="en" sz="1019" u="none" cap="none" strike="noStrike">
                <a:solidFill>
                  <a:srgbClr val="162849"/>
                </a:solidFill>
                <a:latin typeface="Arial"/>
                <a:ea typeface="Arial"/>
                <a:cs typeface="Arial"/>
                <a:sym typeface="Arial"/>
              </a:rPr>
              <a:t>Web Search</a:t>
            </a:r>
            <a:br>
              <a:rPr b="1" i="0" lang="en" sz="1019" u="none" cap="none" strike="noStrike">
                <a:solidFill>
                  <a:srgbClr val="162849"/>
                </a:solidFill>
                <a:latin typeface="Arial"/>
                <a:ea typeface="Arial"/>
                <a:cs typeface="Arial"/>
                <a:sym typeface="Arial"/>
              </a:rPr>
            </a:br>
            <a:r>
              <a:rPr b="1" i="0" lang="en" sz="1019" u="none" cap="none" strike="noStrike">
                <a:solidFill>
                  <a:srgbClr val="162849"/>
                </a:solidFill>
                <a:latin typeface="Arial"/>
                <a:ea typeface="Arial"/>
                <a:cs typeface="Arial"/>
                <a:sym typeface="Arial"/>
              </a:rPr>
              <a:t>Retrieve information through search tools</a:t>
            </a:r>
            <a:endParaRPr b="0" i="0" sz="1400" u="none" cap="none" strike="noStrike">
              <a:solidFill>
                <a:srgbClr val="000000"/>
              </a:solidFill>
              <a:latin typeface="Arial"/>
              <a:ea typeface="Arial"/>
              <a:cs typeface="Arial"/>
              <a:sym typeface="Arial"/>
            </a:endParaRPr>
          </a:p>
        </p:txBody>
      </p:sp>
      <p:sp>
        <p:nvSpPr>
          <p:cNvPr id="282" name="Google Shape;282;p44"/>
          <p:cNvSpPr/>
          <p:nvPr/>
        </p:nvSpPr>
        <p:spPr>
          <a:xfrm>
            <a:off x="6181344" y="2670048"/>
            <a:ext cx="2377500" cy="65850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18275" lIns="128000" spcFirstLastPara="1" rIns="128000" wrap="square" tIns="18275">
            <a:noAutofit/>
          </a:bodyPr>
          <a:lstStyle/>
          <a:p>
            <a:pPr indent="0" lvl="0" marL="0" marR="0" rtl="0" algn="l">
              <a:lnSpc>
                <a:spcPct val="100000"/>
              </a:lnSpc>
              <a:spcBef>
                <a:spcPts val="0"/>
              </a:spcBef>
              <a:spcAft>
                <a:spcPts val="0"/>
              </a:spcAft>
              <a:buClr>
                <a:srgbClr val="000000"/>
              </a:buClr>
              <a:buSzPts val="1018"/>
              <a:buFont typeface="Arial"/>
              <a:buNone/>
            </a:pPr>
            <a:r>
              <a:rPr b="1" i="0" lang="en" sz="1019" u="none" cap="none" strike="noStrike">
                <a:solidFill>
                  <a:srgbClr val="162849"/>
                </a:solidFill>
                <a:latin typeface="Arial"/>
                <a:ea typeface="Arial"/>
                <a:cs typeface="Arial"/>
                <a:sym typeface="Arial"/>
              </a:rPr>
              <a:t>Memory</a:t>
            </a:r>
            <a:br>
              <a:rPr b="1" i="0" lang="en" sz="1019" u="none" cap="none" strike="noStrike">
                <a:solidFill>
                  <a:srgbClr val="162849"/>
                </a:solidFill>
                <a:latin typeface="Arial"/>
                <a:ea typeface="Arial"/>
                <a:cs typeface="Arial"/>
                <a:sym typeface="Arial"/>
              </a:rPr>
            </a:br>
            <a:r>
              <a:rPr b="1" i="0" lang="en" sz="1019" u="none" cap="none" strike="noStrike">
                <a:solidFill>
                  <a:srgbClr val="162849"/>
                </a:solidFill>
                <a:latin typeface="Arial"/>
                <a:ea typeface="Arial"/>
                <a:cs typeface="Arial"/>
                <a:sym typeface="Arial"/>
              </a:rPr>
              <a:t>Store and retrieve user-specific information</a:t>
            </a:r>
            <a:endParaRPr b="0" i="0" sz="1400" u="none" cap="none" strike="noStrike">
              <a:solidFill>
                <a:srgbClr val="000000"/>
              </a:solidFill>
              <a:latin typeface="Arial"/>
              <a:ea typeface="Arial"/>
              <a:cs typeface="Arial"/>
              <a:sym typeface="Arial"/>
            </a:endParaRPr>
          </a:p>
        </p:txBody>
      </p:sp>
      <p:sp>
        <p:nvSpPr>
          <p:cNvPr id="283" name="Google Shape;283;p44"/>
          <p:cNvSpPr/>
          <p:nvPr/>
        </p:nvSpPr>
        <p:spPr>
          <a:xfrm>
            <a:off x="3639312" y="3493008"/>
            <a:ext cx="2377500" cy="65850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18275" lIns="128000" spcFirstLastPara="1" rIns="128000" wrap="square" tIns="18275">
            <a:noAutofit/>
          </a:bodyPr>
          <a:lstStyle/>
          <a:p>
            <a:pPr indent="0" lvl="0" marL="0" marR="0" rtl="0" algn="l">
              <a:lnSpc>
                <a:spcPct val="100000"/>
              </a:lnSpc>
              <a:spcBef>
                <a:spcPts val="0"/>
              </a:spcBef>
              <a:spcAft>
                <a:spcPts val="0"/>
              </a:spcAft>
              <a:buClr>
                <a:srgbClr val="000000"/>
              </a:buClr>
              <a:buSzPts val="1018"/>
              <a:buFont typeface="Arial"/>
              <a:buNone/>
            </a:pPr>
            <a:r>
              <a:rPr b="1" i="0" lang="en" sz="1019" u="none" cap="none" strike="noStrike">
                <a:solidFill>
                  <a:srgbClr val="162849"/>
                </a:solidFill>
                <a:latin typeface="Arial"/>
                <a:ea typeface="Arial"/>
                <a:cs typeface="Arial"/>
                <a:sym typeface="Arial"/>
              </a:rPr>
              <a:t>Single</a:t>
            </a:r>
            <a:br>
              <a:rPr b="1" i="0" lang="en" sz="1019" u="none" cap="none" strike="noStrike">
                <a:solidFill>
                  <a:srgbClr val="162849"/>
                </a:solidFill>
                <a:latin typeface="Arial"/>
                <a:ea typeface="Arial"/>
                <a:cs typeface="Arial"/>
                <a:sym typeface="Arial"/>
              </a:rPr>
            </a:br>
            <a:r>
              <a:rPr b="1" i="0" lang="en" sz="1019" u="none" cap="none" strike="noStrike">
                <a:solidFill>
                  <a:srgbClr val="162849"/>
                </a:solidFill>
                <a:latin typeface="Arial"/>
                <a:ea typeface="Arial"/>
                <a:cs typeface="Arial"/>
                <a:sym typeface="Arial"/>
              </a:rPr>
              <a:t>Execute one live or non-live function call</a:t>
            </a:r>
            <a:endParaRPr b="0" i="0" sz="1400" u="none" cap="none" strike="noStrike">
              <a:solidFill>
                <a:srgbClr val="000000"/>
              </a:solidFill>
              <a:latin typeface="Arial"/>
              <a:ea typeface="Arial"/>
              <a:cs typeface="Arial"/>
              <a:sym typeface="Arial"/>
            </a:endParaRPr>
          </a:p>
        </p:txBody>
      </p:sp>
      <p:sp>
        <p:nvSpPr>
          <p:cNvPr id="284" name="Google Shape;284;p44"/>
          <p:cNvSpPr/>
          <p:nvPr/>
        </p:nvSpPr>
        <p:spPr>
          <a:xfrm>
            <a:off x="6181344" y="3493008"/>
            <a:ext cx="2377500" cy="65850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18275" lIns="128000" spcFirstLastPara="1" rIns="128000" wrap="square" tIns="18275">
            <a:noAutofit/>
          </a:bodyPr>
          <a:lstStyle/>
          <a:p>
            <a:pPr indent="0" lvl="0" marL="0" marR="0" rtl="0" algn="l">
              <a:lnSpc>
                <a:spcPct val="100000"/>
              </a:lnSpc>
              <a:spcBef>
                <a:spcPts val="0"/>
              </a:spcBef>
              <a:spcAft>
                <a:spcPts val="0"/>
              </a:spcAft>
              <a:buClr>
                <a:srgbClr val="000000"/>
              </a:buClr>
              <a:buSzPts val="1018"/>
              <a:buFont typeface="Arial"/>
              <a:buNone/>
            </a:pPr>
            <a:r>
              <a:rPr b="1" i="0" lang="en" sz="1019" u="none" cap="none" strike="noStrike">
                <a:solidFill>
                  <a:srgbClr val="162849"/>
                </a:solidFill>
                <a:latin typeface="Arial"/>
                <a:ea typeface="Arial"/>
                <a:cs typeface="Arial"/>
                <a:sym typeface="Arial"/>
              </a:rPr>
              <a:t>Multi</a:t>
            </a:r>
            <a:br>
              <a:rPr b="1" i="0" lang="en" sz="1019" u="none" cap="none" strike="noStrike">
                <a:solidFill>
                  <a:srgbClr val="162849"/>
                </a:solidFill>
                <a:latin typeface="Arial"/>
                <a:ea typeface="Arial"/>
                <a:cs typeface="Arial"/>
                <a:sym typeface="Arial"/>
              </a:rPr>
            </a:br>
            <a:r>
              <a:rPr b="1" i="0" lang="en" sz="1019" u="none" cap="none" strike="noStrike">
                <a:solidFill>
                  <a:srgbClr val="162849"/>
                </a:solidFill>
                <a:latin typeface="Arial"/>
                <a:ea typeface="Arial"/>
                <a:cs typeface="Arial"/>
                <a:sym typeface="Arial"/>
              </a:rPr>
              <a:t>Coordinate multiple calls for one request</a:t>
            </a:r>
            <a:endParaRPr b="0" i="0" sz="1400" u="none" cap="none" strike="noStrike">
              <a:solidFill>
                <a:srgbClr val="000000"/>
              </a:solidFill>
              <a:latin typeface="Arial"/>
              <a:ea typeface="Arial"/>
              <a:cs typeface="Arial"/>
              <a:sym typeface="Arial"/>
            </a:endParaRPr>
          </a:p>
        </p:txBody>
      </p:sp>
      <p:sp>
        <p:nvSpPr>
          <p:cNvPr id="285" name="Google Shape;285;p44"/>
          <p:cNvSpPr txBox="1"/>
          <p:nvPr/>
        </p:nvSpPr>
        <p:spPr>
          <a:xfrm>
            <a:off x="3639312" y="4370832"/>
            <a:ext cx="4937700" cy="375600"/>
          </a:xfrm>
          <a:prstGeom prst="rect">
            <a:avLst/>
          </a:prstGeom>
          <a:noFill/>
          <a:ln>
            <a:noFill/>
          </a:ln>
        </p:spPr>
        <p:txBody>
          <a:bodyPr anchorCtr="0" anchor="ctr" bIns="18275" lIns="54850" spcFirstLastPara="1" rIns="54850" wrap="square" tIns="1827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2870E6"/>
                </a:solidFill>
                <a:latin typeface="Arial"/>
                <a:ea typeface="Arial"/>
                <a:cs typeface="Arial"/>
                <a:sym typeface="Arial"/>
              </a:rPr>
              <a:t>Why SCRIBE: reliable process rewards must recognize complete intermediate tool-use behavior.</a:t>
            </a:r>
            <a:endParaRPr b="0" i="0" sz="1400" u="none" cap="none" strike="noStrike">
              <a:solidFill>
                <a:srgbClr val="000000"/>
              </a:solidFill>
              <a:latin typeface="Arial"/>
              <a:ea typeface="Arial"/>
              <a:cs typeface="Arial"/>
              <a:sym typeface="Arial"/>
            </a:endParaRPr>
          </a:p>
        </p:txBody>
      </p:sp>
      <p:sp>
        <p:nvSpPr>
          <p:cNvPr id="286" name="Google Shape;286;p44"/>
          <p:cNvSpPr txBox="1"/>
          <p:nvPr/>
        </p:nvSpPr>
        <p:spPr>
          <a:xfrm>
            <a:off x="566928" y="4882896"/>
            <a:ext cx="8010000" cy="137100"/>
          </a:xfrm>
          <a:prstGeom prst="rect">
            <a:avLst/>
          </a:prstGeom>
          <a:noFill/>
          <a:ln>
            <a:noFill/>
          </a:ln>
        </p:spPr>
        <p:txBody>
          <a:bodyPr anchorCtr="0" anchor="ctr" bIns="18275" lIns="54850" spcFirstLastPara="1" rIns="54850" wrap="square" tIns="18275">
            <a:spAutoFit/>
          </a:bodyPr>
          <a:lstStyle/>
          <a:p>
            <a:pPr indent="0" lvl="0" marL="0" marR="0" rtl="0" algn="ctr">
              <a:lnSpc>
                <a:spcPct val="100000"/>
              </a:lnSpc>
              <a:spcBef>
                <a:spcPts val="0"/>
              </a:spcBef>
              <a:spcAft>
                <a:spcPts val="0"/>
              </a:spcAft>
              <a:buClr>
                <a:srgbClr val="000000"/>
              </a:buClr>
              <a:buSzPts val="650"/>
              <a:buFont typeface="Arial"/>
              <a:buNone/>
            </a:pPr>
            <a:r>
              <a:rPr b="0" i="0" lang="en" sz="650" u="none" cap="none" strike="noStrike">
                <a:solidFill>
                  <a:srgbClr val="596881"/>
                </a:solidFill>
                <a:latin typeface="Arial"/>
                <a:ea typeface="Arial"/>
                <a:cs typeface="Arial"/>
                <a:sym typeface="Arial"/>
              </a:rPr>
              <a:t>Patil et al. Berkeley Function Calling Leaderboard (BFCL V4).</a:t>
            </a:r>
            <a:endParaRPr b="0" i="0" sz="1400" u="none" cap="none" strike="noStrike">
              <a:solidFill>
                <a:srgbClr val="000000"/>
              </a:solidFill>
              <a:latin typeface="Arial"/>
              <a:ea typeface="Arial"/>
              <a:cs typeface="Arial"/>
              <a:sym typeface="Arial"/>
            </a:endParaRPr>
          </a:p>
        </p:txBody>
      </p:sp>
      <p:sp>
        <p:nvSpPr>
          <p:cNvPr id="287" name="Google Shape;287;p44"/>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ctrTitle"/>
          </p:nvPr>
        </p:nvSpPr>
        <p:spPr>
          <a:xfrm>
            <a:off x="438912" y="164592"/>
            <a:ext cx="7498200" cy="475500"/>
          </a:xfrm>
          <a:prstGeom prst="rect">
            <a:avLst/>
          </a:prstGeom>
          <a:noFill/>
          <a:ln>
            <a:noFill/>
          </a:ln>
        </p:spPr>
        <p:txBody>
          <a:bodyPr anchorCtr="0" anchor="ctr" bIns="34275" lIns="0" spcFirstLastPara="1" rIns="0" wrap="square" tIns="34275">
            <a:normAutofit/>
          </a:bodyPr>
          <a:lstStyle/>
          <a:p>
            <a:pPr indent="0" lvl="0" marL="0" rtl="0" algn="l">
              <a:lnSpc>
                <a:spcPct val="100000"/>
              </a:lnSpc>
              <a:spcBef>
                <a:spcPts val="0"/>
              </a:spcBef>
              <a:spcAft>
                <a:spcPts val="0"/>
              </a:spcAft>
              <a:buSzPts val="2556"/>
              <a:buNone/>
            </a:pPr>
            <a:r>
              <a:rPr b="1" lang="en" sz="2300">
                <a:solidFill>
                  <a:srgbClr val="162849"/>
                </a:solidFill>
                <a:latin typeface="Play"/>
                <a:ea typeface="Play"/>
                <a:cs typeface="Play"/>
                <a:sym typeface="Play"/>
              </a:rPr>
              <a:t>Improved Reasoning on General Tool-Use Tasks</a:t>
            </a:r>
            <a:endParaRPr/>
          </a:p>
        </p:txBody>
      </p:sp>
      <p:graphicFrame>
        <p:nvGraphicFramePr>
          <p:cNvPr id="294" name="Google Shape;294;p45"/>
          <p:cNvGraphicFramePr/>
          <p:nvPr/>
        </p:nvGraphicFramePr>
        <p:xfrm>
          <a:off x="502920" y="1188720"/>
          <a:ext cx="3000000" cy="3000000"/>
        </p:xfrm>
        <a:graphic>
          <a:graphicData uri="http://schemas.openxmlformats.org/drawingml/2006/table">
            <a:tbl>
              <a:tblPr bandRow="1" firstRow="1">
                <a:noFill/>
                <a:tableStyleId>{82EE666F-F67E-475C-9374-94149FA58177}</a:tableStyleId>
              </a:tblPr>
              <a:tblGrid>
                <a:gridCol w="1701900"/>
                <a:gridCol w="804525"/>
                <a:gridCol w="742650"/>
                <a:gridCol w="804525"/>
                <a:gridCol w="742650"/>
                <a:gridCol w="742650"/>
                <a:gridCol w="845800"/>
                <a:gridCol w="1052075"/>
                <a:gridCol w="701375"/>
              </a:tblGrid>
              <a:tr h="360675">
                <a:tc>
                  <a:txBody>
                    <a:bodyPr/>
                    <a:lstStyle/>
                    <a:p>
                      <a:pPr indent="0" lvl="0" marL="0" marR="0" rtl="0" algn="l">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Method</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MATH500</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AIME25</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BFCL</a:t>
                      </a:r>
                      <a:br>
                        <a:rPr b="1" lang="en" sz="819" u="none" cap="none" strike="noStrike">
                          <a:solidFill>
                            <a:srgbClr val="FFFFFF"/>
                          </a:solidFill>
                          <a:latin typeface="Arial"/>
                          <a:ea typeface="Arial"/>
                          <a:cs typeface="Arial"/>
                          <a:sym typeface="Arial"/>
                        </a:rPr>
                      </a:br>
                      <a:r>
                        <a:rPr b="1" lang="en" sz="819" u="none" cap="none" strike="noStrike">
                          <a:solidFill>
                            <a:srgbClr val="FFFFFF"/>
                          </a:solidFill>
                          <a:latin typeface="Arial"/>
                          <a:ea typeface="Arial"/>
                          <a:cs typeface="Arial"/>
                          <a:sym typeface="Arial"/>
                        </a:rPr>
                        <a:t>Overall</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Search</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Memory</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Single</a:t>
                      </a:r>
                      <a:br>
                        <a:rPr b="1" lang="en" sz="819" u="none" cap="none" strike="noStrike">
                          <a:solidFill>
                            <a:srgbClr val="FFFFFF"/>
                          </a:solidFill>
                          <a:latin typeface="Arial"/>
                          <a:ea typeface="Arial"/>
                          <a:cs typeface="Arial"/>
                          <a:sym typeface="Arial"/>
                        </a:rPr>
                      </a:br>
                      <a:r>
                        <a:rPr b="1" lang="en" sz="819" u="none" cap="none" strike="noStrike">
                          <a:solidFill>
                            <a:srgbClr val="FFFFFF"/>
                          </a:solidFill>
                          <a:latin typeface="Arial"/>
                          <a:ea typeface="Arial"/>
                          <a:cs typeface="Arial"/>
                          <a:sym typeface="Arial"/>
                        </a:rPr>
                        <a:t>Live</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Single</a:t>
                      </a:r>
                      <a:br>
                        <a:rPr b="1" lang="en" sz="819" u="none" cap="none" strike="noStrike">
                          <a:solidFill>
                            <a:srgbClr val="FFFFFF"/>
                          </a:solidFill>
                          <a:latin typeface="Arial"/>
                          <a:ea typeface="Arial"/>
                          <a:cs typeface="Arial"/>
                          <a:sym typeface="Arial"/>
                        </a:rPr>
                      </a:br>
                      <a:r>
                        <a:rPr b="1" lang="en" sz="819" u="none" cap="none" strike="noStrike">
                          <a:solidFill>
                            <a:srgbClr val="FFFFFF"/>
                          </a:solidFill>
                          <a:latin typeface="Arial"/>
                          <a:ea typeface="Arial"/>
                          <a:cs typeface="Arial"/>
                          <a:sym typeface="Arial"/>
                        </a:rPr>
                        <a:t>Non-Live</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Multi</a:t>
                      </a:r>
                      <a:endParaRPr sz="1400" u="none" cap="none" strike="noStrike"/>
                    </a:p>
                  </a:txBody>
                  <a:tcPr marT="13725" marB="13725" marR="45725" marL="45725">
                    <a:solidFill>
                      <a:srgbClr val="162849"/>
                    </a:solidFill>
                  </a:tcPr>
                </a:tc>
              </a:tr>
              <a:tr h="360675">
                <a:tc gridSpan="9">
                  <a:txBody>
                    <a:bodyPr/>
                    <a:lstStyle/>
                    <a:p>
                      <a:pPr indent="0" lvl="0" marL="0" marR="0" rtl="0" algn="l">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Qwen3-4B-Instruct-2507</a:t>
                      </a:r>
                      <a:endParaRPr sz="1400" u="none" cap="none" strike="noStrike"/>
                    </a:p>
                  </a:txBody>
                  <a:tcPr marT="13725" marB="13725" marR="45725" marL="45725">
                    <a:solidFill>
                      <a:srgbClr val="E8F0FE"/>
                    </a:solidFill>
                  </a:tcPr>
                </a:tc>
                <a:tc hMerge="1"/>
                <a:tc hMerge="1"/>
                <a:tc hMerge="1"/>
                <a:tc hMerge="1"/>
                <a:tc hMerge="1"/>
                <a:tc hMerge="1"/>
                <a:tc hMerge="1"/>
                <a:tc hMerge="1"/>
              </a:tr>
              <a:tr h="360675">
                <a:tc>
                  <a:txBody>
                    <a:bodyPr/>
                    <a:lstStyle/>
                    <a:p>
                      <a:pPr indent="0" lvl="0" marL="0" marR="0" rtl="0" algn="l">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Base</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89.1</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43.3</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33.0</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5.0</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12.7</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86.7</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74.5</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19.4</a:t>
                      </a:r>
                      <a:endParaRPr sz="1400" u="none" cap="none" strike="noStrike"/>
                    </a:p>
                  </a:txBody>
                  <a:tcPr marT="13725" marB="13725" marR="45725" marL="45725">
                    <a:solidFill>
                      <a:srgbClr val="F7F9FD"/>
                    </a:solidFill>
                  </a:tcPr>
                </a:tc>
              </a:tr>
              <a:tr h="360675">
                <a:tc>
                  <a:txBody>
                    <a:bodyPr/>
                    <a:lstStyle/>
                    <a:p>
                      <a:pPr indent="0" lvl="0" marL="0" marR="0" rtl="0" algn="l">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P</a:t>
                      </a:r>
                      <a:r>
                        <a:rPr lang="en" sz="819" u="none" cap="none" strike="noStrike">
                          <a:solidFill>
                            <a:srgbClr val="162849"/>
                          </a:solidFill>
                        </a:rPr>
                        <a:t>rocess </a:t>
                      </a:r>
                      <a:r>
                        <a:rPr b="0" lang="en" sz="819" u="none" cap="none" strike="noStrike">
                          <a:solidFill>
                            <a:srgbClr val="162849"/>
                          </a:solidFill>
                          <a:latin typeface="Arial"/>
                          <a:ea typeface="Arial"/>
                          <a:cs typeface="Arial"/>
                          <a:sym typeface="Arial"/>
                        </a:rPr>
                        <a:t>Reward Mo</a:t>
                      </a:r>
                      <a:r>
                        <a:rPr lang="en" sz="819" u="none" cap="none" strike="noStrike">
                          <a:solidFill>
                            <a:srgbClr val="162849"/>
                          </a:solidFill>
                        </a:rPr>
                        <a:t>deling</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92.3</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51.7</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44.6</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10.0</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15.2</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88.5</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77.6</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28.6</a:t>
                      </a:r>
                      <a:endParaRPr sz="1400" u="none" cap="none" strike="noStrike"/>
                    </a:p>
                  </a:txBody>
                  <a:tcPr marT="13725" marB="13725" marR="45725" marL="45725">
                    <a:solidFill>
                      <a:srgbClr val="FFFFFF"/>
                    </a:solidFill>
                  </a:tcPr>
                </a:tc>
              </a:tr>
              <a:tr h="360675">
                <a:tc>
                  <a:txBody>
                    <a:bodyPr/>
                    <a:lstStyle/>
                    <a:p>
                      <a:pPr indent="0" lvl="0" marL="0" marR="0" rtl="0" algn="l">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SCRIBE (Ours)</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95.8</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63.3</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r>
              <a:tr h="360675">
                <a:tc gridSpan="9">
                  <a:txBody>
                    <a:bodyPr/>
                    <a:lstStyle/>
                    <a:p>
                      <a:pPr indent="0" lvl="0" marL="0" marR="0" rtl="0" algn="l">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LLaMA 3.2-3B-Instruct</a:t>
                      </a:r>
                      <a:endParaRPr sz="1400" u="none" cap="none" strike="noStrike"/>
                    </a:p>
                  </a:txBody>
                  <a:tcPr marT="13725" marB="13725" marR="45725" marL="45725">
                    <a:solidFill>
                      <a:srgbClr val="E8F0FE"/>
                    </a:solidFill>
                  </a:tcPr>
                </a:tc>
                <a:tc hMerge="1"/>
                <a:tc hMerge="1"/>
                <a:tc hMerge="1"/>
                <a:tc hMerge="1"/>
                <a:tc hMerge="1"/>
                <a:tc hMerge="1"/>
                <a:tc hMerge="1"/>
                <a:tc hMerge="1"/>
              </a:tr>
              <a:tr h="360675">
                <a:tc>
                  <a:txBody>
                    <a:bodyPr/>
                    <a:lstStyle/>
                    <a:p>
                      <a:pPr indent="0" lvl="0" marL="0" marR="0" rtl="0" algn="l">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Base</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40.8</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1.7</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21.5</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0.5</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5.2</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82.0</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58.3</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3.9</a:t>
                      </a:r>
                      <a:endParaRPr sz="1400" u="none" cap="none" strike="noStrike"/>
                    </a:p>
                  </a:txBody>
                  <a:tcPr marT="13725" marB="13725" marR="45725" marL="45725">
                    <a:solidFill>
                      <a:srgbClr val="F7F9FD"/>
                    </a:solidFill>
                  </a:tcPr>
                </a:tc>
              </a:tr>
              <a:tr h="360675">
                <a:tc>
                  <a:txBody>
                    <a:bodyPr/>
                    <a:lstStyle/>
                    <a:p>
                      <a:pPr indent="0" lvl="0" marL="0" marR="0" rtl="0" algn="l">
                        <a:lnSpc>
                          <a:spcPct val="100000"/>
                        </a:lnSpc>
                        <a:spcBef>
                          <a:spcPts val="0"/>
                        </a:spcBef>
                        <a:spcAft>
                          <a:spcPts val="0"/>
                        </a:spcAft>
                        <a:buClr>
                          <a:schemeClr val="dk1"/>
                        </a:buClr>
                        <a:buSzPts val="818"/>
                        <a:buFont typeface="Arial"/>
                        <a:buNone/>
                      </a:pPr>
                      <a:r>
                        <a:rPr lang="en" sz="819" u="none" cap="none" strike="noStrike">
                          <a:solidFill>
                            <a:srgbClr val="162849"/>
                          </a:solidFill>
                        </a:rPr>
                        <a:t>Process Reward Modeling</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48.3</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6.7</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24.8</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5.0</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8.3</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83.8</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59.6</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8.2</a:t>
                      </a:r>
                      <a:endParaRPr sz="1400" u="none" cap="none" strike="noStrike"/>
                    </a:p>
                  </a:txBody>
                  <a:tcPr marT="13725" marB="13725" marR="45725" marL="45725">
                    <a:solidFill>
                      <a:srgbClr val="FFFFFF"/>
                    </a:solidFill>
                  </a:tcPr>
                </a:tc>
              </a:tr>
              <a:tr h="360675">
                <a:tc>
                  <a:txBody>
                    <a:bodyPr/>
                    <a:lstStyle/>
                    <a:p>
                      <a:pPr indent="0" lvl="0" marL="0" marR="0" rtl="0" algn="l">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SCRIBE (Ours)</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63.4</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15.8</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13725" marB="13725" marR="45725" marL="45725">
                    <a:solidFill>
                      <a:srgbClr val="E8F0FE"/>
                    </a:solidFill>
                  </a:tcPr>
                </a:tc>
              </a:tr>
            </a:tbl>
          </a:graphicData>
        </a:graphic>
      </p:graphicFrame>
      <p:sp>
        <p:nvSpPr>
          <p:cNvPr id="295" name="Google Shape;295;p45"/>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6"/>
          <p:cNvSpPr txBox="1"/>
          <p:nvPr>
            <p:ph type="ctrTitle"/>
          </p:nvPr>
        </p:nvSpPr>
        <p:spPr>
          <a:xfrm>
            <a:off x="438912" y="164592"/>
            <a:ext cx="7498200" cy="475500"/>
          </a:xfrm>
          <a:prstGeom prst="rect">
            <a:avLst/>
          </a:prstGeom>
          <a:noFill/>
          <a:ln>
            <a:noFill/>
          </a:ln>
        </p:spPr>
        <p:txBody>
          <a:bodyPr anchorCtr="0" anchor="ctr" bIns="34275" lIns="0" spcFirstLastPara="1" rIns="0" wrap="square" tIns="34275">
            <a:normAutofit/>
          </a:bodyPr>
          <a:lstStyle/>
          <a:p>
            <a:pPr indent="0" lvl="0" marL="0" rtl="0" algn="l">
              <a:lnSpc>
                <a:spcPct val="100000"/>
              </a:lnSpc>
              <a:spcBef>
                <a:spcPts val="0"/>
              </a:spcBef>
              <a:spcAft>
                <a:spcPts val="0"/>
              </a:spcAft>
              <a:buClr>
                <a:schemeClr val="dk1"/>
              </a:buClr>
              <a:buSzPts val="1022"/>
              <a:buFont typeface="Arial"/>
              <a:buNone/>
            </a:pPr>
            <a:r>
              <a:rPr b="1" lang="en" sz="2300">
                <a:solidFill>
                  <a:srgbClr val="162849"/>
                </a:solidFill>
                <a:latin typeface="Play"/>
                <a:ea typeface="Play"/>
                <a:cs typeface="Play"/>
                <a:sym typeface="Play"/>
              </a:rPr>
              <a:t>Improved Reasoning on General Tool-Use Tasks</a:t>
            </a:r>
            <a:endParaRPr/>
          </a:p>
        </p:txBody>
      </p:sp>
      <p:graphicFrame>
        <p:nvGraphicFramePr>
          <p:cNvPr id="302" name="Google Shape;302;p46"/>
          <p:cNvGraphicFramePr/>
          <p:nvPr/>
        </p:nvGraphicFramePr>
        <p:xfrm>
          <a:off x="502920" y="1188720"/>
          <a:ext cx="3000000" cy="3000000"/>
        </p:xfrm>
        <a:graphic>
          <a:graphicData uri="http://schemas.openxmlformats.org/drawingml/2006/table">
            <a:tbl>
              <a:tblPr bandRow="1" firstRow="1">
                <a:noFill/>
                <a:tableStyleId>{82EE666F-F67E-475C-9374-94149FA58177}</a:tableStyleId>
              </a:tblPr>
              <a:tblGrid>
                <a:gridCol w="1701900"/>
                <a:gridCol w="804525"/>
                <a:gridCol w="742650"/>
                <a:gridCol w="804525"/>
                <a:gridCol w="742650"/>
                <a:gridCol w="742650"/>
                <a:gridCol w="845800"/>
                <a:gridCol w="1052075"/>
                <a:gridCol w="701375"/>
              </a:tblGrid>
              <a:tr h="360675">
                <a:tc>
                  <a:txBody>
                    <a:bodyPr/>
                    <a:lstStyle/>
                    <a:p>
                      <a:pPr indent="0" lvl="0" marL="0" marR="0" rtl="0" algn="l">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Method</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MATH500</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AIME25</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BFCL</a:t>
                      </a:r>
                      <a:br>
                        <a:rPr b="1" lang="en" sz="819" u="none" cap="none" strike="noStrike">
                          <a:solidFill>
                            <a:srgbClr val="FFFFFF"/>
                          </a:solidFill>
                          <a:latin typeface="Arial"/>
                          <a:ea typeface="Arial"/>
                          <a:cs typeface="Arial"/>
                          <a:sym typeface="Arial"/>
                        </a:rPr>
                      </a:br>
                      <a:r>
                        <a:rPr b="1" lang="en" sz="819" u="none" cap="none" strike="noStrike">
                          <a:solidFill>
                            <a:srgbClr val="FFFFFF"/>
                          </a:solidFill>
                          <a:latin typeface="Arial"/>
                          <a:ea typeface="Arial"/>
                          <a:cs typeface="Arial"/>
                          <a:sym typeface="Arial"/>
                        </a:rPr>
                        <a:t>Overall</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Search</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Memory</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Single</a:t>
                      </a:r>
                      <a:br>
                        <a:rPr b="1" lang="en" sz="819" u="none" cap="none" strike="noStrike">
                          <a:solidFill>
                            <a:srgbClr val="FFFFFF"/>
                          </a:solidFill>
                          <a:latin typeface="Arial"/>
                          <a:ea typeface="Arial"/>
                          <a:cs typeface="Arial"/>
                          <a:sym typeface="Arial"/>
                        </a:rPr>
                      </a:br>
                      <a:r>
                        <a:rPr b="1" lang="en" sz="819" u="none" cap="none" strike="noStrike">
                          <a:solidFill>
                            <a:srgbClr val="FFFFFF"/>
                          </a:solidFill>
                          <a:latin typeface="Arial"/>
                          <a:ea typeface="Arial"/>
                          <a:cs typeface="Arial"/>
                          <a:sym typeface="Arial"/>
                        </a:rPr>
                        <a:t>Live</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Single</a:t>
                      </a:r>
                      <a:br>
                        <a:rPr b="1" lang="en" sz="819" u="none" cap="none" strike="noStrike">
                          <a:solidFill>
                            <a:srgbClr val="FFFFFF"/>
                          </a:solidFill>
                          <a:latin typeface="Arial"/>
                          <a:ea typeface="Arial"/>
                          <a:cs typeface="Arial"/>
                          <a:sym typeface="Arial"/>
                        </a:rPr>
                      </a:br>
                      <a:r>
                        <a:rPr b="1" lang="en" sz="819" u="none" cap="none" strike="noStrike">
                          <a:solidFill>
                            <a:srgbClr val="FFFFFF"/>
                          </a:solidFill>
                          <a:latin typeface="Arial"/>
                          <a:ea typeface="Arial"/>
                          <a:cs typeface="Arial"/>
                          <a:sym typeface="Arial"/>
                        </a:rPr>
                        <a:t>Non-Live</a:t>
                      </a:r>
                      <a:endParaRPr sz="1400" u="none" cap="none" strike="noStrike"/>
                    </a:p>
                  </a:txBody>
                  <a:tcPr marT="13725" marB="13725" marR="45725" marL="45725">
                    <a:solidFill>
                      <a:srgbClr val="162849"/>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FFFFFF"/>
                          </a:solidFill>
                          <a:latin typeface="Arial"/>
                          <a:ea typeface="Arial"/>
                          <a:cs typeface="Arial"/>
                          <a:sym typeface="Arial"/>
                        </a:rPr>
                        <a:t>Multi</a:t>
                      </a:r>
                      <a:endParaRPr sz="1400" u="none" cap="none" strike="noStrike"/>
                    </a:p>
                  </a:txBody>
                  <a:tcPr marT="13725" marB="13725" marR="45725" marL="45725">
                    <a:solidFill>
                      <a:srgbClr val="162849"/>
                    </a:solidFill>
                  </a:tcPr>
                </a:tc>
              </a:tr>
              <a:tr h="360675">
                <a:tc gridSpan="9">
                  <a:txBody>
                    <a:bodyPr/>
                    <a:lstStyle/>
                    <a:p>
                      <a:pPr indent="0" lvl="0" marL="0" marR="0" rtl="0" algn="l">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Qwen3-4B-Instruct-2507</a:t>
                      </a:r>
                      <a:endParaRPr sz="1400" u="none" cap="none" strike="noStrike"/>
                    </a:p>
                  </a:txBody>
                  <a:tcPr marT="13725" marB="13725" marR="45725" marL="45725">
                    <a:solidFill>
                      <a:srgbClr val="E8F0FE"/>
                    </a:solidFill>
                  </a:tcPr>
                </a:tc>
                <a:tc hMerge="1"/>
                <a:tc hMerge="1"/>
                <a:tc hMerge="1"/>
                <a:tc hMerge="1"/>
                <a:tc hMerge="1"/>
                <a:tc hMerge="1"/>
                <a:tc hMerge="1"/>
                <a:tc hMerge="1"/>
              </a:tr>
              <a:tr h="360675">
                <a:tc>
                  <a:txBody>
                    <a:bodyPr/>
                    <a:lstStyle/>
                    <a:p>
                      <a:pPr indent="0" lvl="0" marL="0" marR="0" rtl="0" algn="l">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Base</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89.1</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43.3</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33.0</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5.0</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12.7</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86.7</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74.5</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19.4</a:t>
                      </a:r>
                      <a:endParaRPr sz="1400" u="none" cap="none" strike="noStrike"/>
                    </a:p>
                  </a:txBody>
                  <a:tcPr marT="13725" marB="13725" marR="45725" marL="45725">
                    <a:solidFill>
                      <a:srgbClr val="F7F9FD"/>
                    </a:solidFill>
                  </a:tcPr>
                </a:tc>
              </a:tr>
              <a:tr h="360675">
                <a:tc>
                  <a:txBody>
                    <a:bodyPr/>
                    <a:lstStyle/>
                    <a:p>
                      <a:pPr indent="0" lvl="0" marL="0" marR="0" rtl="0" algn="l">
                        <a:lnSpc>
                          <a:spcPct val="100000"/>
                        </a:lnSpc>
                        <a:spcBef>
                          <a:spcPts val="0"/>
                        </a:spcBef>
                        <a:spcAft>
                          <a:spcPts val="0"/>
                        </a:spcAft>
                        <a:buClr>
                          <a:schemeClr val="dk1"/>
                        </a:buClr>
                        <a:buSzPts val="818"/>
                        <a:buFont typeface="Arial"/>
                        <a:buNone/>
                      </a:pPr>
                      <a:r>
                        <a:rPr lang="en" sz="819" u="none" cap="none" strike="noStrike">
                          <a:solidFill>
                            <a:srgbClr val="162849"/>
                          </a:solidFill>
                        </a:rPr>
                        <a:t>Process Reward Modeling</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92.3</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51.7</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44.6</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10.0</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15.2</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88.5</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77.6</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28.6</a:t>
                      </a:r>
                      <a:endParaRPr sz="1400" u="none" cap="none" strike="noStrike"/>
                    </a:p>
                  </a:txBody>
                  <a:tcPr marT="13725" marB="13725" marR="45725" marL="45725">
                    <a:solidFill>
                      <a:srgbClr val="FFFFFF"/>
                    </a:solidFill>
                  </a:tcPr>
                </a:tc>
              </a:tr>
              <a:tr h="360675">
                <a:tc>
                  <a:txBody>
                    <a:bodyPr/>
                    <a:lstStyle/>
                    <a:p>
                      <a:pPr indent="0" lvl="0" marL="0" marR="0" rtl="0" algn="l">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SCRIBE (Ours)</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95.8</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63.3</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51.3</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12.5</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15.8</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90.0</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80.5</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33.3</a:t>
                      </a:r>
                      <a:endParaRPr sz="1400" u="none" cap="none" strike="noStrike"/>
                    </a:p>
                  </a:txBody>
                  <a:tcPr marT="13725" marB="13725" marR="45725" marL="45725">
                    <a:solidFill>
                      <a:srgbClr val="E8F0FE"/>
                    </a:solidFill>
                  </a:tcPr>
                </a:tc>
              </a:tr>
              <a:tr h="360675">
                <a:tc gridSpan="9">
                  <a:txBody>
                    <a:bodyPr/>
                    <a:lstStyle/>
                    <a:p>
                      <a:pPr indent="0" lvl="0" marL="0" marR="0" rtl="0" algn="l">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LLaMA 3.2-3B-Instruct</a:t>
                      </a:r>
                      <a:endParaRPr sz="1400" u="none" cap="none" strike="noStrike"/>
                    </a:p>
                  </a:txBody>
                  <a:tcPr marT="13725" marB="13725" marR="45725" marL="45725">
                    <a:solidFill>
                      <a:srgbClr val="E8F0FE"/>
                    </a:solidFill>
                  </a:tcPr>
                </a:tc>
                <a:tc hMerge="1"/>
                <a:tc hMerge="1"/>
                <a:tc hMerge="1"/>
                <a:tc hMerge="1"/>
                <a:tc hMerge="1"/>
                <a:tc hMerge="1"/>
                <a:tc hMerge="1"/>
                <a:tc hMerge="1"/>
              </a:tr>
              <a:tr h="360675">
                <a:tc>
                  <a:txBody>
                    <a:bodyPr/>
                    <a:lstStyle/>
                    <a:p>
                      <a:pPr indent="0" lvl="0" marL="0" marR="0" rtl="0" algn="l">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Base</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40.8</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1.7</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21.5</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0.5</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5.2</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82.0</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58.3</a:t>
                      </a:r>
                      <a:endParaRPr sz="1400" u="none" cap="none" strike="noStrike"/>
                    </a:p>
                  </a:txBody>
                  <a:tcPr marT="13725" marB="13725" marR="45725" marL="45725">
                    <a:solidFill>
                      <a:srgbClr val="F7F9FD"/>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3.9</a:t>
                      </a:r>
                      <a:endParaRPr sz="1400" u="none" cap="none" strike="noStrike"/>
                    </a:p>
                  </a:txBody>
                  <a:tcPr marT="13725" marB="13725" marR="45725" marL="45725">
                    <a:solidFill>
                      <a:srgbClr val="F7F9FD"/>
                    </a:solidFill>
                  </a:tcPr>
                </a:tc>
              </a:tr>
              <a:tr h="360675">
                <a:tc>
                  <a:txBody>
                    <a:bodyPr/>
                    <a:lstStyle/>
                    <a:p>
                      <a:pPr indent="0" lvl="0" marL="0" marR="0" rtl="0" algn="l">
                        <a:lnSpc>
                          <a:spcPct val="100000"/>
                        </a:lnSpc>
                        <a:spcBef>
                          <a:spcPts val="0"/>
                        </a:spcBef>
                        <a:spcAft>
                          <a:spcPts val="0"/>
                        </a:spcAft>
                        <a:buClr>
                          <a:schemeClr val="dk1"/>
                        </a:buClr>
                        <a:buSzPts val="818"/>
                        <a:buFont typeface="Arial"/>
                        <a:buNone/>
                      </a:pPr>
                      <a:r>
                        <a:rPr lang="en" sz="819" u="none" cap="none" strike="noStrike">
                          <a:solidFill>
                            <a:srgbClr val="162849"/>
                          </a:solidFill>
                        </a:rPr>
                        <a:t>Process Reward Modeling</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48.3</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6.7</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24.8</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5.0</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8.3</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83.8</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59.6</a:t>
                      </a:r>
                      <a:endParaRPr sz="1400" u="none" cap="none" strike="noStrike"/>
                    </a:p>
                  </a:txBody>
                  <a:tcPr marT="13725" marB="13725" marR="45725" marL="45725">
                    <a:solidFill>
                      <a:srgbClr val="FFFFFF"/>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0" lang="en" sz="819" u="none" cap="none" strike="noStrike">
                          <a:solidFill>
                            <a:srgbClr val="162849"/>
                          </a:solidFill>
                          <a:latin typeface="Arial"/>
                          <a:ea typeface="Arial"/>
                          <a:cs typeface="Arial"/>
                          <a:sym typeface="Arial"/>
                        </a:rPr>
                        <a:t>8.2</a:t>
                      </a:r>
                      <a:endParaRPr sz="1400" u="none" cap="none" strike="noStrike"/>
                    </a:p>
                  </a:txBody>
                  <a:tcPr marT="13725" marB="13725" marR="45725" marL="45725">
                    <a:solidFill>
                      <a:srgbClr val="FFFFFF"/>
                    </a:solidFill>
                  </a:tcPr>
                </a:tc>
              </a:tr>
              <a:tr h="360675">
                <a:tc>
                  <a:txBody>
                    <a:bodyPr/>
                    <a:lstStyle/>
                    <a:p>
                      <a:pPr indent="0" lvl="0" marL="0" marR="0" rtl="0" algn="l">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SCRIBE (Ours)</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63.4</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15.8</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30.8</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8.5</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11.2</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85.5</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62.0</a:t>
                      </a:r>
                      <a:endParaRPr sz="1400" u="none" cap="none" strike="noStrike"/>
                    </a:p>
                  </a:txBody>
                  <a:tcPr marT="13725" marB="13725" marR="45725" marL="45725">
                    <a:solidFill>
                      <a:srgbClr val="E8F0FE"/>
                    </a:solidFill>
                  </a:tcPr>
                </a:tc>
                <a:tc>
                  <a:txBody>
                    <a:bodyPr/>
                    <a:lstStyle/>
                    <a:p>
                      <a:pPr indent="0" lvl="0" marL="0" marR="0" rtl="0" algn="ctr">
                        <a:lnSpc>
                          <a:spcPct val="100000"/>
                        </a:lnSpc>
                        <a:spcBef>
                          <a:spcPts val="0"/>
                        </a:spcBef>
                        <a:spcAft>
                          <a:spcPts val="0"/>
                        </a:spcAft>
                        <a:buClr>
                          <a:srgbClr val="000000"/>
                        </a:buClr>
                        <a:buSzPts val="818"/>
                        <a:buFont typeface="Arial"/>
                        <a:buNone/>
                      </a:pPr>
                      <a:r>
                        <a:rPr b="1" lang="en" sz="819" u="none" cap="none" strike="noStrike">
                          <a:solidFill>
                            <a:srgbClr val="162849"/>
                          </a:solidFill>
                          <a:latin typeface="Arial"/>
                          <a:ea typeface="Arial"/>
                          <a:cs typeface="Arial"/>
                          <a:sym typeface="Arial"/>
                        </a:rPr>
                        <a:t>13.5</a:t>
                      </a:r>
                      <a:endParaRPr sz="1400" u="none" cap="none" strike="noStrike"/>
                    </a:p>
                  </a:txBody>
                  <a:tcPr marT="13725" marB="13725" marR="45725" marL="45725">
                    <a:solidFill>
                      <a:srgbClr val="E8F0FE"/>
                    </a:solidFill>
                  </a:tcPr>
                </a:tc>
              </a:tr>
            </a:tbl>
          </a:graphicData>
        </a:graphic>
      </p:graphicFrame>
      <p:sp>
        <p:nvSpPr>
          <p:cNvPr id="303" name="Google Shape;303;p46"/>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7"/>
          <p:cNvSpPr txBox="1"/>
          <p:nvPr>
            <p:ph idx="4294967295" type="title"/>
          </p:nvPr>
        </p:nvSpPr>
        <p:spPr>
          <a:xfrm>
            <a:off x="438912" y="164592"/>
            <a:ext cx="8275320" cy="475488"/>
          </a:xfrm>
          <a:prstGeom prst="rect">
            <a:avLst/>
          </a:prstGeom>
          <a:noFill/>
          <a:ln>
            <a:noFill/>
          </a:ln>
        </p:spPr>
        <p:txBody>
          <a:bodyPr anchorCtr="0" anchor="ctr" bIns="0" lIns="0" spcFirstLastPara="1" rIns="0" wrap="square" tIns="0">
            <a:normAutofit fontScale="90000"/>
          </a:bodyPr>
          <a:lstStyle/>
          <a:p>
            <a:pPr indent="0" lvl="0" marL="0" marR="0" rtl="0" algn="l">
              <a:lnSpc>
                <a:spcPct val="100000"/>
              </a:lnSpc>
              <a:spcBef>
                <a:spcPts val="0"/>
              </a:spcBef>
              <a:spcAft>
                <a:spcPts val="0"/>
              </a:spcAft>
              <a:buClr>
                <a:schemeClr val="dk1"/>
              </a:buClr>
              <a:buSzPct val="111111"/>
              <a:buFont typeface="Tahoma"/>
              <a:buNone/>
            </a:pPr>
            <a:r>
              <a:rPr b="1" i="0" lang="en" sz="2300" u="none" cap="none" strike="noStrike">
                <a:solidFill>
                  <a:srgbClr val="162849"/>
                </a:solidFill>
                <a:latin typeface="Play"/>
                <a:ea typeface="Play"/>
                <a:cs typeface="Play"/>
                <a:sym typeface="Play"/>
              </a:rPr>
              <a:t>Takeaway: Reuse the Standard, Not the Reference Answer</a:t>
            </a:r>
            <a:endParaRPr b="0" i="0" sz="1800" u="none" cap="none" strike="noStrike">
              <a:solidFill>
                <a:schemeClr val="dk1"/>
              </a:solidFill>
              <a:latin typeface="Tahoma"/>
              <a:ea typeface="Tahoma"/>
              <a:cs typeface="Tahoma"/>
              <a:sym typeface="Tahoma"/>
            </a:endParaRPr>
          </a:p>
        </p:txBody>
      </p:sp>
      <p:sp>
        <p:nvSpPr>
          <p:cNvPr id="309" name="Google Shape;309;p47"/>
          <p:cNvSpPr/>
          <p:nvPr/>
        </p:nvSpPr>
        <p:spPr>
          <a:xfrm>
            <a:off x="438912" y="740664"/>
            <a:ext cx="8266200" cy="13800"/>
          </a:xfrm>
          <a:prstGeom prst="rect">
            <a:avLst/>
          </a:prstGeom>
          <a:solidFill>
            <a:srgbClr val="DAE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0" name="Rectangle 309"/>
          <p:cNvSpPr/>
          <p:nvPr/>
        </p:nvSpPr>
        <p:spPr>
          <a:xfrm>
            <a:off x="438912" y="740664"/>
            <a:ext cx="8266175" cy="10972"/>
          </a:xfrm>
          <a:prstGeom prst="rect">
            <a:avLst/>
          </a:prstGeom>
          <a:solidFill>
            <a:srgbClr val="DC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594360" y="1042415"/>
            <a:ext cx="6720840" cy="786384"/>
          </a:xfrm>
          <a:prstGeom prst="rect">
            <a:avLst/>
          </a:prstGeom>
          <a:noFill/>
        </p:spPr>
        <p:txBody>
          <a:bodyPr wrap="square" lIns="0" rIns="0" tIns="0" bIns="0">
            <a:spAutoFit/>
          </a:bodyPr>
          <a:lstStyle/>
          <a:p>
            <a:pPr algn="l">
              <a:spcAft>
                <a:spcPts val="400"/>
              </a:spcAft>
              <a:defRPr sz="2700" b="1">
                <a:solidFill>
                  <a:srgbClr val="193354"/>
                </a:solidFill>
                <a:latin typeface="Arial"/>
              </a:defRPr>
            </a:pPr>
            <a:r>
              <a:rPr sz="2300"/>
              <a:t>Reward what a reasoning step accomplishes</a:t>
            </a:r>
          </a:p>
          <a:p>
            <a:pPr algn="l">
              <a:spcAft>
                <a:spcPts val="400"/>
              </a:spcAft>
              <a:defRPr sz="2700" b="1">
                <a:solidFill>
                  <a:srgbClr val="193354"/>
                </a:solidFill>
                <a:latin typeface="Arial"/>
              </a:defRPr>
            </a:pPr>
            <a:r>
              <a:rPr sz="2300"/>
              <a:t>with a shared, reusable skill rubric.</a:t>
            </a:r>
          </a:p>
        </p:txBody>
      </p:sp>
      <p:sp>
        <p:nvSpPr>
          <p:cNvPr id="312" name="Rounded Rectangle 311"/>
          <p:cNvSpPr/>
          <p:nvPr/>
        </p:nvSpPr>
        <p:spPr>
          <a:xfrm>
            <a:off x="594360" y="2075688"/>
            <a:ext cx="7955279" cy="685800"/>
          </a:xfrm>
          <a:prstGeom prst="roundRect">
            <a:avLst>
              <a:gd name="adj" fmla="val 8000"/>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758952" y="2231136"/>
            <a:ext cx="484632" cy="274320"/>
          </a:xfrm>
          <a:prstGeom prst="rect">
            <a:avLst/>
          </a:prstGeom>
          <a:noFill/>
        </p:spPr>
        <p:txBody>
          <a:bodyPr wrap="square" lIns="0" rIns="0" tIns="0" bIns="0">
            <a:spAutoFit/>
          </a:bodyPr>
          <a:lstStyle/>
          <a:p>
            <a:pPr algn="l">
              <a:spcAft>
                <a:spcPts val="400"/>
              </a:spcAft>
              <a:defRPr sz="1800" b="1">
                <a:solidFill>
                  <a:srgbClr val="087F8C"/>
                </a:solidFill>
                <a:latin typeface="Arial"/>
              </a:defRPr>
            </a:pPr>
            <a:r>
              <a:t>01</a:t>
            </a:r>
          </a:p>
        </p:txBody>
      </p:sp>
      <p:sp>
        <p:nvSpPr>
          <p:cNvPr id="314" name="TextBox 313"/>
          <p:cNvSpPr txBox="1"/>
          <p:nvPr/>
        </p:nvSpPr>
        <p:spPr>
          <a:xfrm>
            <a:off x="1353312" y="2167128"/>
            <a:ext cx="6949440" cy="237744"/>
          </a:xfrm>
          <a:prstGeom prst="rect">
            <a:avLst/>
          </a:prstGeom>
          <a:noFill/>
        </p:spPr>
        <p:txBody>
          <a:bodyPr wrap="square" lIns="0" rIns="0" tIns="0" bIns="0">
            <a:spAutoFit/>
          </a:bodyPr>
          <a:lstStyle/>
          <a:p>
            <a:pPr algn="l">
              <a:spcAft>
                <a:spcPts val="400"/>
              </a:spcAft>
              <a:defRPr sz="1600" b="1">
                <a:solidFill>
                  <a:srgbClr val="193354"/>
                </a:solidFill>
                <a:latin typeface="Arial"/>
              </a:defRPr>
            </a:pPr>
            <a:r>
              <a:t>A Stable Standard Across Problems</a:t>
            </a:r>
          </a:p>
        </p:txBody>
      </p:sp>
      <p:sp>
        <p:nvSpPr>
          <p:cNvPr id="315" name="TextBox 314"/>
          <p:cNvSpPr txBox="1"/>
          <p:nvPr/>
        </p:nvSpPr>
        <p:spPr>
          <a:xfrm>
            <a:off x="1353312" y="2459736"/>
            <a:ext cx="6903720" cy="237744"/>
          </a:xfrm>
          <a:prstGeom prst="rect">
            <a:avLst/>
          </a:prstGeom>
          <a:noFill/>
        </p:spPr>
        <p:txBody>
          <a:bodyPr wrap="square" lIns="0" rIns="0" tIns="0" bIns="0">
            <a:spAutoFit/>
          </a:bodyPr>
          <a:lstStyle/>
          <a:p>
            <a:pPr algn="l">
              <a:spcAft>
                <a:spcPts val="400"/>
              </a:spcAft>
              <a:defRPr sz="1200" b="0">
                <a:solidFill>
                  <a:srgbClr val="53657C"/>
                </a:solidFill>
                <a:latin typeface="Arial"/>
              </a:defRPr>
            </a:pPr>
            <a:r>
              <a:t>Skill prototypes make reasoning quality explicit, without a golden answer for each instance.</a:t>
            </a:r>
          </a:p>
        </p:txBody>
      </p:sp>
      <p:sp>
        <p:nvSpPr>
          <p:cNvPr id="316" name="Rounded Rectangle 315"/>
          <p:cNvSpPr/>
          <p:nvPr/>
        </p:nvSpPr>
        <p:spPr>
          <a:xfrm>
            <a:off x="594360" y="2898648"/>
            <a:ext cx="7955279" cy="685800"/>
          </a:xfrm>
          <a:prstGeom prst="roundRect">
            <a:avLst>
              <a:gd name="adj" fmla="val 8000"/>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758952" y="3054096"/>
            <a:ext cx="484632" cy="274320"/>
          </a:xfrm>
          <a:prstGeom prst="rect">
            <a:avLst/>
          </a:prstGeom>
          <a:noFill/>
        </p:spPr>
        <p:txBody>
          <a:bodyPr wrap="square" lIns="0" rIns="0" tIns="0" bIns="0">
            <a:spAutoFit/>
          </a:bodyPr>
          <a:lstStyle/>
          <a:p>
            <a:pPr algn="l">
              <a:spcAft>
                <a:spcPts val="400"/>
              </a:spcAft>
              <a:defRPr sz="1800" b="1">
                <a:solidFill>
                  <a:srgbClr val="087F8C"/>
                </a:solidFill>
                <a:latin typeface="Arial"/>
              </a:defRPr>
            </a:pPr>
            <a:r>
              <a:t>02</a:t>
            </a:r>
          </a:p>
        </p:txBody>
      </p:sp>
      <p:sp>
        <p:nvSpPr>
          <p:cNvPr id="318" name="TextBox 317"/>
          <p:cNvSpPr txBox="1"/>
          <p:nvPr/>
        </p:nvSpPr>
        <p:spPr>
          <a:xfrm>
            <a:off x="1353312" y="2990088"/>
            <a:ext cx="6949440" cy="237744"/>
          </a:xfrm>
          <a:prstGeom prst="rect">
            <a:avLst/>
          </a:prstGeom>
          <a:noFill/>
        </p:spPr>
        <p:txBody>
          <a:bodyPr wrap="square" lIns="0" rIns="0" tIns="0" bIns="0">
            <a:spAutoFit/>
          </a:bodyPr>
          <a:lstStyle/>
          <a:p>
            <a:pPr algn="l">
              <a:spcAft>
                <a:spcPts val="400"/>
              </a:spcAft>
              <a:defRPr sz="1600" b="1">
                <a:solidFill>
                  <a:srgbClr val="193354"/>
                </a:solidFill>
                <a:latin typeface="Arial"/>
              </a:defRPr>
            </a:pPr>
            <a:r>
              <a:t>Less Reward Drift</a:t>
            </a:r>
          </a:p>
        </p:txBody>
      </p:sp>
      <p:sp>
        <p:nvSpPr>
          <p:cNvPr id="319" name="TextBox 318"/>
          <p:cNvSpPr txBox="1"/>
          <p:nvPr/>
        </p:nvSpPr>
        <p:spPr>
          <a:xfrm>
            <a:off x="1353312" y="3282696"/>
            <a:ext cx="6903720" cy="237744"/>
          </a:xfrm>
          <a:prstGeom prst="rect">
            <a:avLst/>
          </a:prstGeom>
          <a:noFill/>
        </p:spPr>
        <p:txBody>
          <a:bodyPr wrap="square" lIns="0" rIns="0" tIns="0" bIns="0">
            <a:spAutoFit/>
          </a:bodyPr>
          <a:lstStyle/>
          <a:p>
            <a:pPr algn="l">
              <a:spcAft>
                <a:spcPts val="400"/>
              </a:spcAft>
              <a:defRPr sz="1200" b="0">
                <a:solidFill>
                  <a:srgbClr val="53657C"/>
                </a:solidFill>
                <a:latin typeface="Arial"/>
              </a:defRPr>
            </a:pPr>
            <a:r>
              <a:t>Cross-instance agreement: 69.4% with RaR → 86.8% with SCRIBE.</a:t>
            </a:r>
          </a:p>
        </p:txBody>
      </p:sp>
      <p:sp>
        <p:nvSpPr>
          <p:cNvPr id="320" name="Rounded Rectangle 319"/>
          <p:cNvSpPr/>
          <p:nvPr/>
        </p:nvSpPr>
        <p:spPr>
          <a:xfrm>
            <a:off x="594360" y="3721608"/>
            <a:ext cx="7955279" cy="685800"/>
          </a:xfrm>
          <a:prstGeom prst="roundRect">
            <a:avLst>
              <a:gd name="adj" fmla="val 8000"/>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758952" y="3877056"/>
            <a:ext cx="484632" cy="274320"/>
          </a:xfrm>
          <a:prstGeom prst="rect">
            <a:avLst/>
          </a:prstGeom>
          <a:noFill/>
        </p:spPr>
        <p:txBody>
          <a:bodyPr wrap="square" lIns="0" rIns="0" tIns="0" bIns="0">
            <a:spAutoFit/>
          </a:bodyPr>
          <a:lstStyle/>
          <a:p>
            <a:pPr algn="l">
              <a:spcAft>
                <a:spcPts val="400"/>
              </a:spcAft>
              <a:defRPr sz="1800" b="1">
                <a:solidFill>
                  <a:srgbClr val="087F8C"/>
                </a:solidFill>
                <a:latin typeface="Arial"/>
              </a:defRPr>
            </a:pPr>
            <a:r>
              <a:t>03</a:t>
            </a:r>
          </a:p>
        </p:txBody>
      </p:sp>
      <p:sp>
        <p:nvSpPr>
          <p:cNvPr id="322" name="TextBox 321"/>
          <p:cNvSpPr txBox="1"/>
          <p:nvPr/>
        </p:nvSpPr>
        <p:spPr>
          <a:xfrm>
            <a:off x="1353312" y="3813048"/>
            <a:ext cx="6949440" cy="237744"/>
          </a:xfrm>
          <a:prstGeom prst="rect">
            <a:avLst/>
          </a:prstGeom>
          <a:noFill/>
        </p:spPr>
        <p:txBody>
          <a:bodyPr wrap="square" lIns="0" rIns="0" tIns="0" bIns="0">
            <a:spAutoFit/>
          </a:bodyPr>
          <a:lstStyle/>
          <a:p>
            <a:pPr algn="l">
              <a:spcAft>
                <a:spcPts val="400"/>
              </a:spcAft>
              <a:defRPr sz="1600" b="1">
                <a:solidFill>
                  <a:srgbClr val="193354"/>
                </a:solidFill>
                <a:latin typeface="Arial"/>
              </a:defRPr>
            </a:pPr>
            <a:r>
              <a:t>A Better Signal for Learning</a:t>
            </a:r>
          </a:p>
        </p:txBody>
      </p:sp>
      <p:sp>
        <p:nvSpPr>
          <p:cNvPr id="323" name="TextBox 322"/>
          <p:cNvSpPr txBox="1"/>
          <p:nvPr/>
        </p:nvSpPr>
        <p:spPr>
          <a:xfrm>
            <a:off x="1353312" y="4105656"/>
            <a:ext cx="6903720" cy="237744"/>
          </a:xfrm>
          <a:prstGeom prst="rect">
            <a:avLst/>
          </a:prstGeom>
          <a:noFill/>
        </p:spPr>
        <p:txBody>
          <a:bodyPr wrap="square" lIns="0" rIns="0" tIns="0" bIns="0">
            <a:spAutoFit/>
          </a:bodyPr>
          <a:lstStyle/>
          <a:p>
            <a:pPr algn="l">
              <a:spcAft>
                <a:spcPts val="400"/>
              </a:spcAft>
              <a:defRPr sz="1200" b="0">
                <a:solidFill>
                  <a:srgbClr val="53657C"/>
                </a:solidFill>
                <a:latin typeface="Arial"/>
              </a:defRPr>
            </a:pPr>
            <a:r>
              <a:t>Math and tool-use gains across both evaluated model families.</a:t>
            </a:r>
          </a:p>
        </p:txBody>
      </p:sp>
      <p:sp>
        <p:nvSpPr>
          <p:cNvPr id="324" name="TextBox 323"/>
          <p:cNvSpPr txBox="1"/>
          <p:nvPr/>
        </p:nvSpPr>
        <p:spPr>
          <a:xfrm>
            <a:off x="594360" y="4599432"/>
            <a:ext cx="7955279" cy="457200"/>
          </a:xfrm>
          <a:prstGeom prst="rect">
            <a:avLst/>
          </a:prstGeom>
          <a:noFill/>
        </p:spPr>
        <p:txBody>
          <a:bodyPr wrap="square" lIns="0" rIns="0" tIns="0" bIns="0">
            <a:spAutoFit/>
          </a:bodyPr>
          <a:lstStyle/>
          <a:p>
            <a:pPr algn="l">
              <a:spcAft>
                <a:spcPts val="400"/>
              </a:spcAft>
              <a:defRPr sz="1200" b="1">
                <a:solidFill>
                  <a:srgbClr val="087F8C"/>
                </a:solidFill>
                <a:latin typeface="Arial"/>
              </a:defRPr>
            </a:pPr>
            <a:r>
              <a:t>Build reusable criteria for intermediate behavior—not a new grading standard for every answer.</a:t>
            </a:r>
          </a:p>
        </p:txBody>
      </p:sp>
      <p:pic>
        <p:nvPicPr>
          <p:cNvPr id="325" name="Picture 324" descr="scribe-project-qr.png">
            <a:hlinkClick r:id="rId5"/>
          </p:cNvPr>
          <p:cNvPicPr>
            <a:picLocks noChangeAspect="1"/>
          </p:cNvPicPr>
          <p:nvPr/>
        </p:nvPicPr>
        <p:blipFill>
          <a:blip r:embed="rId4"/>
          <a:stretch>
            <a:fillRect/>
          </a:stretch>
        </p:blipFill>
        <p:spPr>
          <a:xfrm>
            <a:off x="7571231" y="1024128"/>
            <a:ext cx="914400" cy="914400"/>
          </a:xfrm>
          <a:prstGeom prst="rect">
            <a:avLst/>
          </a:prstGeom>
        </p:spPr>
      </p:pic>
      <p:sp>
        <p:nvSpPr>
          <p:cNvPr id="326" name="TextBox 325"/>
          <p:cNvSpPr txBox="1"/>
          <p:nvPr/>
        </p:nvSpPr>
        <p:spPr>
          <a:xfrm>
            <a:off x="7388352" y="1947672"/>
            <a:ext cx="1280160" cy="164592"/>
          </a:xfrm>
          <a:prstGeom prst="rect">
            <a:avLst/>
          </a:prstGeom>
          <a:noFill/>
        </p:spPr>
        <p:txBody>
          <a:bodyPr wrap="none" tIns="0" bIns="0" lIns="0" rIns="0">
            <a:spAutoFit/>
          </a:bodyPr>
          <a:lstStyle/>
          <a:p>
            <a:pPr algn="ctr">
              <a:defRPr sz="900" b="1">
                <a:solidFill>
                  <a:srgbClr val="193354"/>
                </a:solidFill>
                <a:latin typeface="Arial"/>
              </a:defRPr>
            </a:pPr>
            <a:r>
              <a:rPr>
                <a:hlinkClick r:id="rId5"/>
              </a:rPr>
              <a:t>Project &amp; Slides</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