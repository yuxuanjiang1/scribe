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7.xml" ContentType="application/vnd.openxmlformats-officedocument.presentationml.comments+xml"/>
  <Override PartName="/ppt/comments/comment8.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1"/>
  </p:notesMasterIdLst>
  <p:sldIdLst>
    <p:sldId id="256"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embeddedFontLst>
    <p:embeddedFont>
      <p:font typeface="Play" pitchFamily="2" charset="0"/>
      <p:regular r:id="rId22"/>
      <p:bold r:id="rId23"/>
    </p:embeddedFont>
    <p:embeddedFont>
      <p:font typeface="Tahoma" panose="020B0604030504040204" pitchFamily="34" charset="0"/>
      <p:regular r:id="rId24"/>
      <p:bold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rank Ferraro" initials="" lastIdx="16"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0C7E03B-85A4-41BA-8E18-2549407F5BF5}">
  <a:tblStyle styleId="{60C7E03B-85A4-41BA-8E18-2549407F5BF5}"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DFD"/>
          </a:solidFill>
        </a:fill>
      </a:tcStyle>
    </a:wholeTbl>
    <a:band1H>
      <a:tcTxStyle/>
      <a:tcStyle>
        <a:tcBdr/>
        <a:fill>
          <a:solidFill>
            <a:srgbClr val="CDD8FB"/>
          </a:solidFill>
        </a:fill>
      </a:tcStyle>
    </a:band1H>
    <a:band2H>
      <a:tcTxStyle/>
      <a:tcStyle>
        <a:tcBdr/>
      </a:tcStyle>
    </a:band2H>
    <a:band1V>
      <a:tcTxStyle/>
      <a:tcStyle>
        <a:tcBdr/>
        <a:fill>
          <a:solidFill>
            <a:srgbClr val="CDD8FB"/>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82EE666F-F67E-475C-9374-94149FA58177}"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DFD"/>
          </a:solidFill>
        </a:fill>
      </a:tcStyle>
    </a:wholeTbl>
    <a:band1H>
      <a:tcTxStyle b="off" i="off"/>
      <a:tcStyle>
        <a:tcBdr/>
        <a:fill>
          <a:solidFill>
            <a:srgbClr val="CDD8FB"/>
          </a:solidFill>
        </a:fill>
      </a:tcStyle>
    </a:band1H>
    <a:band2H>
      <a:tcTxStyle b="off" i="off"/>
      <a:tcStyle>
        <a:tcBdr/>
      </a:tcStyle>
    </a:band2H>
    <a:band1V>
      <a:tcTxStyle b="off" i="off"/>
      <a:tcStyle>
        <a:tcBdr/>
        <a:fill>
          <a:solidFill>
            <a:srgbClr val="CDD8FB"/>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61" d="100"/>
          <a:sy n="161" d="100"/>
        </p:scale>
        <p:origin x="784" y="20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9-28T17:29:34.463" idx="3">
    <p:pos x="288" y="1257"/>
    <p:text>If you're comfortable doing so, I think it's nice to add photos of people.
You should also bold your name (as presenter).</p:text>
  </p:cm>
  <p:cm authorId="0" dt="2026-09-28T17:29:42.705" idx="1">
    <p:pos x="288" y="2966"/>
    <p:text>People at the talk will know that they're listening to an EMNLP talk. Instead, use this valuable real estate for something like a link to the project / paper, a QR code, etc.</p:text>
  </p:cm>
  <p:cm authorId="0" dt="2026-09-28T17:29:42.705" idx="2">
    <p:pos x="288" y="2966"/>
    <p:text>Also, include your email.</p:text>
  </p:cm>
  <p:cm authorId="0" dt="2026-09-28T17:43:09.284" idx="4">
    <p:pos x="6000" y="0"/>
    <p:text>At some point, within the first 2 minutes of this presentation, you need to give a slide summarizing the contributions of the work.</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9-28T17:37:33.809" idx="8">
    <p:pos x="780" y="505"/>
    <p:text>Do a slow reveal here. First, focus on the left. Then, reveal the right and discuss that.
One critical thing missing here is *what* reward are you talking about?</p:text>
  </p:cm>
  <p:cm authorId="0" dt="2026-09-28T17:38:14.028" idx="9">
    <p:pos x="780" y="605"/>
    <p:text>In the left, don't say "Anyway, final answer..." Please rephrase it to something more professional.
In the right, "Syntax sames not perfect" is grammatically bad.</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9-28T17:31:35.320" idx="10">
    <p:pos x="3180" y="1158"/>
    <p:text>* The cropping removes part of the horizontal axis.
* What do the "Simple RFT" and "Naive Path" text mean, or correspond to?
* How does this graph relate to the left side of the slide?</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9-28T17:41:53.035" idx="11">
    <p:pos x="276" y="103"/>
    <p:text>Good idea with summarizing with a tagline, but this current version is confusing. First, is this "Process Reward is not about ..." describing the idea behind SCRIBE? Or is it summarizing the limitations of past work?
Second, if it's about SCRIBE, isn't possible to make multiple errors that cancel out? So isn't it more appropriate to say "Not Just about 'Correct'?"
Please revise.</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9-28T17:44:22.815" idx="12">
    <p:pos x="334" y="599"/>
    <p:text>Remove from the slide, keep it in the voice track.</p:text>
  </p:cm>
  <p:cm authorId="0" dt="2026-09-28T17:45:19.198" idx="13">
    <p:pos x="334" y="1595"/>
    <p:text>Before presenting this table, give an example of what this experiment looks like.</p:text>
  </p:cm>
</p:cmLst>
</file>

<file path=ppt/comments/comment6.xml><?xml version="1.0" encoding="utf-8"?>
<p:cmLst xmlns:a="http://schemas.openxmlformats.org/drawingml/2006/main" xmlns:r="http://schemas.openxmlformats.org/officeDocument/2006/relationships" xmlns:p="http://schemas.openxmlformats.org/presentationml/2006/main">
  <p:cm authorId="0" dt="2026-09-28T17:45:33.568" idx="14">
    <p:pos x="2949" y="1595"/>
    <p:text>And here, before presenting this  second table, give an example of what this experiment looks like.</p:text>
  </p:cm>
</p:cmLst>
</file>

<file path=ppt/comments/comment7.xml><?xml version="1.0" encoding="utf-8"?>
<p:cmLst xmlns:a="http://schemas.openxmlformats.org/drawingml/2006/main" xmlns:r="http://schemas.openxmlformats.org/officeDocument/2006/relationships" xmlns:p="http://schemas.openxmlformats.org/presentationml/2006/main">
  <p:cm authorId="0" dt="2026-09-28T17:46:09.417" idx="15">
    <p:pos x="950" y="794"/>
    <p:text>Make these model headers into row-spanning columns.</p:text>
  </p:cm>
</p:cmLst>
</file>

<file path=ppt/comments/comment8.xml><?xml version="1.0" encoding="utf-8"?>
<p:cmLst xmlns:a="http://schemas.openxmlformats.org/drawingml/2006/main" xmlns:r="http://schemas.openxmlformats.org/officeDocument/2006/relationships" xmlns:p="http://schemas.openxmlformats.org/presentationml/2006/main">
  <p:cm authorId="0" dt="2026-09-28T17:46:28.734" idx="16">
    <p:pos x="6000" y="0"/>
    <p:text>Include a link or QR code.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h6c8d82ef383c8eb1_2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h6c8d82ef383c8eb1_2_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Hello everyone. I’m Yuxuan Jiang from the University of Maryland, Baltimore County. This is joint work with my advisor, Francis Ferraro. Today I’ll present SCRIBE. Our core contribution is reusable rubrics: shared scoring criteria for reasoning skills that can be applied across different problems. Instead of creating a new rubric around each problem’s reference answer, we organize evaluation around what an intermediate reasoning step is trying to accomplish. I’ll show how we build these rubrics, how they guide reinforcement learning, and why reuse helps make rewards more consistent. The QR code links to our project and slides.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h3ad69f7a908f471c_0_0: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 name="Google Shape;127;h3ad69f7a908f471c_0_0: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Let’s start with the problem. These two trajectories illustrate two ways an LLM judge can give a misleading reward. On the left, the model reaches the correct final answer through flawed reasoning, but receives a high reward. On the right, the strategy is sound, but a minor syntax error leads to a low reward. These are illustrative examples. The issue is that a correct final answer and a well-executed reasoning process are different things. Without explicit criteria for the behavior being evaluated, the judge can reward the wrong thing or penalize useful progress.</a:t>
            </a:r>
          </a:p>
        </p:txBody>
      </p:sp>
      <p:sp>
        <p:nvSpPr>
          <p:cNvPr id="128" name="Google Shape;128;h3ad69f7a908f471c_0_0: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2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h6c8d82ef383c8eb1_2_58: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h6c8d82ef383c8eb1_2_58: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That distinction matters during reinforcement learning. The reward is the signal that tells the policy which behaviors to repeat. If it overlooks reasoning flaws or over-penalizes small execution errors, training can reinforce the wrong behavior. The curve on the right illustrates the instability that motivates this work. Our response is to make the evaluation standard explicit and reusable, so that a step is judged against a clear intermediate objective.</a:t>
            </a:r>
          </a:p>
        </p:txBody>
      </p:sp>
      <p:sp>
        <p:nvSpPr>
          <p:cNvPr id="139" name="Google Shape;139;h6c8d82ef383c8eb1_2_58: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2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h6c8d82ef383c8eb1_2_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h6c8d82ef383c8eb1_2_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SCRIBE starts by identifying what each part of a trajectory is trying to accomplish. Consider a solution that factorizes a number, filters the factors, and then sums the remaining values. Each stage has a different objective and calls for a different skill. Rather than judging the entire trace with one vague standard, we evaluate whether each subgoal has been completed appropriately. This gives us a useful middle level between the final answer and individual tokens or lines of code.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h6c8d82ef383c8eb1_2_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h6c8d82ef383c8eb1_2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We build a library from reasoning trajectories. First, we extract subgoals, the skills they require, and the corresponding spans of reasoning. Then we group similar skills and distill each group into a skill prototype. A prototype describes when the skill applies, what successful execution looks like, and common mistakes with their scores. Crucially, it abstracts away the particular numbers and final answer. That is what makes the rubric reusable across instances.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h6c8d82ef383c8eb1_2_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h6c8d82ef383c8eb1_2_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During training, the policy generates a trajectory. A router identifies its subgoals and matches them to the appropriate prototypes. The judge then scores each subgoal using the retrieved rubric. We aggregate these scores into a process reward and use that reward for policy optimization with GRPO. The judge still interprets the reasoning, but it now has a shared checklist to follow. The prototype library provides a consistent reference for evaluating the same skill across different rollouts.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h6c8d82ef383c8eb1_2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h6c8d82ef383c8eb1_2_8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Here is a concrete prototype: drawing a conclusion from bounds. Suppose a solution establishes an upper bound and then claims that it is the maximum. The rubric asks whether the bound is attainable, whether the domain constraints are satisfied, and whether the relevant cases are covered. A rigorous conclusion receives the highest score. A correct-looking answer with an unproved tightness claim receives a lower score. These checks apply to many different optimization problems. We reuse the reasoning standard, without requiring a separate reference solution for each one.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h6c8d82ef383c8eb1_2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h6c8d82ef383c8eb1_2_1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A natural comparison is instance-level rubric generation. RaR uses a reference answer to construct criteria for an individual problem. This makes evaluation explicit, but the criteria depend on the reference and must be constructed for that instance. Our question is whether a shared skill-level standard can provide useful supervision without that dependency. The next results compare the two approaches on mathematical reasoning and tool use.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h262f46c5cd7ede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h262f46c5cd7ede5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With SCRIBE, the rubric construction does not require reference answers. In this comparison, SCRIBE reaches 95.8 on MATH500, 63.3 on AIME25, and 51.3 on BFCL overall. It outperforms the reference-based RaR configuration shown here on all three measures. The important point is that removing the reference-answer dependency does not force us to abandon explicit criteria. We obtain those criteria from reusable reasoning skills instead.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h6c8d82ef383c8eb1_2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h6c8d82ef383c8eb1_2_1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Here we evaluate repeatability. We give the reward judge one complete trajectory and ask it to assign a reward. Then we repeat that evaluation ten times with independent sampling. The problem, trajectory, judge, and rubric, when one is used, stay fixed. The schematic deliberately leaves the trajectory abstract: this test is about whether the same input receives a consistent reward. We report agreement and reward standard deviation across the experimental inputs. SCRIBE has the highest agreement and lowest variation among the methods shown.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h262f46c5cd7ede53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h262f46c5cd7ede5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This test compares matching behaviors across different trajectories. Think back to the factorize, filter, and sum sequence. Trajectory A finds factors of 196 and should retain only factors below 14. Trajectory B finds factors of 144 and should retain only factors below 12. In both illustrations, the filtering step makes the same mistake: it includes the boundary value, using less than or equal to instead of strictly less than. We compare the rewards for those highlighted subgoal spans, not the entire trajectories. Do the same skill and the same failure receive consistent scores despite different problems? The table reports the aggregate experiment across 50 matched groups, not measured rewards for these illustrative sequences. SCRIBE uses a shared skill rubric and achieves higher agreement and a smaller reward gap.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h262f46c5cd7ede5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h262f46c5cd7ede53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These results address two complementary concerns. Repeated scoring tests whether the reward changes when the input does not. Cross-instance scoring tests whether it changes unnecessarily when the problem changes but the behavior stays the same. SCRIBE improves both measures in these experiments. Together, they support the role of reusable skill rubrics as a more consistent source of process supervision.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h6c8d82ef383c8eb1_2_140:notes"/>
          <p:cNvSpPr>
            <a:spLocks noGrp="1" noRot="1" noChangeAspect="1"/>
          </p:cNvSpPr>
          <p:nvPr>
            <p:ph type="sldImg" idx="2"/>
          </p:nvPr>
        </p:nvSpPr>
        <p:spPr>
          <a:xfrm>
            <a:off x="397565" y="880672"/>
            <a:ext cx="6063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h6c8d82ef383c8eb1_2_140: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We next ask whether these rewards translate into better task performance. We evaluate mathematical reasoning on MATH500 and AIME25, using both Qwen and LLaMA backbones. The base and standard PRM rows provide reference points. This lets us check whether the benefit extends beyond scoring consistency to the behavior of the trained policy.</a:t>
            </a:r>
          </a:p>
        </p:txBody>
      </p:sp>
      <p:sp>
        <p:nvSpPr>
          <p:cNvPr id="254" name="Google Shape;254;h6c8d82ef383c8eb1_2_140: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h6c8d82ef383c8eb1_2_147:notes"/>
          <p:cNvSpPr>
            <a:spLocks noGrp="1" noRot="1" noChangeAspect="1"/>
          </p:cNvSpPr>
          <p:nvPr>
            <p:ph type="sldImg" idx="2"/>
          </p:nvPr>
        </p:nvSpPr>
        <p:spPr>
          <a:xfrm>
            <a:off x="397565" y="880672"/>
            <a:ext cx="6063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h6c8d82ef383c8eb1_2_147: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Adding SCRIBE improves both models on both benchmarks shown here. For Qwen, AIME25 improves from 43.3 for the base model to 63.3 with SCRIBE, compared with 51.7 using the standard PRM. For LLaMA, MATH500 improves from 40.8 to 63.4. The main message is that better-structured process supervision is accompanied by stronger final task performance across the two backbones.</a:t>
            </a:r>
          </a:p>
        </p:txBody>
      </p:sp>
      <p:sp>
        <p:nvSpPr>
          <p:cNvPr id="262" name="Google Shape;262;h6c8d82ef383c8eb1_2_147: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h6c8d82ef383c8eb1_2_1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We also evaluate tool use with BFCL V4. Here, success requires selecting an appropriate tool, supplying suitable arguments, and coordinating calls when the task involves multiple steps. The benchmark includes search, memory, single-turn, and multi-turn settings. These tasks provide a different test of our approach: reusable skills must support tool-using behavior as well as mathematical reasoning.</a:t>
            </a:r>
          </a:p>
        </p:txBody>
      </p:sp>
      <p:sp>
        <p:nvSpPr>
          <p:cNvPr id="269" name="Google Shape;269;h6c8d82ef383c8eb1_2_1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h6c8d82ef383c8eb1_2_174: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0" name="Google Shape;290;h6c8d82ef383c8eb1_2_174: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This table places the tool-use results beside the math results. Looking first at the base model and standard PRM rows, process supervision already provides a useful improvement in several settings. The remaining question is whether conditioning the reward on reusable skill rubrics provides additional gains. I’ll reveal those rows next.</a:t>
            </a:r>
          </a:p>
        </p:txBody>
      </p:sp>
      <p:sp>
        <p:nvSpPr>
          <p:cNvPr id="291" name="Google Shape;291;h6c8d82ef383c8eb1_2_174: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h6c8d82ef383c8eb1_2_181:notes"/>
          <p:cNvSpPr>
            <a:spLocks noGrp="1" noRot="1" noChangeAspect="1"/>
          </p:cNvSpPr>
          <p:nvPr>
            <p:ph type="sldImg" idx="2"/>
          </p:nvPr>
        </p:nvSpPr>
        <p:spPr>
          <a:xfrm>
            <a:off x="381000" y="881063"/>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8" name="Google Shape;298;h6c8d82ef383c8eb1_2_181:notes"/>
          <p:cNvSpPr txBox="1">
            <a:spLocks noGrp="1"/>
          </p:cNvSpPr>
          <p:nvPr>
            <p:ph type="body" idx="1"/>
          </p:nvPr>
        </p:nvSpPr>
        <p:spPr>
          <a:xfrm>
            <a:off x="685800" y="4572000"/>
            <a:ext cx="5486400" cy="3886200"/>
          </a:xfrm>
          <a:prstGeom prst="rect">
            <a:avLst/>
          </a:prstGeom>
          <a:noFill/>
          <a:ln>
            <a:noFill/>
          </a:ln>
        </p:spPr>
        <p:txBody>
          <a:bodyPr spcFirstLastPara="1" wrap="square" lIns="91425" tIns="91425" rIns="91425" bIns="91425" anchor="t" anchorCtr="0">
            <a:noAutofit/>
          </a:bodyPr>
          <a:lstStyle/>
          <a:p>
            <a:r>
              <a:t>SCRIBE improves BFCL overall performance for both backbones shown here. Qwen rises from 33.0 at the base model to 51.3 with SCRIBE, while LLaMA rises from 21.5 to 30.8. The gains also appear in the single-turn and multi-turn results. Together with the math evaluation, these results suggest that reusable skill-level criteria can provide effective supervision across different task types.</a:t>
            </a:r>
          </a:p>
        </p:txBody>
      </p:sp>
      <p:sp>
        <p:nvSpPr>
          <p:cNvPr id="299" name="Google Shape;299;h6c8d82ef383c8eb1_2_181:notes"/>
          <p:cNvSpPr txBox="1">
            <a:spLocks noGrp="1"/>
          </p:cNvSpPr>
          <p:nvPr>
            <p:ph type="sldNum" idx="12"/>
          </p:nvPr>
        </p:nvSpPr>
        <p:spPr>
          <a:xfrm>
            <a:off x="3884613" y="8685213"/>
            <a:ext cx="2971800" cy="457200"/>
          </a:xfrm>
          <a:prstGeom prst="rect">
            <a:avLst/>
          </a:prstGeom>
          <a:noFill/>
          <a:ln>
            <a:noFill/>
          </a:ln>
        </p:spPr>
        <p:txBody>
          <a:bodyPr spcFirstLastPara="1" wrap="square" lIns="89600" tIns="89600" rIns="89600" bIns="89600" anchor="ctr"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h6c8d82ef383c8eb1_2_1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h6c8d82ef383c8eb1_2_1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The takeaway is simple: reuse the evaluation standard, rather than building it around each reference answer. SCRIBE turns recurring reasoning skills into reusable rubrics, uses those rubrics to score intermediate behavior, and trains the policy with the resulting rewards. Our experiments show more consistent scoring and stronger performance on mathematical reasoning and tool use. The core contribution is reusable rubrics for process rewards. Thank you. The QR code links to the project and slides, and I’d be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and_Content">
  <p:cSld name="Title_and_Content">
    <p:spTree>
      <p:nvGrpSpPr>
        <p:cNvPr id="1" name="Shape 50"/>
        <p:cNvGrpSpPr/>
        <p:nvPr/>
      </p:nvGrpSpPr>
      <p:grpSpPr>
        <a:xfrm>
          <a:off x="0" y="0"/>
          <a:ext cx="0" cy="0"/>
          <a:chOff x="0" y="0"/>
          <a:chExt cx="0" cy="0"/>
        </a:xfrm>
      </p:grpSpPr>
      <p:sp>
        <p:nvSpPr>
          <p:cNvPr id="51" name="Google Shape;51;p13"/>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52" name="Google Shape;52;p13"/>
          <p:cNvSpPr txBox="1">
            <a:spLocks noGrp="1"/>
          </p:cNvSpPr>
          <p:nvPr>
            <p:ph type="sldNum" idx="12"/>
          </p:nvPr>
        </p:nvSpPr>
        <p:spPr>
          <a:xfrm>
            <a:off x="8102430" y="4914900"/>
            <a:ext cx="762000" cy="2193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9pPr>
          </a:lstStyle>
          <a:p>
            <a:pPr marL="0" lvl="0" indent="0" algn="r" rtl="0">
              <a:spcBef>
                <a:spcPts val="0"/>
              </a:spcBef>
              <a:spcAft>
                <a:spcPts val="0"/>
              </a:spcAft>
              <a:buNone/>
            </a:pPr>
            <a:fld id="{00000000-1234-1234-1234-123412341234}" type="slidenum">
              <a:rPr lang="en"/>
              <a:t>‹#›</a:t>
            </a:fld>
            <a:endParaRPr/>
          </a:p>
        </p:txBody>
      </p:sp>
      <p:sp>
        <p:nvSpPr>
          <p:cNvPr id="53" name="Google Shape;53;p13"/>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54" name="Google Shape;54;p13"/>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cxnSp>
        <p:nvCxnSpPr>
          <p:cNvPr id="55" name="Google Shape;55;p13"/>
          <p:cNvCxnSpPr/>
          <p:nvPr/>
        </p:nvCxnSpPr>
        <p:spPr>
          <a:xfrm>
            <a:off x="381000" y="630077"/>
            <a:ext cx="8382000" cy="1200"/>
          </a:xfrm>
          <a:prstGeom prst="straightConnector1">
            <a:avLst/>
          </a:prstGeom>
          <a:noFill/>
          <a:ln w="16675" cap="flat" cmpd="sng">
            <a:solidFill>
              <a:srgbClr val="0F5E90"/>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_and_Content 1">
  <p:cSld name="Title_and_Content_1">
    <p:spTree>
      <p:nvGrpSpPr>
        <p:cNvPr id="1" name="Shape 56"/>
        <p:cNvGrpSpPr/>
        <p:nvPr/>
      </p:nvGrpSpPr>
      <p:grpSpPr>
        <a:xfrm>
          <a:off x="0" y="0"/>
          <a:ext cx="0" cy="0"/>
          <a:chOff x="0" y="0"/>
          <a:chExt cx="0" cy="0"/>
        </a:xfrm>
      </p:grpSpPr>
      <p:sp>
        <p:nvSpPr>
          <p:cNvPr id="57" name="Google Shape;57;p14"/>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58" name="Google Shape;58;p14"/>
          <p:cNvSpPr txBox="1">
            <a:spLocks noGrp="1"/>
          </p:cNvSpPr>
          <p:nvPr>
            <p:ph type="sldNum" idx="12"/>
          </p:nvPr>
        </p:nvSpPr>
        <p:spPr>
          <a:xfrm>
            <a:off x="8102430" y="4914900"/>
            <a:ext cx="762000" cy="2193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98989"/>
                </a:solidFill>
                <a:latin typeface="Tahoma"/>
                <a:ea typeface="Tahoma"/>
                <a:cs typeface="Tahoma"/>
                <a:sym typeface="Tahoma"/>
              </a:defRPr>
            </a:lvl9pPr>
          </a:lstStyle>
          <a:p>
            <a:pPr marL="0" lvl="0" indent="0" algn="r" rtl="0">
              <a:spcBef>
                <a:spcPts val="0"/>
              </a:spcBef>
              <a:spcAft>
                <a:spcPts val="0"/>
              </a:spcAft>
              <a:buNone/>
            </a:pPr>
            <a:fld id="{00000000-1234-1234-1234-123412341234}" type="slidenum">
              <a:rPr lang="en"/>
              <a:t>‹#›</a:t>
            </a:fld>
            <a:endParaRPr/>
          </a:p>
        </p:txBody>
      </p:sp>
      <p:sp>
        <p:nvSpPr>
          <p:cNvPr id="59" name="Google Shape;59;p14"/>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60" name="Google Shape;60;p14"/>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cxnSp>
        <p:nvCxnSpPr>
          <p:cNvPr id="61" name="Google Shape;61;p14"/>
          <p:cNvCxnSpPr/>
          <p:nvPr/>
        </p:nvCxnSpPr>
        <p:spPr>
          <a:xfrm>
            <a:off x="381000" y="630077"/>
            <a:ext cx="8382000" cy="1200"/>
          </a:xfrm>
          <a:prstGeom prst="straightConnector1">
            <a:avLst/>
          </a:prstGeom>
          <a:noFill/>
          <a:ln w="16675" cap="flat" cmpd="sng">
            <a:solidFill>
              <a:srgbClr val="0F5E90"/>
            </a:solidFill>
            <a:prstDash val="solid"/>
            <a:round/>
            <a:headEnd type="none" w="sm" len="sm"/>
            <a:tailEnd type="none" w="sm" len="sm"/>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5"/>
        <p:cNvGrpSpPr/>
        <p:nvPr/>
      </p:nvGrpSpPr>
      <p:grpSpPr>
        <a:xfrm>
          <a:off x="0" y="0"/>
          <a:ext cx="0" cy="0"/>
          <a:chOff x="0" y="0"/>
          <a:chExt cx="0" cy="0"/>
        </a:xfrm>
      </p:grpSpPr>
      <p:sp>
        <p:nvSpPr>
          <p:cNvPr id="66" name="Google Shape;66;p1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67" name="Google Shape;67;p1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_and_Content">
  <p:cSld name="Title_and_Content">
    <p:spTree>
      <p:nvGrpSpPr>
        <p:cNvPr id="1" name="Shape 68"/>
        <p:cNvGrpSpPr/>
        <p:nvPr/>
      </p:nvGrpSpPr>
      <p:grpSpPr>
        <a:xfrm>
          <a:off x="0" y="0"/>
          <a:ext cx="0" cy="0"/>
          <a:chOff x="0" y="0"/>
          <a:chExt cx="0" cy="0"/>
        </a:xfrm>
      </p:grpSpPr>
      <p:sp>
        <p:nvSpPr>
          <p:cNvPr id="69" name="Google Shape;69;p17"/>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70" name="Google Shape;70;p17"/>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71" name="Google Shape;71;p17"/>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4" name="Google Shape;74;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_and_Content 1">
  <p:cSld name="Title_and_Content_1">
    <p:spTree>
      <p:nvGrpSpPr>
        <p:cNvPr id="1" name="Shape 75"/>
        <p:cNvGrpSpPr/>
        <p:nvPr/>
      </p:nvGrpSpPr>
      <p:grpSpPr>
        <a:xfrm>
          <a:off x="0" y="0"/>
          <a:ext cx="0" cy="0"/>
          <a:chOff x="0" y="0"/>
          <a:chExt cx="0" cy="0"/>
        </a:xfrm>
      </p:grpSpPr>
      <p:sp>
        <p:nvSpPr>
          <p:cNvPr id="76" name="Google Shape;76;p19"/>
          <p:cNvSpPr txBox="1">
            <a:spLocks noGrp="1"/>
          </p:cNvSpPr>
          <p:nvPr>
            <p:ph type="ftr" idx="11"/>
          </p:nvPr>
        </p:nvSpPr>
        <p:spPr>
          <a:xfrm>
            <a:off x="1333500" y="4912520"/>
            <a:ext cx="6477000" cy="2238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77" name="Google Shape;77;p19"/>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lvl1pPr marL="457200" lvl="0" indent="-3175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marL="914400" lvl="1" indent="-304800" algn="l">
              <a:lnSpc>
                <a:spcPct val="100000"/>
              </a:lnSpc>
              <a:spcBef>
                <a:spcPts val="200"/>
              </a:spcBef>
              <a:spcAft>
                <a:spcPts val="0"/>
              </a:spcAft>
              <a:buClr>
                <a:schemeClr val="dk1"/>
              </a:buClr>
              <a:buSzPts val="1200"/>
              <a:buFont typeface="Arial"/>
              <a:buChar char="•"/>
              <a:defRPr sz="1200"/>
            </a:lvl2pPr>
            <a:lvl3pPr marL="1371600" lvl="2" indent="-298450" algn="l">
              <a:lnSpc>
                <a:spcPct val="100000"/>
              </a:lnSpc>
              <a:spcBef>
                <a:spcPts val="200"/>
              </a:spcBef>
              <a:spcAft>
                <a:spcPts val="0"/>
              </a:spcAft>
              <a:buClr>
                <a:schemeClr val="dk1"/>
              </a:buClr>
              <a:buSzPts val="1100"/>
              <a:buFont typeface="Arial"/>
              <a:buChar char="•"/>
              <a:defRPr sz="1100"/>
            </a:lvl3pPr>
            <a:lvl4pPr marL="1828800" lvl="3" indent="-292100" algn="l">
              <a:lnSpc>
                <a:spcPct val="100000"/>
              </a:lnSpc>
              <a:spcBef>
                <a:spcPts val="200"/>
              </a:spcBef>
              <a:spcAft>
                <a:spcPts val="0"/>
              </a:spcAft>
              <a:buClr>
                <a:schemeClr val="dk1"/>
              </a:buClr>
              <a:buSzPts val="1000"/>
              <a:buFont typeface="Arial"/>
              <a:buChar char="•"/>
              <a:defRPr sz="1000"/>
            </a:lvl4pPr>
            <a:lvl5pPr marL="2286000" lvl="4" indent="-292100" algn="l">
              <a:lnSpc>
                <a:spcPct val="100000"/>
              </a:lnSpc>
              <a:spcBef>
                <a:spcPts val="200"/>
              </a:spcBef>
              <a:spcAft>
                <a:spcPts val="0"/>
              </a:spcAft>
              <a:buClr>
                <a:schemeClr val="dk1"/>
              </a:buClr>
              <a:buSzPts val="1000"/>
              <a:buFont typeface="Arial"/>
              <a:buChar char="•"/>
              <a:defRPr sz="1000"/>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78" name="Google Shape;78;p19"/>
          <p:cNvSpPr txBox="1">
            <a:spLocks noGrp="1"/>
          </p:cNvSpPr>
          <p:nvPr>
            <p:ph type="ctrTitle"/>
          </p:nvPr>
        </p:nvSpPr>
        <p:spPr>
          <a:xfrm>
            <a:off x="1622425" y="113564"/>
            <a:ext cx="7140600" cy="459600"/>
          </a:xfrm>
          <a:prstGeom prst="rect">
            <a:avLst/>
          </a:prstGeom>
          <a:noFill/>
          <a:ln>
            <a:noFill/>
          </a:ln>
        </p:spPr>
        <p:txBody>
          <a:bodyPr spcFirstLastPara="1" wrap="square" lIns="68575" tIns="34275" rIns="68575" bIns="34275" anchor="ctr" anchorCtr="0">
            <a:normAutofit/>
          </a:bodyPr>
          <a:lstStyle>
            <a:lvl1pPr lvl="0" algn="l">
              <a:lnSpc>
                <a:spcPct val="100000"/>
              </a:lnSpc>
              <a:spcBef>
                <a:spcPts val="0"/>
              </a:spcBef>
              <a:spcAft>
                <a:spcPts val="0"/>
              </a:spcAft>
              <a:buClr>
                <a:schemeClr val="dk1"/>
              </a:buClr>
              <a:buSzPts val="1800"/>
              <a:buFont typeface="Tahoma"/>
              <a:buNone/>
              <a:defRPr sz="1800" b="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1"/>
        <p:cNvGrpSpPr/>
        <p:nvPr/>
      </p:nvGrpSpPr>
      <p:grpSpPr>
        <a:xfrm>
          <a:off x="0" y="0"/>
          <a:ext cx="0" cy="0"/>
          <a:chOff x="0" y="0"/>
          <a:chExt cx="0" cy="0"/>
        </a:xfrm>
      </p:grpSpPr>
      <p:sp>
        <p:nvSpPr>
          <p:cNvPr id="82" name="Google Shape;82;p2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83"/>
        <p:cNvGrpSpPr/>
        <p:nvPr/>
      </p:nvGrpSpPr>
      <p:grpSpPr>
        <a:xfrm>
          <a:off x="0" y="0"/>
          <a:ext cx="0" cy="0"/>
          <a:chOff x="0" y="0"/>
          <a:chExt cx="0" cy="0"/>
        </a:xfrm>
      </p:grpSpPr>
      <p:sp>
        <p:nvSpPr>
          <p:cNvPr id="84" name="Google Shape;84;p2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5" name="Google Shape;85;p22"/>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6" name="Google Shape;86;p22"/>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7"/>
        <p:cNvGrpSpPr/>
        <p:nvPr/>
      </p:nvGrpSpPr>
      <p:grpSpPr>
        <a:xfrm>
          <a:off x="0" y="0"/>
          <a:ext cx="0" cy="0"/>
          <a:chOff x="0" y="0"/>
          <a:chExt cx="0" cy="0"/>
        </a:xfrm>
      </p:grpSpPr>
      <p:sp>
        <p:nvSpPr>
          <p:cNvPr id="88" name="Google Shape;88;p2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9"/>
        <p:cNvGrpSpPr/>
        <p:nvPr/>
      </p:nvGrpSpPr>
      <p:grpSpPr>
        <a:xfrm>
          <a:off x="0" y="0"/>
          <a:ext cx="0" cy="0"/>
          <a:chOff x="0" y="0"/>
          <a:chExt cx="0" cy="0"/>
        </a:xfrm>
      </p:grpSpPr>
      <p:sp>
        <p:nvSpPr>
          <p:cNvPr id="90" name="Google Shape;90;p24"/>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91" name="Google Shape;91;p24"/>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2"/>
        <p:cNvGrpSpPr/>
        <p:nvPr/>
      </p:nvGrpSpPr>
      <p:grpSpPr>
        <a:xfrm>
          <a:off x="0" y="0"/>
          <a:ext cx="0" cy="0"/>
          <a:chOff x="0" y="0"/>
          <a:chExt cx="0" cy="0"/>
        </a:xfrm>
      </p:grpSpPr>
      <p:sp>
        <p:nvSpPr>
          <p:cNvPr id="93" name="Google Shape;93;p2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2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5" name="Google Shape;95;p2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6" name="Google Shape;96;p2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7"/>
        <p:cNvGrpSpPr/>
        <p:nvPr/>
      </p:nvGrpSpPr>
      <p:grpSpPr>
        <a:xfrm>
          <a:off x="0" y="0"/>
          <a:ext cx="0" cy="0"/>
          <a:chOff x="0" y="0"/>
          <a:chExt cx="0" cy="0"/>
        </a:xfrm>
      </p:grpSpPr>
      <p:sp>
        <p:nvSpPr>
          <p:cNvPr id="98" name="Google Shape;98;p2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9"/>
        <p:cNvGrpSpPr/>
        <p:nvPr/>
      </p:nvGrpSpPr>
      <p:grpSpPr>
        <a:xfrm>
          <a:off x="0" y="0"/>
          <a:ext cx="0" cy="0"/>
          <a:chOff x="0" y="0"/>
          <a:chExt cx="0" cy="0"/>
        </a:xfrm>
      </p:grpSpPr>
      <p:sp>
        <p:nvSpPr>
          <p:cNvPr id="100" name="Google Shape;100;p2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64" name="Google Shape;64;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hyperlink" Target="https://github.com/YuxuanJiang1/SCRIBE" TargetMode="External"/><Relationship Id="rId8" Type="http://schemas.openxmlformats.org/officeDocument/2006/relationships/image" Target="../media/image5.png"/><Relationship Id="rId9"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comments" Target="../comments/commen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comments" Target="../comments/commen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comments" Target="../comments/commen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comments" Target="../comments/commen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comments" Target="../comments/commen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comments" Target="../comments/commen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hyperlink" Target="https://github.com/YuxuanJiang1/SCRIBE" TargetMode="External"/><Relationship Id="rId4" Type="http://schemas.openxmlformats.org/officeDocument/2006/relationships/image" Target="../media/image5.png"/><Relationship Id="rId5" Type="http://schemas.openxmlformats.org/officeDocument/2006/relationships/comments" Target="../comments/comment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p29"/>
          <p:cNvSpPr txBox="1"/>
          <p:nvPr/>
        </p:nvSpPr>
        <p:spPr>
          <a:xfrm>
            <a:off x="457200" y="566219"/>
            <a:ext cx="8229600" cy="1051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3000" b="1" i="0" u="none" strike="noStrike" cap="none">
                <a:solidFill>
                  <a:srgbClr val="183153"/>
                </a:solidFill>
                <a:latin typeface="Arial"/>
                <a:ea typeface="Arial"/>
                <a:cs typeface="Arial"/>
                <a:sym typeface="Arial"/>
              </a:rPr>
              <a:t>SCRIBE: Learning Reusable</a:t>
            </a:r>
            <a:endParaRPr/>
          </a:p>
          <a:p>
            <a:pPr marL="0" marR="0" lvl="0" indent="0" algn="ctr" rtl="0">
              <a:lnSpc>
                <a:spcPct val="100000"/>
              </a:lnSpc>
              <a:spcBef>
                <a:spcPts val="1000"/>
              </a:spcBef>
              <a:spcAft>
                <a:spcPts val="0"/>
              </a:spcAft>
              <a:buNone/>
            </a:pPr>
            <a:r>
              <a:rPr lang="en" sz="3000" b="1" i="0" u="none" strike="noStrike" cap="none">
                <a:solidFill>
                  <a:srgbClr val="183153"/>
                </a:solidFill>
                <a:latin typeface="Arial"/>
                <a:ea typeface="Arial"/>
                <a:cs typeface="Arial"/>
                <a:sym typeface="Arial"/>
              </a:rPr>
              <a:t>Skill Rubrics for Process Reward Models</a:t>
            </a:r>
            <a:endParaRPr/>
          </a:p>
        </p:txBody>
      </p:sp>
      <p:sp>
        <p:nvSpPr>
          <p:cNvPr id="108" name="Google Shape;108;p29"/>
          <p:cNvSpPr txBox="1"/>
          <p:nvPr/>
        </p:nvSpPr>
        <p:spPr>
          <a:xfrm>
            <a:off x="457200" y="1996440"/>
            <a:ext cx="8229600" cy="307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2000" b="0" i="0" u="none" strike="noStrike" cap="none">
                <a:solidFill>
                  <a:srgbClr val="183153"/>
                </a:solidFill>
                <a:latin typeface="Arial"/>
                <a:ea typeface="Arial"/>
                <a:cs typeface="Arial"/>
                <a:sym typeface="Arial"/>
              </a:rPr>
              <a:t>Yuxuan Jiang     Francis Ferraro</a:t>
            </a:r>
            <a:endParaRPr/>
          </a:p>
        </p:txBody>
      </p:sp>
      <p:sp>
        <p:nvSpPr>
          <p:cNvPr id="109" name="Google Shape;109;p29"/>
          <p:cNvSpPr txBox="1"/>
          <p:nvPr/>
        </p:nvSpPr>
        <p:spPr>
          <a:xfrm>
            <a:off x="501500" y="2330835"/>
            <a:ext cx="8229600" cy="261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700" b="0" i="0" u="none" strike="noStrike" cap="none">
                <a:solidFill>
                  <a:srgbClr val="526174"/>
                </a:solidFill>
                <a:latin typeface="Arial"/>
                <a:ea typeface="Arial"/>
                <a:cs typeface="Arial"/>
                <a:sym typeface="Arial"/>
              </a:rPr>
              <a:t>University of Maryland, Baltimore County</a:t>
            </a:r>
            <a:endParaRPr/>
          </a:p>
        </p:txBody>
      </p:sp>
      <p:sp>
        <p:nvSpPr>
          <p:cNvPr id="110" name="Google Shape;110;p29"/>
          <p:cNvSpPr txBox="1"/>
          <p:nvPr/>
        </p:nvSpPr>
        <p:spPr>
          <a:xfrm>
            <a:off x="457200" y="4709160"/>
            <a:ext cx="8229600" cy="26517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600" b="1" i="0" u="none" strike="noStrike" cap="none">
                <a:solidFill>
                  <a:srgbClr val="FFFFFF"/>
                </a:solidFill>
                <a:latin typeface="Arial"/>
                <a:ea typeface="Arial"/>
                <a:cs typeface="Arial"/>
                <a:sym typeface="Arial"/>
              </a:rPr>
              <a:t>EMNLP 2026</a:t>
            </a:r>
            <a:endParaRPr/>
          </a:p>
        </p:txBody>
      </p:sp>
      <p:pic>
        <p:nvPicPr>
          <p:cNvPr id="113" name="Google Shape;113;p29"/>
          <p:cNvPicPr preferRelativeResize="0"/>
          <p:nvPr/>
        </p:nvPicPr>
        <p:blipFill rotWithShape="1">
          <a:blip r:embed="rId3">
            <a:alphaModFix/>
          </a:blip>
          <a:srcRect/>
          <a:stretch/>
        </p:blipFill>
        <p:spPr>
          <a:xfrm>
            <a:off x="260492" y="4447094"/>
            <a:ext cx="1515619" cy="362892"/>
          </a:xfrm>
          <a:prstGeom prst="rect">
            <a:avLst/>
          </a:prstGeom>
          <a:noFill/>
          <a:ln>
            <a:noFill/>
          </a:ln>
        </p:spPr>
      </p:pic>
      <p:pic>
        <p:nvPicPr>
          <p:cNvPr id="114" name="Google Shape;114;p29"/>
          <p:cNvPicPr preferRelativeResize="0"/>
          <p:nvPr/>
        </p:nvPicPr>
        <p:blipFill rotWithShape="1">
          <a:blip r:embed="rId4">
            <a:alphaModFix/>
          </a:blip>
          <a:srcRect/>
          <a:stretch/>
        </p:blipFill>
        <p:spPr>
          <a:xfrm>
            <a:off x="7515956" y="4120670"/>
            <a:ext cx="1628044" cy="1076749"/>
          </a:xfrm>
          <a:prstGeom prst="rect">
            <a:avLst/>
          </a:prstGeom>
          <a:noFill/>
          <a:ln>
            <a:noFill/>
          </a:ln>
        </p:spPr>
      </p:pic>
      <p:sp>
        <p:nvSpPr>
          <p:cNvPr id="115" name="Google Shape;115;p29"/>
          <p:cNvSpPr txBox="1"/>
          <p:nvPr/>
        </p:nvSpPr>
        <p:spPr>
          <a:xfrm>
            <a:off x="6988547" y="4389894"/>
            <a:ext cx="794700" cy="477300"/>
          </a:xfrm>
          <a:prstGeom prst="rect">
            <a:avLst/>
          </a:prstGeom>
          <a:noFill/>
          <a:ln>
            <a:noFill/>
          </a:ln>
        </p:spPr>
        <p:txBody>
          <a:bodyPr spcFirstLastPara="1" wrap="square" lIns="68575" tIns="68575" rIns="68575" bIns="68575" anchor="t"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000000"/>
                </a:solidFill>
                <a:latin typeface="Calibri"/>
                <a:ea typeface="Calibri"/>
                <a:cs typeface="Calibri"/>
                <a:sym typeface="Calibri"/>
              </a:rPr>
              <a:t>Supported by:</a:t>
            </a:r>
            <a:endParaRPr sz="1100" b="0" i="0" u="none" strike="noStrike" cap="none">
              <a:solidFill>
                <a:srgbClr val="000000"/>
              </a:solidFill>
              <a:latin typeface="Calibri"/>
              <a:ea typeface="Calibri"/>
              <a:cs typeface="Calibri"/>
              <a:sym typeface="Calibri"/>
            </a:endParaRPr>
          </a:p>
        </p:txBody>
      </p:sp>
      <p:pic>
        <p:nvPicPr>
          <p:cNvPr id="116" name="Picture 115" descr="prof_pic-slide.jpg"/>
          <p:cNvPicPr>
            <a:picLocks noChangeAspect="1"/>
          </p:cNvPicPr>
          <p:nvPr/>
        </p:nvPicPr>
        <p:blipFill>
          <a:blip r:embed="rId5"/>
          <a:stretch>
            <a:fillRect/>
          </a:stretch>
        </p:blipFill>
        <p:spPr>
          <a:xfrm>
            <a:off x="2754650" y="2723780"/>
            <a:ext cx="1400100" cy="1505700"/>
          </a:xfrm>
          <a:prstGeom prst="rect">
            <a:avLst/>
          </a:prstGeom>
        </p:spPr>
      </p:pic>
      <p:pic>
        <p:nvPicPr>
          <p:cNvPr id="117" name="Picture 116" descr="ferraro-headshot-slide.jpg"/>
          <p:cNvPicPr>
            <a:picLocks noChangeAspect="1"/>
          </p:cNvPicPr>
          <p:nvPr/>
        </p:nvPicPr>
        <p:blipFill>
          <a:blip r:embed="rId6"/>
          <a:stretch>
            <a:fillRect/>
          </a:stretch>
        </p:blipFill>
        <p:spPr>
          <a:xfrm>
            <a:off x="4838650" y="2727942"/>
            <a:ext cx="1400100" cy="1505700"/>
          </a:xfrm>
          <a:prstGeom prst="rect">
            <a:avLst/>
          </a:prstGeom>
        </p:spPr>
      </p:pic>
      <p:pic>
        <p:nvPicPr>
          <p:cNvPr id="118" name="Picture 117" descr="scribe-project-qr.png">
            <a:hlinkClick r:id="rId7"/>
          </p:cNvPr>
          <p:cNvPicPr>
            <a:picLocks noChangeAspect="1"/>
          </p:cNvPicPr>
          <p:nvPr/>
        </p:nvPicPr>
        <p:blipFill>
          <a:blip r:embed="rId8"/>
          <a:stretch>
            <a:fillRect/>
          </a:stretch>
        </p:blipFill>
        <p:spPr>
          <a:xfrm>
            <a:off x="7589520" y="2761488"/>
            <a:ext cx="1024128" cy="1024128"/>
          </a:xfrm>
          <a:prstGeom prst="rect">
            <a:avLst/>
          </a:prstGeom>
        </p:spPr>
      </p:pic>
      <p:sp>
        <p:nvSpPr>
          <p:cNvPr id="119" name="TextBox 118"/>
          <p:cNvSpPr txBox="1"/>
          <p:nvPr/>
        </p:nvSpPr>
        <p:spPr>
          <a:xfrm>
            <a:off x="7406640" y="3794760"/>
            <a:ext cx="1389888" cy="164592"/>
          </a:xfrm>
          <a:prstGeom prst="rect">
            <a:avLst/>
          </a:prstGeom>
          <a:noFill/>
        </p:spPr>
        <p:txBody>
          <a:bodyPr wrap="none" lIns="0" tIns="0" rIns="0" bIns="0">
            <a:spAutoFit/>
          </a:bodyPr>
          <a:lstStyle/>
          <a:p>
            <a:pPr algn="ctr">
              <a:defRPr sz="900" b="1">
                <a:solidFill>
                  <a:srgbClr val="193354"/>
                </a:solidFill>
                <a:latin typeface="Arial"/>
              </a:defRPr>
            </a:pPr>
            <a:r>
              <a:rPr>
                <a:hlinkClick r:id="rId7"/>
              </a:rPr>
              <a:t>Project &amp; Slides</a:t>
            </a:r>
          </a:p>
        </p:txBody>
      </p:sp>
      <p:sp>
        <p:nvSpPr>
          <p:cNvPr id="120" name="TextBox 119"/>
          <p:cNvSpPr txBox="1"/>
          <p:nvPr/>
        </p:nvSpPr>
        <p:spPr>
          <a:xfrm>
            <a:off x="2743200" y="4315968"/>
            <a:ext cx="3493008" cy="228600"/>
          </a:xfrm>
          <a:prstGeom prst="rect">
            <a:avLst/>
          </a:prstGeom>
          <a:noFill/>
        </p:spPr>
        <p:txBody>
          <a:bodyPr wrap="square" lIns="0" tIns="0" rIns="0" bIns="0">
            <a:spAutoFit/>
          </a:bodyPr>
          <a:lstStyle/>
          <a:p>
            <a:pPr algn="ctr">
              <a:spcAft>
                <a:spcPts val="0"/>
              </a:spcAft>
              <a:defRPr sz="1300">
                <a:solidFill>
                  <a:srgbClr val="193354"/>
                </a:solidFill>
                <a:latin typeface="Arial"/>
              </a:defRPr>
            </a:pPr>
            <a:r>
              <a:t>yuxuanj1@umbc.edu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31"/>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p>
            <a:pPr marL="0" lvl="0" indent="0" algn="l" rtl="0">
              <a:lnSpc>
                <a:spcPct val="115000"/>
              </a:lnSpc>
              <a:spcBef>
                <a:spcPts val="900"/>
              </a:spcBef>
              <a:spcAft>
                <a:spcPts val="0"/>
              </a:spcAft>
              <a:buSzPts val="1400"/>
              <a:buNone/>
            </a:pPr>
            <a:endParaRPr sz="1100" b="1">
              <a:solidFill>
                <a:schemeClr val="dk1"/>
              </a:solidFill>
              <a:latin typeface="Arial"/>
              <a:ea typeface="Arial"/>
              <a:cs typeface="Arial"/>
              <a:sym typeface="Arial"/>
            </a:endParaRPr>
          </a:p>
          <a:p>
            <a:pPr marL="0" lvl="0" indent="0" algn="l" rtl="0">
              <a:lnSpc>
                <a:spcPct val="115000"/>
              </a:lnSpc>
              <a:spcBef>
                <a:spcPts val="900"/>
              </a:spcBef>
              <a:spcAft>
                <a:spcPts val="0"/>
              </a:spcAft>
              <a:buSzPts val="1400"/>
              <a:buNone/>
            </a:pPr>
            <a:endParaRPr sz="1100" b="1">
              <a:solidFill>
                <a:schemeClr val="dk1"/>
              </a:solidFill>
              <a:latin typeface="Arial"/>
              <a:ea typeface="Arial"/>
              <a:cs typeface="Arial"/>
              <a:sym typeface="Arial"/>
            </a:endParaRPr>
          </a:p>
          <a:p>
            <a:pPr marL="342900" lvl="0" indent="0" algn="l" rtl="0">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marL="0" lvl="0" indent="0" algn="l" rtl="0">
              <a:lnSpc>
                <a:spcPct val="100000"/>
              </a:lnSpc>
              <a:spcBef>
                <a:spcPts val="900"/>
              </a:spcBef>
              <a:spcAft>
                <a:spcPts val="0"/>
              </a:spcAft>
              <a:buSzPts val="1400"/>
              <a:buNone/>
            </a:pPr>
            <a:endParaRPr/>
          </a:p>
        </p:txBody>
      </p:sp>
      <p:sp>
        <p:nvSpPr>
          <p:cNvPr id="131" name="Google Shape;131;p31"/>
          <p:cNvSpPr txBox="1">
            <a:spLocks noGrp="1"/>
          </p:cNvSpPr>
          <p:nvPr>
            <p:ph type="ctrTitle"/>
          </p:nvPr>
        </p:nvSpPr>
        <p:spPr>
          <a:xfrm>
            <a:off x="438912" y="164592"/>
            <a:ext cx="8266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96618"/>
              <a:buNone/>
            </a:pPr>
            <a:r>
              <a:rPr lang="en" sz="2300" b="1">
                <a:solidFill>
                  <a:srgbClr val="162849"/>
                </a:solidFill>
                <a:latin typeface="Play"/>
                <a:ea typeface="Play"/>
                <a:cs typeface="Play"/>
                <a:sym typeface="Play"/>
              </a:rPr>
              <a:t>Unreliable LLM-as-a-Judge Reward</a:t>
            </a:r>
            <a:endParaRPr/>
          </a:p>
        </p:txBody>
      </p:sp>
      <p:pic>
        <p:nvPicPr>
          <p:cNvPr id="136" name="Picture 135" descr="reward-illustration-editable-background.png"/>
          <p:cNvPicPr>
            <a:picLocks noChangeAspect="1"/>
          </p:cNvPicPr>
          <p:nvPr/>
        </p:nvPicPr>
        <p:blipFill>
          <a:blip r:embed="rId3"/>
          <a:stretch>
            <a:fillRect/>
          </a:stretch>
        </p:blipFill>
        <p:spPr>
          <a:xfrm>
            <a:off x="1239675" y="801800"/>
            <a:ext cx="6848175" cy="3845825"/>
          </a:xfrm>
          <a:prstGeom prst="rect">
            <a:avLst/>
          </a:prstGeom>
        </p:spPr>
      </p:pic>
      <p:sp>
        <p:nvSpPr>
          <p:cNvPr id="133" name="Google Shape;133;p31"/>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31"/>
          <p:cNvSpPr txBox="1"/>
          <p:nvPr/>
        </p:nvSpPr>
        <p:spPr>
          <a:xfrm>
            <a:off x="1686275" y="4542900"/>
            <a:ext cx="3000000" cy="548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900"/>
              </a:spcBef>
              <a:spcAft>
                <a:spcPts val="0"/>
              </a:spcAft>
              <a:buNone/>
            </a:pPr>
            <a:r>
              <a:rPr lang="en" sz="1100" b="1" dirty="0">
                <a:solidFill>
                  <a:schemeClr val="dk1"/>
                </a:solidFill>
              </a:rPr>
              <a:t>Over-rewarding:</a:t>
            </a:r>
            <a:br>
              <a:rPr lang="en" sz="1100" dirty="0">
                <a:solidFill>
                  <a:schemeClr val="dk1"/>
                </a:solidFill>
              </a:rPr>
            </a:br>
            <a:r>
              <a:rPr lang="en" sz="1100" dirty="0">
                <a:solidFill>
                  <a:schemeClr val="dk1"/>
                </a:solidFill>
              </a:rPr>
              <a:t>Correct Answer but Flawed Logic </a:t>
            </a:r>
            <a:endParaRPr dirty="0"/>
          </a:p>
        </p:txBody>
      </p:sp>
      <p:sp>
        <p:nvSpPr>
          <p:cNvPr id="135" name="Google Shape;135;p31"/>
          <p:cNvSpPr txBox="1"/>
          <p:nvPr/>
        </p:nvSpPr>
        <p:spPr>
          <a:xfrm>
            <a:off x="5004900" y="4600650"/>
            <a:ext cx="3000000" cy="548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900"/>
              </a:spcBef>
              <a:spcAft>
                <a:spcPts val="0"/>
              </a:spcAft>
              <a:buNone/>
            </a:pPr>
            <a:r>
              <a:rPr lang="en" sz="1100" b="1">
                <a:solidFill>
                  <a:schemeClr val="dk1"/>
                </a:solidFill>
              </a:rPr>
              <a:t>Over-penalizing:</a:t>
            </a:r>
            <a:br>
              <a:rPr lang="en" sz="1100">
                <a:solidFill>
                  <a:schemeClr val="dk1"/>
                </a:solidFill>
              </a:rPr>
            </a:br>
            <a:r>
              <a:rPr lang="en" sz="1100">
                <a:solidFill>
                  <a:schemeClr val="dk1"/>
                </a:solidFill>
              </a:rPr>
              <a:t>Sound Strategy + Minor Syntax Error </a:t>
            </a:r>
            <a:endParaRPr/>
          </a:p>
        </p:txBody>
      </p:sp>
      <p:sp>
        <p:nvSpPr>
          <p:cNvPr id="137" name="TextBox 136"/>
          <p:cNvSpPr txBox="1"/>
          <p:nvPr/>
        </p:nvSpPr>
        <p:spPr>
          <a:xfrm>
            <a:off x="2177901" y="3760126"/>
            <a:ext cx="1394186" cy="367791"/>
          </a:xfrm>
          <a:prstGeom prst="rect">
            <a:avLst/>
          </a:prstGeom>
          <a:noFill/>
        </p:spPr>
        <p:txBody>
          <a:bodyPr wrap="square" lIns="0" tIns="0" rIns="0" bIns="0">
            <a:spAutoFit/>
          </a:bodyPr>
          <a:lstStyle/>
          <a:p>
            <a:pPr algn="l">
              <a:spcAft>
                <a:spcPts val="0"/>
              </a:spcAft>
              <a:defRPr sz="958">
                <a:solidFill>
                  <a:srgbClr val="193354"/>
                </a:solidFill>
                <a:latin typeface="Arial"/>
              </a:defRPr>
            </a:pPr>
            <a:r>
              <a:rPr sz="862">
                <a:solidFill>
                  <a:srgbClr val="193354"/>
                </a:solidFill>
                <a:latin typeface="Arial"/>
              </a:rPr>
              <a:t>The final answer is correct; assign a </a:t>
            </a:r>
            <a:r>
              <a:rPr sz="862">
                <a:solidFill>
                  <a:srgbClr val="CC0000"/>
                </a:solidFill>
                <a:latin typeface="Arial"/>
              </a:rPr>
              <a:t>high</a:t>
            </a:r>
            <a:r>
              <a:rPr sz="862">
                <a:solidFill>
                  <a:srgbClr val="193354"/>
                </a:solidFill>
                <a:latin typeface="Arial"/>
              </a:rPr>
              <a:t> reward.</a:t>
            </a:r>
          </a:p>
        </p:txBody>
      </p:sp>
      <p:sp>
        <p:nvSpPr>
          <p:cNvPr id="138" name="TextBox 137"/>
          <p:cNvSpPr txBox="1"/>
          <p:nvPr/>
        </p:nvSpPr>
        <p:spPr>
          <a:xfrm>
            <a:off x="5185486" y="3752131"/>
            <a:ext cx="1297733" cy="463737"/>
          </a:xfrm>
          <a:prstGeom prst="rect">
            <a:avLst/>
          </a:prstGeom>
          <a:noFill/>
        </p:spPr>
        <p:txBody>
          <a:bodyPr wrap="square" lIns="0" tIns="0" rIns="0" bIns="0">
            <a:spAutoFit/>
          </a:bodyPr>
          <a:lstStyle/>
          <a:p>
            <a:pPr algn="l">
              <a:spcAft>
                <a:spcPts val="0"/>
              </a:spcAft>
              <a:defRPr sz="958">
                <a:solidFill>
                  <a:srgbClr val="193354"/>
                </a:solidFill>
                <a:latin typeface="Arial"/>
              </a:defRPr>
            </a:pPr>
            <a:r>
              <a:rPr sz="862">
                <a:solidFill>
                  <a:srgbClr val="193354"/>
                </a:solidFill>
                <a:latin typeface="Arial"/>
              </a:rPr>
              <a:t>The code contains a syntax error; assign a </a:t>
            </a:r>
            <a:r>
              <a:rPr sz="862">
                <a:solidFill>
                  <a:srgbClr val="000099"/>
                </a:solidFill>
                <a:latin typeface="Arial"/>
              </a:rPr>
              <a:t>low</a:t>
            </a:r>
            <a:r>
              <a:rPr sz="862">
                <a:solidFill>
                  <a:srgbClr val="193354"/>
                </a:solidFill>
                <a:latin typeface="Arial"/>
              </a:rPr>
              <a:t> reward.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32"/>
          <p:cNvSpPr txBox="1">
            <a:spLocks noGrp="1"/>
          </p:cNvSpPr>
          <p:nvPr>
            <p:ph type="body" idx="1"/>
          </p:nvPr>
        </p:nvSpPr>
        <p:spPr>
          <a:xfrm>
            <a:off x="419100" y="857250"/>
            <a:ext cx="8305800" cy="4000500"/>
          </a:xfrm>
          <a:prstGeom prst="rect">
            <a:avLst/>
          </a:prstGeom>
          <a:noFill/>
          <a:ln>
            <a:noFill/>
          </a:ln>
        </p:spPr>
        <p:txBody>
          <a:bodyPr spcFirstLastPara="1" wrap="square" lIns="68575" tIns="34275" rIns="68575" bIns="34275" anchor="t" anchorCtr="0">
            <a:noAutofit/>
          </a:bodyPr>
          <a:lstStyle/>
          <a:p>
            <a:pPr marL="0" lvl="0" indent="0" algn="l" rtl="0">
              <a:lnSpc>
                <a:spcPct val="115000"/>
              </a:lnSpc>
              <a:spcBef>
                <a:spcPts val="900"/>
              </a:spcBef>
              <a:spcAft>
                <a:spcPts val="0"/>
              </a:spcAft>
              <a:buSzPts val="1400"/>
              <a:buNone/>
            </a:pPr>
            <a:r>
              <a:rPr lang="en" sz="1100" b="1">
                <a:solidFill>
                  <a:schemeClr val="dk1"/>
                </a:solidFill>
                <a:latin typeface="Arial"/>
                <a:ea typeface="Arial"/>
                <a:cs typeface="Arial"/>
                <a:sym typeface="Arial"/>
              </a:rPr>
              <a:t>Over-rewarding:</a:t>
            </a:r>
            <a:r>
              <a:rPr lang="en" sz="1100">
                <a:solidFill>
                  <a:schemeClr val="dk1"/>
                </a:solidFill>
                <a:latin typeface="Arial"/>
                <a:ea typeface="Arial"/>
                <a:cs typeface="Arial"/>
                <a:sym typeface="Arial"/>
              </a:rPr>
              <a:t> Correct Answer + Flawed Logic </a:t>
            </a:r>
            <a:endParaRPr sz="1100" b="1">
              <a:solidFill>
                <a:schemeClr val="dk1"/>
              </a:solidFill>
              <a:latin typeface="Arial"/>
              <a:ea typeface="Arial"/>
              <a:cs typeface="Arial"/>
              <a:sym typeface="Arial"/>
            </a:endParaRPr>
          </a:p>
          <a:p>
            <a:pPr marL="0" lvl="0" indent="0" algn="l" rtl="0">
              <a:lnSpc>
                <a:spcPct val="115000"/>
              </a:lnSpc>
              <a:spcBef>
                <a:spcPts val="900"/>
              </a:spcBef>
              <a:spcAft>
                <a:spcPts val="0"/>
              </a:spcAft>
              <a:buSzPts val="1400"/>
              <a:buNone/>
            </a:pPr>
            <a:r>
              <a:rPr lang="en" sz="1100" b="1">
                <a:solidFill>
                  <a:schemeClr val="dk1"/>
                </a:solidFill>
                <a:latin typeface="Arial"/>
                <a:ea typeface="Arial"/>
                <a:cs typeface="Arial"/>
                <a:sym typeface="Arial"/>
              </a:rPr>
              <a:t>Over-penalizing:</a:t>
            </a:r>
            <a:r>
              <a:rPr lang="en" sz="1100">
                <a:solidFill>
                  <a:schemeClr val="dk1"/>
                </a:solidFill>
                <a:latin typeface="Arial"/>
                <a:ea typeface="Arial"/>
                <a:cs typeface="Arial"/>
                <a:sym typeface="Arial"/>
              </a:rPr>
              <a:t> Sound Strategy + Minor Syntax Error </a:t>
            </a:r>
            <a:endParaRPr sz="1100" b="1">
              <a:solidFill>
                <a:schemeClr val="dk1"/>
              </a:solidFill>
              <a:latin typeface="Arial"/>
              <a:ea typeface="Arial"/>
              <a:cs typeface="Arial"/>
              <a:sym typeface="Arial"/>
            </a:endParaRPr>
          </a:p>
          <a:p>
            <a:pPr marL="342900" lvl="0" indent="0" algn="l" rtl="0">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marL="0" lvl="0" indent="0" algn="l" rtl="0">
              <a:lnSpc>
                <a:spcPct val="100000"/>
              </a:lnSpc>
              <a:spcBef>
                <a:spcPts val="900"/>
              </a:spcBef>
              <a:spcAft>
                <a:spcPts val="0"/>
              </a:spcAft>
              <a:buSzPts val="1400"/>
              <a:buNone/>
            </a:pPr>
            <a:endParaRPr/>
          </a:p>
        </p:txBody>
      </p:sp>
      <p:sp>
        <p:nvSpPr>
          <p:cNvPr id="142" name="Google Shape;142;p32"/>
          <p:cNvSpPr txBox="1">
            <a:spLocks noGrp="1"/>
          </p:cNvSpPr>
          <p:nvPr>
            <p:ph type="ctrTitle"/>
          </p:nvPr>
        </p:nvSpPr>
        <p:spPr>
          <a:xfrm>
            <a:off x="438912" y="164592"/>
            <a:ext cx="8266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96618"/>
              <a:buNone/>
            </a:pPr>
            <a:r>
              <a:rPr lang="en" sz="2300" b="1">
                <a:solidFill>
                  <a:srgbClr val="162849"/>
                </a:solidFill>
                <a:latin typeface="Play"/>
                <a:ea typeface="Play"/>
                <a:cs typeface="Play"/>
                <a:sym typeface="Play"/>
              </a:rPr>
              <a:t>Motivation: Unreliable Reward Leads to Unreliable RL Training</a:t>
            </a:r>
            <a:endParaRPr/>
          </a:p>
        </p:txBody>
      </p:sp>
      <p:pic>
        <p:nvPicPr>
          <p:cNvPr id="148" name="Picture 147" descr="reward-illustration-editable-background.png"/>
          <p:cNvPicPr>
            <a:picLocks noChangeAspect="1"/>
          </p:cNvPicPr>
          <p:nvPr/>
        </p:nvPicPr>
        <p:blipFill>
          <a:blip r:embed="rId3"/>
          <a:stretch>
            <a:fillRect/>
          </a:stretch>
        </p:blipFill>
        <p:spPr>
          <a:xfrm>
            <a:off x="0" y="1490500"/>
            <a:ext cx="5313174" cy="3272275"/>
          </a:xfrm>
          <a:prstGeom prst="rect">
            <a:avLst/>
          </a:prstGeom>
        </p:spPr>
      </p:pic>
      <p:sp>
        <p:nvSpPr>
          <p:cNvPr id="145" name="Google Shape;145;p32"/>
          <p:cNvSpPr txBox="1"/>
          <p:nvPr/>
        </p:nvSpPr>
        <p:spPr>
          <a:xfrm>
            <a:off x="6183600" y="1291375"/>
            <a:ext cx="2541300" cy="461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chemeClr val="dk2"/>
                </a:solidFill>
                <a:latin typeface="Arial"/>
                <a:ea typeface="Arial"/>
                <a:cs typeface="Arial"/>
                <a:sym typeface="Arial"/>
              </a:rPr>
              <a:t>Training Crash!</a:t>
            </a:r>
            <a:endParaRPr sz="1800" b="0" i="0" u="none" strike="noStrike" cap="none">
              <a:solidFill>
                <a:schemeClr val="dk2"/>
              </a:solidFill>
              <a:latin typeface="Arial"/>
              <a:ea typeface="Arial"/>
              <a:cs typeface="Arial"/>
              <a:sym typeface="Arial"/>
            </a:endParaRPr>
          </a:p>
        </p:txBody>
      </p:sp>
      <p:sp>
        <p:nvSpPr>
          <p:cNvPr id="146" name="Google Shape;146;p32"/>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47" name="Picture 146" descr="training-curve-axis-restored.png"/>
          <p:cNvPicPr>
            <a:picLocks noChangeAspect="1"/>
          </p:cNvPicPr>
          <p:nvPr/>
        </p:nvPicPr>
        <p:blipFill>
          <a:blip r:embed="rId4"/>
          <a:stretch>
            <a:fillRect/>
          </a:stretch>
        </p:blipFill>
        <p:spPr>
          <a:xfrm>
            <a:off x="5047488" y="1837943"/>
            <a:ext cx="3867912" cy="2779776"/>
          </a:xfrm>
          <a:prstGeom prst="rect">
            <a:avLst/>
          </a:prstGeom>
        </p:spPr>
      </p:pic>
      <p:sp>
        <p:nvSpPr>
          <p:cNvPr id="149" name="TextBox 148"/>
          <p:cNvSpPr txBox="1"/>
          <p:nvPr/>
        </p:nvSpPr>
        <p:spPr>
          <a:xfrm>
            <a:off x="727925" y="4007634"/>
            <a:ext cx="1081683" cy="312941"/>
          </a:xfrm>
          <a:prstGeom prst="rect">
            <a:avLst/>
          </a:prstGeom>
          <a:noFill/>
        </p:spPr>
        <p:txBody>
          <a:bodyPr wrap="square" lIns="0" tIns="0" rIns="0" bIns="0">
            <a:spAutoFit/>
          </a:bodyPr>
          <a:lstStyle/>
          <a:p>
            <a:pPr algn="l">
              <a:spcAft>
                <a:spcPts val="0"/>
              </a:spcAft>
              <a:defRPr sz="743">
                <a:solidFill>
                  <a:srgbClr val="193354"/>
                </a:solidFill>
                <a:latin typeface="Arial"/>
              </a:defRPr>
            </a:pPr>
            <a:r>
              <a:rPr sz="668">
                <a:solidFill>
                  <a:srgbClr val="193354"/>
                </a:solidFill>
                <a:latin typeface="Arial"/>
              </a:rPr>
              <a:t>The final answer is correct; assign a </a:t>
            </a:r>
            <a:r>
              <a:rPr sz="668">
                <a:solidFill>
                  <a:srgbClr val="CC0000"/>
                </a:solidFill>
                <a:latin typeface="Arial"/>
              </a:rPr>
              <a:t>high</a:t>
            </a:r>
            <a:r>
              <a:rPr sz="668">
                <a:solidFill>
                  <a:srgbClr val="193354"/>
                </a:solidFill>
                <a:latin typeface="Arial"/>
              </a:rPr>
              <a:t> reward.</a:t>
            </a:r>
          </a:p>
        </p:txBody>
      </p:sp>
      <p:sp>
        <p:nvSpPr>
          <p:cNvPr id="150" name="TextBox 149"/>
          <p:cNvSpPr txBox="1"/>
          <p:nvPr/>
        </p:nvSpPr>
        <p:spPr>
          <a:xfrm>
            <a:off x="3061367" y="4000831"/>
            <a:ext cx="1006849" cy="394577"/>
          </a:xfrm>
          <a:prstGeom prst="rect">
            <a:avLst/>
          </a:prstGeom>
          <a:noFill/>
        </p:spPr>
        <p:txBody>
          <a:bodyPr wrap="square" lIns="0" tIns="0" rIns="0" bIns="0">
            <a:spAutoFit/>
          </a:bodyPr>
          <a:lstStyle/>
          <a:p>
            <a:pPr algn="l">
              <a:spcAft>
                <a:spcPts val="0"/>
              </a:spcAft>
              <a:defRPr sz="743">
                <a:solidFill>
                  <a:srgbClr val="193354"/>
                </a:solidFill>
                <a:latin typeface="Arial"/>
              </a:defRPr>
            </a:pPr>
            <a:r>
              <a:rPr sz="668">
                <a:solidFill>
                  <a:srgbClr val="193354"/>
                </a:solidFill>
                <a:latin typeface="Arial"/>
              </a:rPr>
              <a:t>The code contains a syntax error; assign a </a:t>
            </a:r>
            <a:r>
              <a:rPr sz="668">
                <a:solidFill>
                  <a:srgbClr val="000099"/>
                </a:solidFill>
                <a:latin typeface="Arial"/>
              </a:rPr>
              <a:t>low</a:t>
            </a:r>
            <a:r>
              <a:rPr sz="668">
                <a:solidFill>
                  <a:srgbClr val="193354"/>
                </a:solidFill>
                <a:latin typeface="Arial"/>
              </a:rPr>
              <a:t> reward.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33"/>
          <p:cNvSpPr txBox="1">
            <a:spLocks noGrp="1"/>
          </p:cNvSpPr>
          <p:nvPr>
            <p:ph type="title"/>
          </p:nvPr>
        </p:nvSpPr>
        <p:spPr>
          <a:xfrm>
            <a:off x="438912" y="164592"/>
            <a:ext cx="7498200" cy="475500"/>
          </a:xfrm>
          <a:prstGeom prst="rect">
            <a:avLst/>
          </a:prstGeom>
          <a:noFill/>
          <a:ln>
            <a:noFill/>
          </a:ln>
        </p:spPr>
        <p:txBody>
          <a:bodyPr spcFirstLastPara="1" wrap="square" lIns="0" tIns="91425" rIns="0" bIns="91425" anchor="t" anchorCtr="0">
            <a:normAutofit fontScale="90000"/>
          </a:bodyPr>
          <a:lstStyle/>
          <a:p>
            <a:pPr>
              <a:defRPr sz="2300" b="1">
                <a:solidFill>
                  <a:srgbClr val="193354"/>
                </a:solidFill>
                <a:latin typeface="Arial"/>
              </a:defRPr>
            </a:pPr>
            <a:r>
              <a:t>SCRIBE: Decomposing a Goal into Executable Units</a:t>
            </a:r>
          </a:p>
        </p:txBody>
      </p:sp>
      <p:sp>
        <p:nvSpPr>
          <p:cNvPr id="152" name="Google Shape;152;p33"/>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3" name="Google Shape;153;p33" descr="reveal4.png"/>
          <p:cNvPicPr preferRelativeResize="0"/>
          <p:nvPr/>
        </p:nvPicPr>
        <p:blipFill rotWithShape="1">
          <a:blip r:embed="rId3">
            <a:alphaModFix/>
          </a:blip>
          <a:srcRect/>
          <a:stretch/>
        </p:blipFill>
        <p:spPr>
          <a:xfrm>
            <a:off x="1033271" y="896112"/>
            <a:ext cx="7077456" cy="406706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4"/>
          <p:cNvSpPr txBox="1">
            <a:spLocks noGrp="1"/>
          </p:cNvSpPr>
          <p:nvPr>
            <p:ph type="title"/>
          </p:nvPr>
        </p:nvSpPr>
        <p:spPr>
          <a:xfrm>
            <a:off x="438912" y="164592"/>
            <a:ext cx="7498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111111"/>
              <a:buNone/>
            </a:pPr>
            <a:r>
              <a:rPr lang="en" sz="2300" b="1">
                <a:solidFill>
                  <a:srgbClr val="162849"/>
                </a:solidFill>
                <a:latin typeface="Play"/>
                <a:ea typeface="Play"/>
                <a:cs typeface="Play"/>
                <a:sym typeface="Play"/>
              </a:rPr>
              <a:t>Skill Prototype: A Reliable Rewarding Rubric</a:t>
            </a:r>
            <a:endParaRPr/>
          </a:p>
        </p:txBody>
      </p:sp>
      <p:sp>
        <p:nvSpPr>
          <p:cNvPr id="159" name="Google Shape;159;p34"/>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60" name="Google Shape;160;p34" descr="reveal5.png"/>
          <p:cNvPicPr preferRelativeResize="0"/>
          <p:nvPr/>
        </p:nvPicPr>
        <p:blipFill rotWithShape="1">
          <a:blip r:embed="rId3">
            <a:alphaModFix/>
          </a:blip>
          <a:srcRect/>
          <a:stretch/>
        </p:blipFill>
        <p:spPr>
          <a:xfrm>
            <a:off x="1033271" y="896112"/>
            <a:ext cx="7077456" cy="406706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35"/>
          <p:cNvSpPr txBox="1">
            <a:spLocks noGrp="1"/>
          </p:cNvSpPr>
          <p:nvPr>
            <p:ph type="title"/>
          </p:nvPr>
        </p:nvSpPr>
        <p:spPr>
          <a:xfrm>
            <a:off x="438912" y="164592"/>
            <a:ext cx="7498200" cy="475500"/>
          </a:xfrm>
          <a:prstGeom prst="rect">
            <a:avLst/>
          </a:prstGeom>
          <a:noFill/>
          <a:ln>
            <a:noFill/>
          </a:ln>
        </p:spPr>
        <p:txBody>
          <a:bodyPr spcFirstLastPara="1" wrap="square" lIns="0" tIns="91425" rIns="0" bIns="91425" anchor="t" anchorCtr="0">
            <a:normAutofit fontScale="90000"/>
          </a:bodyPr>
          <a:lstStyle/>
          <a:p>
            <a:pPr marL="0" lvl="0" indent="0" algn="l" rtl="0">
              <a:lnSpc>
                <a:spcPct val="100000"/>
              </a:lnSpc>
              <a:spcBef>
                <a:spcPts val="0"/>
              </a:spcBef>
              <a:spcAft>
                <a:spcPts val="0"/>
              </a:spcAft>
              <a:buSzPct val="111111"/>
              <a:buNone/>
            </a:pPr>
            <a:r>
              <a:rPr lang="en" sz="2300" b="1">
                <a:solidFill>
                  <a:srgbClr val="162849"/>
                </a:solidFill>
                <a:latin typeface="Play"/>
                <a:ea typeface="Play"/>
                <a:cs typeface="Play"/>
                <a:sym typeface="Play"/>
              </a:rPr>
              <a:t>Reliable Training</a:t>
            </a:r>
            <a:endParaRPr/>
          </a:p>
        </p:txBody>
      </p:sp>
      <p:sp>
        <p:nvSpPr>
          <p:cNvPr id="166" name="Google Shape;166;p35"/>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67" name="Google Shape;167;p35" descr="reveal6.png"/>
          <p:cNvPicPr preferRelativeResize="0"/>
          <p:nvPr/>
        </p:nvPicPr>
        <p:blipFill rotWithShape="1">
          <a:blip r:embed="rId3">
            <a:alphaModFix/>
          </a:blip>
          <a:srcRect/>
          <a:stretch/>
        </p:blipFill>
        <p:spPr>
          <a:xfrm>
            <a:off x="1033271" y="896112"/>
            <a:ext cx="7077456" cy="406706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36"/>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3" name="Google Shape;173;p36"/>
          <p:cNvSpPr txBox="1"/>
          <p:nvPr/>
        </p:nvSpPr>
        <p:spPr>
          <a:xfrm>
            <a:off x="438899" y="164600"/>
            <a:ext cx="8086200" cy="3909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a:solidFill>
                  <a:srgbClr val="162849"/>
                </a:solidFill>
                <a:latin typeface="Arial"/>
                <a:ea typeface="Arial"/>
                <a:cs typeface="Arial"/>
                <a:sym typeface="Arial"/>
              </a:rPr>
              <a:t>A Skill Prototype Becomes a Reusable Reward Standard</a:t>
            </a:r>
            <a:endParaRPr sz="1400" b="0" i="0" u="none" strike="noStrike" cap="none">
              <a:solidFill>
                <a:srgbClr val="000000"/>
              </a:solidFill>
              <a:latin typeface="Arial"/>
              <a:ea typeface="Arial"/>
              <a:cs typeface="Arial"/>
              <a:sym typeface="Arial"/>
            </a:endParaRPr>
          </a:p>
        </p:txBody>
      </p:sp>
      <p:sp>
        <p:nvSpPr>
          <p:cNvPr id="174" name="Google Shape;174;p36"/>
          <p:cNvSpPr txBox="1"/>
          <p:nvPr/>
        </p:nvSpPr>
        <p:spPr>
          <a:xfrm>
            <a:off x="3886200" y="1261872"/>
            <a:ext cx="4572000" cy="1908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2870E6"/>
                </a:solidFill>
                <a:latin typeface="Arial"/>
                <a:ea typeface="Arial"/>
                <a:cs typeface="Arial"/>
                <a:sym typeface="Arial"/>
              </a:rPr>
              <a:t>TAKEAWAY</a:t>
            </a:r>
            <a:endParaRPr sz="1400" b="0" i="0" u="none" strike="noStrike" cap="none">
              <a:solidFill>
                <a:srgbClr val="000000"/>
              </a:solidFill>
              <a:latin typeface="Arial"/>
              <a:ea typeface="Arial"/>
              <a:cs typeface="Arial"/>
              <a:sym typeface="Arial"/>
            </a:endParaRPr>
          </a:p>
        </p:txBody>
      </p:sp>
      <p:sp>
        <p:nvSpPr>
          <p:cNvPr id="175" name="Google Shape;175;p36"/>
          <p:cNvSpPr/>
          <p:nvPr/>
        </p:nvSpPr>
        <p:spPr>
          <a:xfrm>
            <a:off x="3886200" y="1719072"/>
            <a:ext cx="4572000" cy="7497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164575" tIns="18275" rIns="164575" bIns="18275" anchor="ctr" anchorCtr="0">
            <a:noAutofit/>
          </a:bodyPr>
          <a:lstStyle/>
          <a:p>
            <a:pPr marL="0" marR="0" lvl="0" indent="0" algn="l" rtl="0">
              <a:lnSpc>
                <a:spcPct val="100000"/>
              </a:lnSpc>
              <a:spcBef>
                <a:spcPts val="0"/>
              </a:spcBef>
              <a:spcAft>
                <a:spcPts val="0"/>
              </a:spcAft>
              <a:buClr>
                <a:srgbClr val="000000"/>
              </a:buClr>
              <a:buSzPts val="1120"/>
              <a:buFont typeface="Arial"/>
              <a:buNone/>
            </a:pPr>
            <a:r>
              <a:rPr lang="en" sz="1120" b="1" i="0" u="none" strike="noStrike" cap="none">
                <a:solidFill>
                  <a:srgbClr val="162849"/>
                </a:solidFill>
                <a:latin typeface="Arial"/>
                <a:ea typeface="Arial"/>
                <a:cs typeface="Arial"/>
                <a:sym typeface="Arial"/>
              </a:rPr>
              <a:t>Structured</a:t>
            </a:r>
            <a:br>
              <a:rPr lang="en" sz="1120" b="1" i="0" u="none" strike="noStrike" cap="none">
                <a:solidFill>
                  <a:srgbClr val="162849"/>
                </a:solidFill>
                <a:latin typeface="Arial"/>
                <a:ea typeface="Arial"/>
                <a:cs typeface="Arial"/>
                <a:sym typeface="Arial"/>
              </a:rPr>
            </a:br>
            <a:r>
              <a:rPr lang="en" sz="1120" b="1" i="0" u="none" strike="noStrike" cap="none">
                <a:solidFill>
                  <a:srgbClr val="162849"/>
                </a:solidFill>
                <a:latin typeface="Arial"/>
                <a:ea typeface="Arial"/>
                <a:cs typeface="Arial"/>
                <a:sym typeface="Arial"/>
              </a:rPr>
              <a:t>A prototype specifies the skill, expected reasoning pattern, and concrete failure modes.</a:t>
            </a:r>
            <a:endParaRPr sz="1400" b="0" i="0" u="none" strike="noStrike" cap="none">
              <a:solidFill>
                <a:srgbClr val="000000"/>
              </a:solidFill>
              <a:latin typeface="Arial"/>
              <a:ea typeface="Arial"/>
              <a:cs typeface="Arial"/>
              <a:sym typeface="Arial"/>
            </a:endParaRPr>
          </a:p>
        </p:txBody>
      </p:sp>
      <p:sp>
        <p:nvSpPr>
          <p:cNvPr id="176" name="Google Shape;176;p36"/>
          <p:cNvSpPr/>
          <p:nvPr/>
        </p:nvSpPr>
        <p:spPr>
          <a:xfrm>
            <a:off x="3886200" y="2651760"/>
            <a:ext cx="4572000" cy="7497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164575" tIns="18275" rIns="164575" bIns="18275" anchor="ctr" anchorCtr="0">
            <a:noAutofit/>
          </a:bodyPr>
          <a:lstStyle/>
          <a:p>
            <a:pPr marL="0" marR="0" lvl="0" indent="0" algn="l" rtl="0">
              <a:lnSpc>
                <a:spcPct val="100000"/>
              </a:lnSpc>
              <a:spcBef>
                <a:spcPts val="0"/>
              </a:spcBef>
              <a:spcAft>
                <a:spcPts val="0"/>
              </a:spcAft>
              <a:buClr>
                <a:srgbClr val="000000"/>
              </a:buClr>
              <a:buSzPts val="1120"/>
              <a:buFont typeface="Arial"/>
              <a:buNone/>
            </a:pPr>
            <a:r>
              <a:rPr lang="en" sz="1120" b="1" i="0" u="none" strike="noStrike" cap="none">
                <a:solidFill>
                  <a:srgbClr val="162849"/>
                </a:solidFill>
                <a:latin typeface="Arial"/>
                <a:ea typeface="Arial"/>
                <a:cs typeface="Arial"/>
                <a:sym typeface="Arial"/>
              </a:rPr>
              <a:t>Reusable</a:t>
            </a:r>
            <a:br>
              <a:rPr lang="en" sz="1120" b="1" i="0" u="none" strike="noStrike" cap="none">
                <a:solidFill>
                  <a:srgbClr val="162849"/>
                </a:solidFill>
                <a:latin typeface="Arial"/>
                <a:ea typeface="Arial"/>
                <a:cs typeface="Arial"/>
                <a:sym typeface="Arial"/>
              </a:rPr>
            </a:br>
            <a:r>
              <a:rPr lang="en" sz="1120" b="1" i="0" u="none" strike="noStrike" cap="none">
                <a:solidFill>
                  <a:srgbClr val="162849"/>
                </a:solidFill>
                <a:latin typeface="Arial"/>
                <a:ea typeface="Arial"/>
                <a:cs typeface="Arial"/>
                <a:sym typeface="Arial"/>
              </a:rPr>
              <a:t>The same rubric evaluates comparable subgoals across different problems.</a:t>
            </a:r>
            <a:endParaRPr sz="1400" b="0" i="0" u="none" strike="noStrike" cap="none">
              <a:solidFill>
                <a:srgbClr val="000000"/>
              </a:solidFill>
              <a:latin typeface="Arial"/>
              <a:ea typeface="Arial"/>
              <a:cs typeface="Arial"/>
              <a:sym typeface="Arial"/>
            </a:endParaRPr>
          </a:p>
        </p:txBody>
      </p:sp>
      <p:sp>
        <p:nvSpPr>
          <p:cNvPr id="177" name="Google Shape;177;p36"/>
          <p:cNvSpPr/>
          <p:nvPr/>
        </p:nvSpPr>
        <p:spPr>
          <a:xfrm>
            <a:off x="3886200" y="3584448"/>
            <a:ext cx="4572000" cy="7497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164575" tIns="18275" rIns="164575" bIns="18275" anchor="ctr" anchorCtr="0">
            <a:noAutofit/>
          </a:bodyPr>
          <a:lstStyle/>
          <a:p>
            <a:pPr marL="0" marR="0" lvl="0" indent="0" algn="l" rtl="0">
              <a:lnSpc>
                <a:spcPct val="100000"/>
              </a:lnSpc>
              <a:spcBef>
                <a:spcPts val="0"/>
              </a:spcBef>
              <a:spcAft>
                <a:spcPts val="0"/>
              </a:spcAft>
              <a:buClr>
                <a:srgbClr val="000000"/>
              </a:buClr>
              <a:buSzPts val="1120"/>
              <a:buFont typeface="Arial"/>
              <a:buNone/>
            </a:pPr>
            <a:r>
              <a:rPr lang="en" sz="1120" b="1" i="0" u="none" strike="noStrike" cap="none">
                <a:solidFill>
                  <a:srgbClr val="162849"/>
                </a:solidFill>
                <a:latin typeface="Arial"/>
                <a:ea typeface="Arial"/>
                <a:cs typeface="Arial"/>
                <a:sym typeface="Arial"/>
              </a:rPr>
              <a:t>Actionable</a:t>
            </a:r>
            <a:br>
              <a:rPr lang="en" sz="1120" b="1" i="0" u="none" strike="noStrike" cap="none">
                <a:solidFill>
                  <a:srgbClr val="162849"/>
                </a:solidFill>
                <a:latin typeface="Arial"/>
                <a:ea typeface="Arial"/>
                <a:cs typeface="Arial"/>
                <a:sym typeface="Arial"/>
              </a:rPr>
            </a:br>
            <a:r>
              <a:rPr lang="en" sz="1120" b="1" i="0" u="none" strike="noStrike" cap="none">
                <a:solidFill>
                  <a:srgbClr val="162849"/>
                </a:solidFill>
                <a:latin typeface="Arial"/>
                <a:ea typeface="Arial"/>
                <a:cs typeface="Arial"/>
                <a:sym typeface="Arial"/>
              </a:rPr>
              <a:t>Reward reflects whether an intermediate behavior is complete—not merely whether it resembles a reference.</a:t>
            </a:r>
            <a:endParaRPr sz="1400" b="0" i="0" u="none" strike="noStrike" cap="none">
              <a:solidFill>
                <a:srgbClr val="000000"/>
              </a:solidFill>
              <a:latin typeface="Arial"/>
              <a:ea typeface="Arial"/>
              <a:cs typeface="Arial"/>
              <a:sym typeface="Arial"/>
            </a:endParaRPr>
          </a:p>
        </p:txBody>
      </p:sp>
      <p:sp>
        <p:nvSpPr>
          <p:cNvPr id="178" name="Google Shape;178;p36"/>
          <p:cNvSpPr txBox="1"/>
          <p:nvPr/>
        </p:nvSpPr>
        <p:spPr>
          <a:xfrm>
            <a:off x="3886200" y="4553712"/>
            <a:ext cx="4572000" cy="229200"/>
          </a:xfrm>
          <a:prstGeom prst="rect">
            <a:avLst/>
          </a:prstGeom>
          <a:noFill/>
          <a:ln>
            <a:noFill/>
          </a:ln>
        </p:spPr>
        <p:txBody>
          <a:bodyPr spcFirstLastPara="1" wrap="square" lIns="54850" tIns="18275" rIns="54850" bIns="18275" anchor="ctr" anchorCtr="0">
            <a:spAutoFit/>
          </a:bodyPr>
          <a:lstStyle/>
          <a:p>
            <a:pPr marL="0" marR="0" lvl="0" indent="0" algn="ctr" rtl="0">
              <a:lnSpc>
                <a:spcPct val="100000"/>
              </a:lnSpc>
              <a:spcBef>
                <a:spcPts val="0"/>
              </a:spcBef>
              <a:spcAft>
                <a:spcPts val="0"/>
              </a:spcAft>
              <a:buClr>
                <a:srgbClr val="000000"/>
              </a:buClr>
              <a:buSzPts val="1250"/>
              <a:buFont typeface="Arial"/>
              <a:buNone/>
            </a:pPr>
            <a:r>
              <a:rPr lang="en" sz="1250" b="1" i="0" u="none" strike="noStrike" cap="none">
                <a:solidFill>
                  <a:srgbClr val="18895C"/>
                </a:solidFill>
                <a:latin typeface="Arial"/>
                <a:ea typeface="Arial"/>
                <a:cs typeface="Arial"/>
                <a:sym typeface="Arial"/>
              </a:rPr>
              <a:t>Reusable criteria reduce reward drift across instances.</a:t>
            </a:r>
            <a:endParaRPr sz="1400" b="0" i="0" u="none" strike="noStrike" cap="none">
              <a:solidFill>
                <a:srgbClr val="000000"/>
              </a:solidFill>
              <a:latin typeface="Arial"/>
              <a:ea typeface="Arial"/>
              <a:cs typeface="Arial"/>
              <a:sym typeface="Arial"/>
            </a:endParaRPr>
          </a:p>
        </p:txBody>
      </p:sp>
      <p:sp>
        <p:nvSpPr>
          <p:cNvPr id="179" name="Google Shape;179;p36"/>
          <p:cNvSpPr/>
          <p:nvPr/>
        </p:nvSpPr>
        <p:spPr>
          <a:xfrm>
            <a:off x="457200" y="914400"/>
            <a:ext cx="3182112" cy="3986784"/>
          </a:xfrm>
          <a:prstGeom prst="roundRect">
            <a:avLst>
              <a:gd name="adj" fmla="val 6000"/>
            </a:avLst>
          </a:prstGeom>
          <a:solidFill>
            <a:srgbClr val="F8FAFD"/>
          </a:solidFill>
          <a:ln w="9525" cap="flat" cmpd="sng">
            <a:solidFill>
              <a:srgbClr val="D5DEE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0" name="Google Shape;180;p36"/>
          <p:cNvSpPr/>
          <p:nvPr/>
        </p:nvSpPr>
        <p:spPr>
          <a:xfrm>
            <a:off x="457200" y="914400"/>
            <a:ext cx="3182112" cy="512064"/>
          </a:xfrm>
          <a:prstGeom prst="roundRect">
            <a:avLst>
              <a:gd name="adj" fmla="val 6000"/>
            </a:avLst>
          </a:prstGeom>
          <a:solidFill>
            <a:srgbClr val="16284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p36"/>
          <p:cNvSpPr txBox="1"/>
          <p:nvPr/>
        </p:nvSpPr>
        <p:spPr>
          <a:xfrm>
            <a:off x="585216" y="996696"/>
            <a:ext cx="2926080"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 sz="800" b="1" i="0" u="none" strike="noStrike" cap="none">
                <a:solidFill>
                  <a:srgbClr val="FFFFFF"/>
                </a:solidFill>
                <a:latin typeface="Arial"/>
                <a:ea typeface="Arial"/>
                <a:cs typeface="Arial"/>
                <a:sym typeface="Arial"/>
              </a:rPr>
              <a:t>SKILL PROTOTYPE · MATHEMATICAL REASONING</a:t>
            </a:r>
            <a:endParaRPr sz="1400" b="0" i="0" u="none" strike="noStrike" cap="none">
              <a:solidFill>
                <a:srgbClr val="000000"/>
              </a:solidFill>
              <a:latin typeface="Arial"/>
              <a:ea typeface="Arial"/>
              <a:cs typeface="Arial"/>
              <a:sym typeface="Arial"/>
            </a:endParaRPr>
          </a:p>
        </p:txBody>
      </p:sp>
      <p:sp>
        <p:nvSpPr>
          <p:cNvPr id="182" name="Google Shape;182;p36"/>
          <p:cNvSpPr txBox="1"/>
          <p:nvPr/>
        </p:nvSpPr>
        <p:spPr>
          <a:xfrm>
            <a:off x="585216" y="1170432"/>
            <a:ext cx="2926080" cy="21031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40"/>
              <a:buFont typeface="Arial"/>
              <a:buNone/>
            </a:pPr>
            <a:r>
              <a:rPr lang="en" sz="1040" b="1" i="0" u="none" strike="noStrike" cap="none">
                <a:solidFill>
                  <a:srgbClr val="FFFFFF"/>
                </a:solidFill>
                <a:latin typeface="Arial"/>
                <a:ea typeface="Arial"/>
                <a:cs typeface="Arial"/>
                <a:sym typeface="Arial"/>
              </a:rPr>
              <a:t>Bound-Based Conclusion and Synthesis</a:t>
            </a:r>
            <a:endParaRPr sz="1400" b="0" i="0" u="none" strike="noStrike" cap="none">
              <a:solidFill>
                <a:srgbClr val="000000"/>
              </a:solidFill>
              <a:latin typeface="Arial"/>
              <a:ea typeface="Arial"/>
              <a:cs typeface="Arial"/>
              <a:sym typeface="Arial"/>
            </a:endParaRPr>
          </a:p>
        </p:txBody>
      </p:sp>
      <p:sp>
        <p:nvSpPr>
          <p:cNvPr id="183" name="Google Shape;183;p36"/>
          <p:cNvSpPr txBox="1"/>
          <p:nvPr/>
        </p:nvSpPr>
        <p:spPr>
          <a:xfrm>
            <a:off x="585216" y="1527048"/>
            <a:ext cx="2916936"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SCOPE &amp; APPLICABLE SCENARIO</a:t>
            </a:r>
            <a:endParaRPr sz="1400" b="0" i="0" u="none" strike="noStrike" cap="none">
              <a:solidFill>
                <a:srgbClr val="000000"/>
              </a:solidFill>
              <a:latin typeface="Arial"/>
              <a:ea typeface="Arial"/>
              <a:cs typeface="Arial"/>
              <a:sym typeface="Arial"/>
            </a:endParaRPr>
          </a:p>
        </p:txBody>
      </p:sp>
      <p:sp>
        <p:nvSpPr>
          <p:cNvPr id="184" name="Google Shape;184;p36"/>
          <p:cNvSpPr txBox="1"/>
          <p:nvPr/>
        </p:nvSpPr>
        <p:spPr>
          <a:xfrm>
            <a:off x="585216" y="1719072"/>
            <a:ext cx="2907792" cy="42976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Bounds, extrema, tightness, case coverage, and domain constraints. Conclude from prior constraints; justify attainability or feasibility.</a:t>
            </a:r>
            <a:endParaRPr sz="1400" b="0" i="0" u="none" strike="noStrike" cap="none">
              <a:solidFill>
                <a:srgbClr val="000000"/>
              </a:solidFill>
              <a:latin typeface="Arial"/>
              <a:ea typeface="Arial"/>
              <a:cs typeface="Arial"/>
              <a:sym typeface="Arial"/>
            </a:endParaRPr>
          </a:p>
        </p:txBody>
      </p:sp>
      <p:sp>
        <p:nvSpPr>
          <p:cNvPr id="185" name="Google Shape;185;p36"/>
          <p:cNvSpPr txBox="1"/>
          <p:nvPr/>
        </p:nvSpPr>
        <p:spPr>
          <a:xfrm>
            <a:off x="585216" y="2194560"/>
            <a:ext cx="2916936"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CANONICAL REASONING PATTERN</a:t>
            </a:r>
            <a:endParaRPr sz="1400" b="0" i="0" u="none" strike="noStrike" cap="none">
              <a:solidFill>
                <a:srgbClr val="000000"/>
              </a:solidFill>
              <a:latin typeface="Arial"/>
              <a:ea typeface="Arial"/>
              <a:cs typeface="Arial"/>
              <a:sym typeface="Arial"/>
            </a:endParaRPr>
          </a:p>
        </p:txBody>
      </p:sp>
      <p:sp>
        <p:nvSpPr>
          <p:cNvPr id="186" name="Google Shape;186;p36"/>
          <p:cNvSpPr txBox="1"/>
          <p:nvPr/>
        </p:nvSpPr>
        <p:spPr>
          <a:xfrm>
            <a:off x="585216" y="2386584"/>
            <a:ext cx="2907792" cy="78638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1. Identify the relevant intermediate results.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2. Distinguish implication from a tightness claim.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3. Prove attainability when claiming an extremum.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4. Check domains and cover all cases.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
              </a:spcBef>
              <a:spcAft>
                <a:spcPts val="0"/>
              </a:spcAft>
              <a:buClr>
                <a:srgbClr val="000000"/>
              </a:buClr>
              <a:buSzPts val="900"/>
              <a:buFont typeface="Arial"/>
              <a:buNone/>
            </a:pPr>
            <a:r>
              <a:rPr lang="en" sz="900" b="0" i="0" u="none" strike="noStrike" cap="none">
                <a:solidFill>
                  <a:srgbClr val="162849"/>
                </a:solidFill>
                <a:latin typeface="Arial"/>
                <a:ea typeface="Arial"/>
                <a:cs typeface="Arial"/>
                <a:sym typeface="Arial"/>
              </a:rPr>
              <a:t>5. State the final conclusion.</a:t>
            </a:r>
            <a:endParaRPr sz="1400" b="0" i="0" u="none" strike="noStrike" cap="none">
              <a:solidFill>
                <a:srgbClr val="000000"/>
              </a:solidFill>
              <a:latin typeface="Arial"/>
              <a:ea typeface="Arial"/>
              <a:cs typeface="Arial"/>
              <a:sym typeface="Arial"/>
            </a:endParaRPr>
          </a:p>
        </p:txBody>
      </p:sp>
      <p:sp>
        <p:nvSpPr>
          <p:cNvPr id="187" name="Google Shape;187;p36"/>
          <p:cNvSpPr txBox="1"/>
          <p:nvPr/>
        </p:nvSpPr>
        <p:spPr>
          <a:xfrm>
            <a:off x="585216" y="3200400"/>
            <a:ext cx="2916936"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JUDGING RUBRIC · 0–3</a:t>
            </a:r>
            <a:endParaRPr sz="1400" b="0" i="0" u="none" strike="noStrike" cap="none">
              <a:solidFill>
                <a:srgbClr val="000000"/>
              </a:solidFill>
              <a:latin typeface="Arial"/>
              <a:ea typeface="Arial"/>
              <a:cs typeface="Arial"/>
              <a:sym typeface="Arial"/>
            </a:endParaRPr>
          </a:p>
        </p:txBody>
      </p:sp>
      <p:sp>
        <p:nvSpPr>
          <p:cNvPr id="188" name="Google Shape;188;p36"/>
          <p:cNvSpPr/>
          <p:nvPr/>
        </p:nvSpPr>
        <p:spPr>
          <a:xfrm>
            <a:off x="585216" y="3410712"/>
            <a:ext cx="2907792" cy="210312"/>
          </a:xfrm>
          <a:prstGeom prst="roundRect">
            <a:avLst>
              <a:gd name="adj" fmla="val 6000"/>
            </a:avLst>
          </a:prstGeom>
          <a:solidFill>
            <a:srgbClr val="EAF4E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 name="Google Shape;189;p36"/>
          <p:cNvSpPr txBox="1"/>
          <p:nvPr/>
        </p:nvSpPr>
        <p:spPr>
          <a:xfrm>
            <a:off x="658368" y="3442716"/>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216B48"/>
                </a:solidFill>
                <a:latin typeface="Arial"/>
                <a:ea typeface="Arial"/>
                <a:cs typeface="Arial"/>
                <a:sym typeface="Arial"/>
              </a:rPr>
              <a:t>3  Correct &amp; complete: rigorous and feasible.</a:t>
            </a:r>
            <a:endParaRPr sz="1400" b="0" i="0" u="none" strike="noStrike" cap="none">
              <a:solidFill>
                <a:srgbClr val="000000"/>
              </a:solidFill>
              <a:latin typeface="Arial"/>
              <a:ea typeface="Arial"/>
              <a:cs typeface="Arial"/>
              <a:sym typeface="Arial"/>
            </a:endParaRPr>
          </a:p>
        </p:txBody>
      </p:sp>
      <p:sp>
        <p:nvSpPr>
          <p:cNvPr id="190" name="Google Shape;190;p36"/>
          <p:cNvSpPr/>
          <p:nvPr/>
        </p:nvSpPr>
        <p:spPr>
          <a:xfrm>
            <a:off x="585216" y="3639312"/>
            <a:ext cx="2907792" cy="210312"/>
          </a:xfrm>
          <a:prstGeom prst="roundRect">
            <a:avLst>
              <a:gd name="adj" fmla="val 6000"/>
            </a:avLst>
          </a:prstGeom>
          <a:solidFill>
            <a:srgbClr val="EEF3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36"/>
          <p:cNvSpPr txBox="1"/>
          <p:nvPr/>
        </p:nvSpPr>
        <p:spPr>
          <a:xfrm>
            <a:off x="658368" y="3671315"/>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284E88"/>
                </a:solidFill>
                <a:latin typeface="Arial"/>
                <a:ea typeface="Arial"/>
                <a:cs typeface="Arial"/>
                <a:sym typeface="Arial"/>
              </a:rPr>
              <a:t>2  Minor flaw: sound strategy, small slips.</a:t>
            </a:r>
            <a:endParaRPr sz="1400" b="0" i="0" u="none" strike="noStrike" cap="none">
              <a:solidFill>
                <a:srgbClr val="000000"/>
              </a:solidFill>
              <a:latin typeface="Arial"/>
              <a:ea typeface="Arial"/>
              <a:cs typeface="Arial"/>
              <a:sym typeface="Arial"/>
            </a:endParaRPr>
          </a:p>
        </p:txBody>
      </p:sp>
      <p:sp>
        <p:nvSpPr>
          <p:cNvPr id="192" name="Google Shape;192;p36"/>
          <p:cNvSpPr/>
          <p:nvPr/>
        </p:nvSpPr>
        <p:spPr>
          <a:xfrm>
            <a:off x="585216" y="3867912"/>
            <a:ext cx="2907792" cy="210312"/>
          </a:xfrm>
          <a:prstGeom prst="roundRect">
            <a:avLst>
              <a:gd name="adj" fmla="val 6000"/>
            </a:avLst>
          </a:prstGeom>
          <a:solidFill>
            <a:srgbClr val="FFF4E3"/>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3" name="Google Shape;193;p36"/>
          <p:cNvSpPr txBox="1"/>
          <p:nvPr/>
        </p:nvSpPr>
        <p:spPr>
          <a:xfrm>
            <a:off x="658368" y="3899916"/>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865C1B"/>
                </a:solidFill>
                <a:latin typeface="Arial"/>
                <a:ea typeface="Arial"/>
                <a:cs typeface="Arial"/>
                <a:sym typeface="Arial"/>
              </a:rPr>
              <a:t>1  Major logical gap: unsupported conclusion.</a:t>
            </a:r>
            <a:endParaRPr sz="1400" b="0" i="0" u="none" strike="noStrike" cap="none">
              <a:solidFill>
                <a:srgbClr val="000000"/>
              </a:solidFill>
              <a:latin typeface="Arial"/>
              <a:ea typeface="Arial"/>
              <a:cs typeface="Arial"/>
              <a:sym typeface="Arial"/>
            </a:endParaRPr>
          </a:p>
        </p:txBody>
      </p:sp>
      <p:sp>
        <p:nvSpPr>
          <p:cNvPr id="194" name="Google Shape;194;p36"/>
          <p:cNvSpPr/>
          <p:nvPr/>
        </p:nvSpPr>
        <p:spPr>
          <a:xfrm>
            <a:off x="585216" y="4096512"/>
            <a:ext cx="2907792" cy="210312"/>
          </a:xfrm>
          <a:prstGeom prst="roundRect">
            <a:avLst>
              <a:gd name="adj" fmla="val 6000"/>
            </a:avLst>
          </a:prstGeom>
          <a:solidFill>
            <a:srgbClr val="FBED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5" name="Google Shape;195;p36"/>
          <p:cNvSpPr txBox="1"/>
          <p:nvPr/>
        </p:nvSpPr>
        <p:spPr>
          <a:xfrm>
            <a:off x="658368" y="4128516"/>
            <a:ext cx="2761488" cy="16459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9B4038"/>
                </a:solidFill>
                <a:latin typeface="Arial"/>
                <a:ea typeface="Arial"/>
                <a:cs typeface="Arial"/>
                <a:sym typeface="Arial"/>
              </a:rPr>
              <a:t>0  Wrong skill: incompatible or premature.</a:t>
            </a:r>
            <a:endParaRPr sz="1400" b="0" i="0" u="none" strike="noStrike" cap="none">
              <a:solidFill>
                <a:srgbClr val="000000"/>
              </a:solidFill>
              <a:latin typeface="Arial"/>
              <a:ea typeface="Arial"/>
              <a:cs typeface="Arial"/>
              <a:sym typeface="Arial"/>
            </a:endParaRPr>
          </a:p>
        </p:txBody>
      </p:sp>
      <p:sp>
        <p:nvSpPr>
          <p:cNvPr id="196" name="Google Shape;196;p36"/>
          <p:cNvSpPr txBox="1"/>
          <p:nvPr/>
        </p:nvSpPr>
        <p:spPr>
          <a:xfrm>
            <a:off x="585216" y="4379976"/>
            <a:ext cx="2916936" cy="15544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18"/>
              <a:buFont typeface="Arial"/>
              <a:buNone/>
            </a:pPr>
            <a:r>
              <a:rPr lang="en" sz="819" b="1" i="0" u="none" strike="noStrike" cap="none">
                <a:solidFill>
                  <a:srgbClr val="2870E6"/>
                </a:solidFill>
                <a:latin typeface="Arial"/>
                <a:ea typeface="Arial"/>
                <a:cs typeface="Arial"/>
                <a:sym typeface="Arial"/>
              </a:rPr>
              <a:t>COMMON TRAPS</a:t>
            </a:r>
            <a:endParaRPr sz="1400" b="0" i="0" u="none" strike="noStrike" cap="none">
              <a:solidFill>
                <a:srgbClr val="000000"/>
              </a:solidFill>
              <a:latin typeface="Arial"/>
              <a:ea typeface="Arial"/>
              <a:cs typeface="Arial"/>
              <a:sym typeface="Arial"/>
            </a:endParaRPr>
          </a:p>
        </p:txBody>
      </p:sp>
      <p:sp>
        <p:nvSpPr>
          <p:cNvPr id="197" name="Google Shape;197;p36"/>
          <p:cNvSpPr txBox="1"/>
          <p:nvPr/>
        </p:nvSpPr>
        <p:spPr>
          <a:xfrm>
            <a:off x="585216" y="4562856"/>
            <a:ext cx="2907792" cy="25603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162849"/>
                </a:solidFill>
                <a:latin typeface="Arial"/>
                <a:ea typeface="Arial"/>
                <a:cs typeface="Arial"/>
                <a:sym typeface="Arial"/>
              </a:rPr>
              <a:t>Boundary leak → 2     Unproved tightness → 1</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7"/>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03" name="Google Shape;203;p37"/>
          <p:cNvSpPr txBox="1"/>
          <p:nvPr/>
        </p:nvSpPr>
        <p:spPr>
          <a:xfrm>
            <a:off x="438912" y="164592"/>
            <a:ext cx="8321040" cy="4754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2300" b="1" i="0" u="none" strike="noStrike" cap="none">
                <a:solidFill>
                  <a:srgbClr val="183153"/>
                </a:solidFill>
                <a:latin typeface="Arial"/>
                <a:ea typeface="Arial"/>
                <a:cs typeface="Arial"/>
                <a:sym typeface="Arial"/>
              </a:rPr>
              <a:t>Reference Quality Matters for Instance-Level Rubrics</a:t>
            </a:r>
            <a:endParaRPr/>
          </a:p>
        </p:txBody>
      </p:sp>
      <p:sp>
        <p:nvSpPr>
          <p:cNvPr id="204" name="Google Shape;204;p37"/>
          <p:cNvSpPr txBox="1"/>
          <p:nvPr/>
        </p:nvSpPr>
        <p:spPr>
          <a:xfrm>
            <a:off x="530352" y="941832"/>
            <a:ext cx="813816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RaR builds a rubric from each problem’s reference answer.</a:t>
            </a:r>
            <a:endParaRPr/>
          </a:p>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SCRIBE reuses skill rubrics without requiring golden reference answers.</a:t>
            </a:r>
            <a:endParaRPr/>
          </a:p>
        </p:txBody>
      </p:sp>
      <p:graphicFrame>
        <p:nvGraphicFramePr>
          <p:cNvPr id="205" name="Google Shape;205;p37"/>
          <p:cNvGraphicFramePr/>
          <p:nvPr/>
        </p:nvGraphicFramePr>
        <p:xfrm>
          <a:off x="530352" y="2487168"/>
          <a:ext cx="3000000" cy="3000000"/>
        </p:xfrm>
        <a:graphic>
          <a:graphicData uri="http://schemas.openxmlformats.org/drawingml/2006/table">
            <a:tbl>
              <a:tblPr firstRow="1" bandRow="1">
                <a:noFill/>
                <a:tableStyleId>{60C7E03B-85A4-41BA-8E18-2549407F5BF5}</a:tableStyleId>
              </a:tblPr>
              <a:tblGrid>
                <a:gridCol w="1856225">
                  <a:extLst>
                    <a:ext uri="{9D8B030D-6E8A-4147-A177-3AD203B41FA5}">
                      <a16:colId xmlns:a16="http://schemas.microsoft.com/office/drawing/2014/main" val="20000"/>
                    </a:ext>
                  </a:extLst>
                </a:gridCol>
                <a:gridCol w="2386575">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gridCol w="1280150">
                  <a:extLst>
                    <a:ext uri="{9D8B030D-6E8A-4147-A177-3AD203B41FA5}">
                      <a16:colId xmlns:a16="http://schemas.microsoft.com/office/drawing/2014/main" val="20004"/>
                    </a:ext>
                  </a:extLst>
                </a:gridCol>
              </a:tblGrid>
              <a:tr h="420625">
                <a:tc>
                  <a:txBody>
                    <a:bodyPr/>
                    <a:lstStyle/>
                    <a:p>
                      <a:pPr marL="0" marR="0" lvl="0" indent="0" algn="l"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Reference source</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MATH500</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AIME25</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BFCL</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RaR</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GPT-5.1 labeled</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90.7</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43.3</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46.2</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Not required</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endParaRPr/>
                    </a:p>
                  </a:txBody>
                  <a:tcPr marL="91450" marR="45725" marT="45725" marB="36575" anchor="ctr">
                    <a:solidFill>
                      <a:srgbClr val="EDF4FC"/>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8"/>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1" name="Google Shape;211;p38"/>
          <p:cNvSpPr txBox="1"/>
          <p:nvPr/>
        </p:nvSpPr>
        <p:spPr>
          <a:xfrm>
            <a:off x="438912" y="164592"/>
            <a:ext cx="8321100" cy="354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2300" b="1" i="0" u="none" strike="noStrike" cap="none">
                <a:solidFill>
                  <a:srgbClr val="183153"/>
                </a:solidFill>
                <a:latin typeface="Arial"/>
                <a:ea typeface="Arial"/>
                <a:cs typeface="Arial"/>
                <a:sym typeface="Arial"/>
              </a:rPr>
              <a:t>Reference Quality Matters for Instance-Level Rubrics</a:t>
            </a:r>
            <a:endParaRPr/>
          </a:p>
        </p:txBody>
      </p:sp>
      <p:sp>
        <p:nvSpPr>
          <p:cNvPr id="212" name="Google Shape;212;p38"/>
          <p:cNvSpPr txBox="1"/>
          <p:nvPr/>
        </p:nvSpPr>
        <p:spPr>
          <a:xfrm>
            <a:off x="530352" y="941832"/>
            <a:ext cx="8138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RaR builds a rubric from each problem’s reference answer.</a:t>
            </a:r>
            <a:endParaRPr/>
          </a:p>
          <a:p>
            <a:pPr marL="0" marR="0" lvl="0" indent="0" algn="l" rtl="0">
              <a:lnSpc>
                <a:spcPct val="100000"/>
              </a:lnSpc>
              <a:spcBef>
                <a:spcPts val="0"/>
              </a:spcBef>
              <a:spcAft>
                <a:spcPts val="0"/>
              </a:spcAft>
              <a:buNone/>
            </a:pPr>
            <a:r>
              <a:rPr lang="en" sz="1500" b="0" i="0" u="none" strike="noStrike" cap="none">
                <a:solidFill>
                  <a:srgbClr val="183153"/>
                </a:solidFill>
                <a:latin typeface="Arial"/>
                <a:ea typeface="Arial"/>
                <a:cs typeface="Arial"/>
                <a:sym typeface="Arial"/>
              </a:rPr>
              <a:t>SCRIBE reuses skill rubrics without requiring golden reference answers.</a:t>
            </a:r>
            <a:endParaRPr/>
          </a:p>
        </p:txBody>
      </p:sp>
      <p:graphicFrame>
        <p:nvGraphicFramePr>
          <p:cNvPr id="213" name="Google Shape;213;p38"/>
          <p:cNvGraphicFramePr/>
          <p:nvPr/>
        </p:nvGraphicFramePr>
        <p:xfrm>
          <a:off x="530352" y="2487168"/>
          <a:ext cx="8083250" cy="1261875"/>
        </p:xfrm>
        <a:graphic>
          <a:graphicData uri="http://schemas.openxmlformats.org/drawingml/2006/table">
            <a:tbl>
              <a:tblPr firstRow="1" bandRow="1">
                <a:noFill/>
                <a:tableStyleId>{60C7E03B-85A4-41BA-8E18-2549407F5BF5}</a:tableStyleId>
              </a:tblPr>
              <a:tblGrid>
                <a:gridCol w="1856225">
                  <a:extLst>
                    <a:ext uri="{9D8B030D-6E8A-4147-A177-3AD203B41FA5}">
                      <a16:colId xmlns:a16="http://schemas.microsoft.com/office/drawing/2014/main" val="20000"/>
                    </a:ext>
                  </a:extLst>
                </a:gridCol>
                <a:gridCol w="2386575">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gridCol w="1280150">
                  <a:extLst>
                    <a:ext uri="{9D8B030D-6E8A-4147-A177-3AD203B41FA5}">
                      <a16:colId xmlns:a16="http://schemas.microsoft.com/office/drawing/2014/main" val="20004"/>
                    </a:ext>
                  </a:extLst>
                </a:gridCol>
              </a:tblGrid>
              <a:tr h="420625">
                <a:tc>
                  <a:txBody>
                    <a:bodyPr/>
                    <a:lstStyle/>
                    <a:p>
                      <a:pPr marL="0" marR="0" lvl="0" indent="0" algn="l"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Reference source</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MATH500</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AIME25</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300" b="1" u="none" strike="noStrike" cap="none">
                          <a:solidFill>
                            <a:srgbClr val="FFFFFF"/>
                          </a:solidFill>
                          <a:latin typeface="Arial"/>
                          <a:ea typeface="Arial"/>
                          <a:cs typeface="Arial"/>
                          <a:sym typeface="Arial"/>
                        </a:rPr>
                        <a:t>BFCL</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RaR</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GPT-5.1 labeled</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90.7</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43.3</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300" b="0" u="none" strike="noStrike" cap="none">
                          <a:solidFill>
                            <a:srgbClr val="183153"/>
                          </a:solidFill>
                          <a:latin typeface="Arial"/>
                          <a:ea typeface="Arial"/>
                          <a:cs typeface="Arial"/>
                          <a:sym typeface="Arial"/>
                        </a:rPr>
                        <a:t>46.2</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Not required</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95.8</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63.3</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300" b="1" u="none" strike="noStrike" cap="none">
                          <a:solidFill>
                            <a:srgbClr val="183153"/>
                          </a:solidFill>
                          <a:latin typeface="Arial"/>
                          <a:ea typeface="Arial"/>
                          <a:cs typeface="Arial"/>
                          <a:sym typeface="Arial"/>
                        </a:rPr>
                        <a:t>51.3</a:t>
                      </a:r>
                      <a:endParaRPr/>
                    </a:p>
                  </a:txBody>
                  <a:tcPr marL="91450" marR="45725" marT="45725" marB="36575" anchor="ctr">
                    <a:solidFill>
                      <a:srgbClr val="EDF4FC"/>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9"/>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9" name="Google Shape;219;p39"/>
          <p:cNvSpPr txBox="1"/>
          <p:nvPr/>
        </p:nvSpPr>
        <p:spPr>
          <a:xfrm>
            <a:off x="438912" y="164592"/>
            <a:ext cx="8321040" cy="475488"/>
          </a:xfrm>
          <a:prstGeom prst="rect">
            <a:avLst/>
          </a:prstGeom>
          <a:noFill/>
          <a:ln>
            <a:noFill/>
          </a:ln>
        </p:spPr>
        <p:txBody>
          <a:bodyPr spcFirstLastPara="1" wrap="square" lIns="0" tIns="0" rIns="0" bIns="0" anchor="ctr" anchorCtr="0">
            <a:spAutoFit/>
          </a:bodyPr>
          <a:lstStyle/>
          <a:p>
            <a:pPr>
              <a:defRPr sz="2300" b="1">
                <a:solidFill>
                  <a:srgbClr val="193354"/>
                </a:solidFill>
                <a:latin typeface="Arial"/>
              </a:defRPr>
            </a:pPr>
            <a:r>
              <a:t>Same Trajectory: Is the Reward Consistent?</a:t>
            </a:r>
          </a:p>
        </p:txBody>
      </p:sp>
      <p:sp>
        <p:nvSpPr>
          <p:cNvPr id="220" name="Rectangle 21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TextBox 220"/>
          <p:cNvSpPr txBox="1"/>
          <p:nvPr/>
        </p:nvSpPr>
        <p:spPr>
          <a:xfrm>
            <a:off x="548640" y="941832"/>
            <a:ext cx="8046720" cy="365760"/>
          </a:xfrm>
          <a:prstGeom prst="rect">
            <a:avLst/>
          </a:prstGeom>
          <a:noFill/>
        </p:spPr>
        <p:txBody>
          <a:bodyPr wrap="square" lIns="0" rIns="0" tIns="0" bIns="0">
            <a:spAutoFit/>
          </a:bodyPr>
          <a:lstStyle/>
          <a:p>
            <a:pPr algn="l">
              <a:spcAft>
                <a:spcPts val="300"/>
              </a:spcAft>
              <a:defRPr sz="1600" b="0">
                <a:solidFill>
                  <a:srgbClr val="193354"/>
                </a:solidFill>
                <a:latin typeface="Arial"/>
              </a:defRPr>
            </a:pPr>
            <a:r>
              <a:t>Give the judge the same complete trajectory and repeat reward scoring 10 times.</a:t>
            </a:r>
          </a:p>
        </p:txBody>
      </p:sp>
      <p:sp>
        <p:nvSpPr>
          <p:cNvPr id="222" name="Rounded Rectangle 221"/>
          <p:cNvSpPr/>
          <p:nvPr/>
        </p:nvSpPr>
        <p:spPr>
          <a:xfrm>
            <a:off x="548640" y="1554480"/>
            <a:ext cx="4114800" cy="1527048"/>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31520" y="1719072"/>
            <a:ext cx="3749039" cy="274320"/>
          </a:xfrm>
          <a:prstGeom prst="rect">
            <a:avLst/>
          </a:prstGeom>
          <a:noFill/>
        </p:spPr>
        <p:txBody>
          <a:bodyPr wrap="square" lIns="0" rIns="0" tIns="0" bIns="0">
            <a:spAutoFit/>
          </a:bodyPr>
          <a:lstStyle/>
          <a:p>
            <a:pPr algn="l">
              <a:spcAft>
                <a:spcPts val="300"/>
              </a:spcAft>
              <a:defRPr sz="1700" b="1">
                <a:solidFill>
                  <a:srgbClr val="193354"/>
                </a:solidFill>
                <a:latin typeface="Arial"/>
              </a:defRPr>
            </a:pPr>
            <a:r>
              <a:t>One Fixed Trajectory</a:t>
            </a:r>
          </a:p>
        </p:txBody>
      </p:sp>
      <p:sp>
        <p:nvSpPr>
          <p:cNvPr id="224" name="Rounded Rectangle 223"/>
          <p:cNvSpPr/>
          <p:nvPr/>
        </p:nvSpPr>
        <p:spPr>
          <a:xfrm>
            <a:off x="758952" y="2240280"/>
            <a:ext cx="987552" cy="438912"/>
          </a:xfrm>
          <a:prstGeom prst="roundRect">
            <a:avLst>
              <a:gd name="adj" fmla="val 8000"/>
            </a:avLst>
          </a:prstGeom>
          <a:solidFill>
            <a:srgbClr val="FFFFFF"/>
          </a:solidFill>
          <a:ln>
            <a:solidFill>
              <a:srgbClr val="B8CB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758952" y="2350008"/>
            <a:ext cx="987552" cy="237744"/>
          </a:xfrm>
          <a:prstGeom prst="rect">
            <a:avLst/>
          </a:prstGeom>
          <a:noFill/>
        </p:spPr>
        <p:txBody>
          <a:bodyPr wrap="square" lIns="0" rIns="0" tIns="0" bIns="0">
            <a:spAutoFit/>
          </a:bodyPr>
          <a:lstStyle/>
          <a:p>
            <a:pPr algn="ctr">
              <a:spcAft>
                <a:spcPts val="300"/>
              </a:spcAft>
              <a:defRPr sz="1200" b="0">
                <a:solidFill>
                  <a:srgbClr val="193354"/>
                </a:solidFill>
                <a:latin typeface="Arial"/>
              </a:defRPr>
            </a:pPr>
            <a:r>
              <a:t>Step 1</a:t>
            </a:r>
          </a:p>
        </p:txBody>
      </p:sp>
      <p:sp>
        <p:nvSpPr>
          <p:cNvPr id="226" name="Rounded Rectangle 225"/>
          <p:cNvSpPr/>
          <p:nvPr/>
        </p:nvSpPr>
        <p:spPr>
          <a:xfrm>
            <a:off x="2011680" y="2240280"/>
            <a:ext cx="987552" cy="438912"/>
          </a:xfrm>
          <a:prstGeom prst="roundRect">
            <a:avLst>
              <a:gd name="adj" fmla="val 8000"/>
            </a:avLst>
          </a:prstGeom>
          <a:solidFill>
            <a:srgbClr val="FFFFFF"/>
          </a:solidFill>
          <a:ln>
            <a:solidFill>
              <a:srgbClr val="B8CB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2011680" y="2350008"/>
            <a:ext cx="987552" cy="237744"/>
          </a:xfrm>
          <a:prstGeom prst="rect">
            <a:avLst/>
          </a:prstGeom>
          <a:noFill/>
        </p:spPr>
        <p:txBody>
          <a:bodyPr wrap="square" lIns="0" rIns="0" tIns="0" bIns="0">
            <a:spAutoFit/>
          </a:bodyPr>
          <a:lstStyle/>
          <a:p>
            <a:pPr algn="ctr">
              <a:spcAft>
                <a:spcPts val="300"/>
              </a:spcAft>
              <a:defRPr sz="1200" b="0">
                <a:solidFill>
                  <a:srgbClr val="193354"/>
                </a:solidFill>
                <a:latin typeface="Arial"/>
              </a:defRPr>
            </a:pPr>
            <a:r>
              <a:t>Step 2</a:t>
            </a:r>
          </a:p>
        </p:txBody>
      </p:sp>
      <p:sp>
        <p:nvSpPr>
          <p:cNvPr id="228" name="Rounded Rectangle 227"/>
          <p:cNvSpPr/>
          <p:nvPr/>
        </p:nvSpPr>
        <p:spPr>
          <a:xfrm>
            <a:off x="3264408" y="2240280"/>
            <a:ext cx="987552" cy="438912"/>
          </a:xfrm>
          <a:prstGeom prst="roundRect">
            <a:avLst>
              <a:gd name="adj" fmla="val 8000"/>
            </a:avLst>
          </a:prstGeom>
          <a:solidFill>
            <a:srgbClr val="FFFFFF"/>
          </a:solidFill>
          <a:ln>
            <a:solidFill>
              <a:srgbClr val="B8CB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64408" y="2350008"/>
            <a:ext cx="987552" cy="237744"/>
          </a:xfrm>
          <a:prstGeom prst="rect">
            <a:avLst/>
          </a:prstGeom>
          <a:noFill/>
        </p:spPr>
        <p:txBody>
          <a:bodyPr wrap="square" lIns="0" rIns="0" tIns="0" bIns="0">
            <a:spAutoFit/>
          </a:bodyPr>
          <a:lstStyle/>
          <a:p>
            <a:pPr algn="ctr">
              <a:spcAft>
                <a:spcPts val="300"/>
              </a:spcAft>
              <a:defRPr sz="1200" b="0">
                <a:solidFill>
                  <a:srgbClr val="193354"/>
                </a:solidFill>
                <a:latin typeface="Arial"/>
              </a:defRPr>
            </a:pPr>
            <a:r>
              <a:t>… Step n</a:t>
            </a:r>
          </a:p>
        </p:txBody>
      </p:sp>
      <p:sp>
        <p:nvSpPr>
          <p:cNvPr id="230" name="TextBox 229"/>
          <p:cNvSpPr txBox="1"/>
          <p:nvPr/>
        </p:nvSpPr>
        <p:spPr>
          <a:xfrm>
            <a:off x="1792224" y="2313432"/>
            <a:ext cx="228600" cy="274320"/>
          </a:xfrm>
          <a:prstGeom prst="rect">
            <a:avLst/>
          </a:prstGeom>
          <a:noFill/>
        </p:spPr>
        <p:txBody>
          <a:bodyPr wrap="square" lIns="0" rIns="0" tIns="0" bIns="0">
            <a:spAutoFit/>
          </a:bodyPr>
          <a:lstStyle/>
          <a:p>
            <a:pPr algn="l">
              <a:spcAft>
                <a:spcPts val="300"/>
              </a:spcAft>
              <a:defRPr sz="1700" b="0">
                <a:solidFill>
                  <a:srgbClr val="193354"/>
                </a:solidFill>
                <a:latin typeface="Arial"/>
              </a:defRPr>
            </a:pPr>
            <a:r>
              <a:t>→</a:t>
            </a:r>
          </a:p>
        </p:txBody>
      </p:sp>
      <p:sp>
        <p:nvSpPr>
          <p:cNvPr id="231" name="TextBox 230"/>
          <p:cNvSpPr txBox="1"/>
          <p:nvPr/>
        </p:nvSpPr>
        <p:spPr>
          <a:xfrm>
            <a:off x="3044952" y="2313432"/>
            <a:ext cx="228600" cy="274320"/>
          </a:xfrm>
          <a:prstGeom prst="rect">
            <a:avLst/>
          </a:prstGeom>
          <a:noFill/>
        </p:spPr>
        <p:txBody>
          <a:bodyPr wrap="square" lIns="0" rIns="0" tIns="0" bIns="0">
            <a:spAutoFit/>
          </a:bodyPr>
          <a:lstStyle/>
          <a:p>
            <a:pPr algn="l">
              <a:spcAft>
                <a:spcPts val="300"/>
              </a:spcAft>
              <a:defRPr sz="1700" b="0">
                <a:solidFill>
                  <a:srgbClr val="193354"/>
                </a:solidFill>
                <a:latin typeface="Arial"/>
              </a:defRPr>
            </a:pPr>
            <a:r>
              <a:t>→</a:t>
            </a:r>
          </a:p>
        </p:txBody>
      </p:sp>
      <p:sp>
        <p:nvSpPr>
          <p:cNvPr id="232" name="TextBox 231"/>
          <p:cNvSpPr txBox="1"/>
          <p:nvPr/>
        </p:nvSpPr>
        <p:spPr>
          <a:xfrm>
            <a:off x="4782312" y="2057400"/>
            <a:ext cx="411480" cy="365760"/>
          </a:xfrm>
          <a:prstGeom prst="rect">
            <a:avLst/>
          </a:prstGeom>
          <a:noFill/>
        </p:spPr>
        <p:txBody>
          <a:bodyPr wrap="square" lIns="0" rIns="0" tIns="0" bIns="0">
            <a:spAutoFit/>
          </a:bodyPr>
          <a:lstStyle/>
          <a:p>
            <a:pPr algn="l">
              <a:spcAft>
                <a:spcPts val="300"/>
              </a:spcAft>
              <a:defRPr sz="2500" b="1">
                <a:solidFill>
                  <a:srgbClr val="193354"/>
                </a:solidFill>
                <a:latin typeface="Arial"/>
              </a:defRPr>
            </a:pPr>
            <a:r>
              <a:t>→</a:t>
            </a:r>
          </a:p>
        </p:txBody>
      </p:sp>
      <p:sp>
        <p:nvSpPr>
          <p:cNvPr id="233" name="Rounded Rectangle 232"/>
          <p:cNvSpPr/>
          <p:nvPr/>
        </p:nvSpPr>
        <p:spPr>
          <a:xfrm>
            <a:off x="5303520" y="1700784"/>
            <a:ext cx="1280160" cy="1143000"/>
          </a:xfrm>
          <a:prstGeom prst="roundRect">
            <a:avLst>
              <a:gd name="adj" fmla="val 8000"/>
            </a:avLst>
          </a:prstGeom>
          <a:solidFill>
            <a:srgbClr val="E1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5394960" y="1901952"/>
            <a:ext cx="1097280" cy="731520"/>
          </a:xfrm>
          <a:prstGeom prst="rect">
            <a:avLst/>
          </a:prstGeom>
          <a:noFill/>
        </p:spPr>
        <p:txBody>
          <a:bodyPr wrap="square" lIns="0" rIns="0" tIns="0" bIns="0">
            <a:spAutoFit/>
          </a:bodyPr>
          <a:lstStyle/>
          <a:p>
            <a:pPr algn="ctr">
              <a:spcAft>
                <a:spcPts val="300"/>
              </a:spcAft>
              <a:defRPr sz="1800" b="1">
                <a:solidFill>
                  <a:srgbClr val="193354"/>
                </a:solidFill>
                <a:latin typeface="Arial"/>
              </a:defRPr>
            </a:pPr>
            <a:r>
              <a:t>Reward</a:t>
            </a:r>
          </a:p>
          <a:p>
            <a:pPr algn="ctr">
              <a:spcAft>
                <a:spcPts val="300"/>
              </a:spcAft>
              <a:defRPr sz="1800" b="1">
                <a:solidFill>
                  <a:srgbClr val="193354"/>
                </a:solidFill>
                <a:latin typeface="Arial"/>
              </a:defRPr>
            </a:pPr>
            <a:r>
              <a:t>Judge</a:t>
            </a:r>
          </a:p>
        </p:txBody>
      </p:sp>
      <p:sp>
        <p:nvSpPr>
          <p:cNvPr id="235" name="TextBox 234"/>
          <p:cNvSpPr txBox="1"/>
          <p:nvPr/>
        </p:nvSpPr>
        <p:spPr>
          <a:xfrm>
            <a:off x="6675120" y="2057400"/>
            <a:ext cx="411480" cy="365760"/>
          </a:xfrm>
          <a:prstGeom prst="rect">
            <a:avLst/>
          </a:prstGeom>
          <a:noFill/>
        </p:spPr>
        <p:txBody>
          <a:bodyPr wrap="square" lIns="0" rIns="0" tIns="0" bIns="0">
            <a:spAutoFit/>
          </a:bodyPr>
          <a:lstStyle/>
          <a:p>
            <a:pPr algn="l">
              <a:spcAft>
                <a:spcPts val="300"/>
              </a:spcAft>
              <a:defRPr sz="2500" b="1">
                <a:solidFill>
                  <a:srgbClr val="193354"/>
                </a:solidFill>
                <a:latin typeface="Arial"/>
              </a:defRPr>
            </a:pPr>
            <a:r>
              <a:t>→</a:t>
            </a:r>
          </a:p>
        </p:txBody>
      </p:sp>
      <p:sp>
        <p:nvSpPr>
          <p:cNvPr id="236" name="TextBox 235"/>
          <p:cNvSpPr txBox="1"/>
          <p:nvPr/>
        </p:nvSpPr>
        <p:spPr>
          <a:xfrm>
            <a:off x="7159752" y="1737360"/>
            <a:ext cx="1417320" cy="822960"/>
          </a:xfrm>
          <a:prstGeom prst="rect">
            <a:avLst/>
          </a:prstGeom>
          <a:noFill/>
        </p:spPr>
        <p:txBody>
          <a:bodyPr wrap="square" lIns="0" rIns="0" tIns="0" bIns="0">
            <a:spAutoFit/>
          </a:bodyPr>
          <a:lstStyle/>
          <a:p>
            <a:pPr algn="l">
              <a:spcAft>
                <a:spcPts val="300"/>
              </a:spcAft>
              <a:defRPr sz="1700" b="1">
                <a:solidFill>
                  <a:srgbClr val="087F8C"/>
                </a:solidFill>
                <a:latin typeface="Arial"/>
              </a:defRPr>
            </a:pPr>
            <a:r>
              <a:t>r₁, r₂, …, r₁₀</a:t>
            </a:r>
          </a:p>
        </p:txBody>
      </p:sp>
      <p:sp>
        <p:nvSpPr>
          <p:cNvPr id="237" name="TextBox 236"/>
          <p:cNvSpPr txBox="1"/>
          <p:nvPr/>
        </p:nvSpPr>
        <p:spPr>
          <a:xfrm>
            <a:off x="7159752" y="2340864"/>
            <a:ext cx="1417320" cy="603504"/>
          </a:xfrm>
          <a:prstGeom prst="rect">
            <a:avLst/>
          </a:prstGeom>
          <a:noFill/>
        </p:spPr>
        <p:txBody>
          <a:bodyPr wrap="square" lIns="0" rIns="0" tIns="0" bIns="0">
            <a:spAutoFit/>
          </a:bodyPr>
          <a:lstStyle/>
          <a:p>
            <a:pPr algn="l">
              <a:spcAft>
                <a:spcPts val="300"/>
              </a:spcAft>
              <a:defRPr sz="1300" b="0">
                <a:solidFill>
                  <a:srgbClr val="193354"/>
                </a:solidFill>
                <a:latin typeface="Arial"/>
              </a:defRPr>
            </a:pPr>
            <a:r>
              <a:t>Do the rewards</a:t>
            </a:r>
          </a:p>
          <a:p>
            <a:pPr algn="l">
              <a:spcAft>
                <a:spcPts val="300"/>
              </a:spcAft>
              <a:defRPr sz="1300" b="0">
                <a:solidFill>
                  <a:srgbClr val="193354"/>
                </a:solidFill>
                <a:latin typeface="Arial"/>
              </a:defRPr>
            </a:pPr>
            <a:r>
              <a:t>agree?</a:t>
            </a:r>
          </a:p>
        </p:txBody>
      </p:sp>
      <p:sp>
        <p:nvSpPr>
          <p:cNvPr id="238" name="TextBox 237"/>
          <p:cNvSpPr txBox="1"/>
          <p:nvPr/>
        </p:nvSpPr>
        <p:spPr>
          <a:xfrm>
            <a:off x="640080" y="3246120"/>
            <a:ext cx="7863840" cy="347472"/>
          </a:xfrm>
          <a:prstGeom prst="rect">
            <a:avLst/>
          </a:prstGeom>
          <a:noFill/>
        </p:spPr>
        <p:txBody>
          <a:bodyPr wrap="square" lIns="0" rIns="0" tIns="0" bIns="0">
            <a:spAutoFit/>
          </a:bodyPr>
          <a:lstStyle/>
          <a:p>
            <a:pPr algn="l">
              <a:spcAft>
                <a:spcPts val="300"/>
              </a:spcAft>
              <a:defRPr sz="1300" b="0">
                <a:solidFill>
                  <a:srgbClr val="53657C"/>
                </a:solidFill>
                <a:latin typeface="Arial"/>
              </a:defRPr>
            </a:pPr>
            <a:r>
              <a:t>Fixed: problem, trajectory, judge, and rubric (when used). Only sampling varies.</a:t>
            </a:r>
          </a:p>
        </p:txBody>
      </p:sp>
      <p:graphicFrame>
        <p:nvGraphicFramePr>
          <p:cNvPr id="239" name="Table 238"/>
          <p:cNvGraphicFramePr>
            <a:graphicFrameLocks noGrp="1"/>
          </p:cNvGraphicFramePr>
          <p:nvPr/>
        </p:nvGraphicFramePr>
        <p:xfrm>
          <a:off x="1143000" y="3730752"/>
          <a:ext cx="6858000" cy="1097280"/>
        </p:xfrm>
        <a:graphic>
          <a:graphicData uri="http://schemas.openxmlformats.org/drawingml/2006/table">
            <a:tbl>
              <a:tblPr firstRow="1" bandRow="1">
                <a:tableStyleId>{5C22544A-7EE6-4342-B048-85BDC9FD1C3A}</a:tableStyleId>
              </a:tblPr>
              <a:tblGrid>
                <a:gridCol w="2834640"/>
                <a:gridCol w="2011680"/>
                <a:gridCol w="2011680"/>
              </a:tblGrid>
              <a:tr h="274320">
                <a:tc>
                  <a:txBody>
                    <a:bodyPr/>
                    <a:lstStyle/>
                    <a:p>
                      <a:pPr algn="l">
                        <a:defRPr sz="1100" b="1">
                          <a:solidFill>
                            <a:srgbClr val="FFFFFF"/>
                          </a:solidFill>
                          <a:latin typeface="Arial"/>
                        </a:defRPr>
                      </a:pPr>
                      <a:r>
                        <a:t>Method</a:t>
                      </a:r>
                    </a:p>
                  </a:txBody>
                  <a:tcPr marT="22860" marB="22860" anchor="ctr">
                    <a:solidFill>
                      <a:srgbClr val="193354"/>
                    </a:solidFill>
                  </a:tcPr>
                </a:tc>
                <a:tc>
                  <a:txBody>
                    <a:bodyPr/>
                    <a:lstStyle/>
                    <a:p>
                      <a:pPr algn="ctr">
                        <a:defRPr sz="1100" b="1">
                          <a:solidFill>
                            <a:srgbClr val="FFFFFF"/>
                          </a:solidFill>
                          <a:latin typeface="Arial"/>
                        </a:defRPr>
                      </a:pPr>
                      <a:r>
                        <a:t>Agreement ↑ (%)</a:t>
                      </a:r>
                    </a:p>
                  </a:txBody>
                  <a:tcPr marT="22860" marB="22860" anchor="ctr">
                    <a:solidFill>
                      <a:srgbClr val="193354"/>
                    </a:solidFill>
                  </a:tcPr>
                </a:tc>
                <a:tc>
                  <a:txBody>
                    <a:bodyPr/>
                    <a:lstStyle/>
                    <a:p>
                      <a:pPr algn="ctr">
                        <a:defRPr sz="1100" b="1">
                          <a:solidFill>
                            <a:srgbClr val="FFFFFF"/>
                          </a:solidFill>
                          <a:latin typeface="Arial"/>
                        </a:defRPr>
                      </a:pPr>
                      <a:r>
                        <a:t>Reward Std. ↓</a:t>
                      </a:r>
                    </a:p>
                  </a:txBody>
                  <a:tcPr marT="22860" marB="22860" anchor="ctr">
                    <a:solidFill>
                      <a:srgbClr val="193354"/>
                    </a:solidFill>
                  </a:tcPr>
                </a:tc>
              </a:tr>
              <a:tr h="274320">
                <a:tc>
                  <a:txBody>
                    <a:bodyPr/>
                    <a:lstStyle/>
                    <a:p>
                      <a:pPr algn="l">
                        <a:defRPr sz="1100" b="0">
                          <a:solidFill>
                            <a:srgbClr val="193354"/>
                          </a:solidFill>
                          <a:latin typeface="Arial"/>
                        </a:defRPr>
                      </a:pPr>
                      <a:r>
                        <a:t>No-rubric PRM</a:t>
                      </a:r>
                    </a:p>
                  </a:txBody>
                  <a:tcPr marT="22860" marB="22860" anchor="ctr">
                    <a:solidFill>
                      <a:srgbClr val="EFF5FB"/>
                    </a:solidFill>
                  </a:tcPr>
                </a:tc>
                <a:tc>
                  <a:txBody>
                    <a:bodyPr/>
                    <a:lstStyle/>
                    <a:p>
                      <a:pPr algn="ctr">
                        <a:defRPr sz="1100" b="0">
                          <a:solidFill>
                            <a:srgbClr val="193354"/>
                          </a:solidFill>
                          <a:latin typeface="Arial"/>
                        </a:defRPr>
                      </a:pPr>
                      <a:r>
                        <a:t>71.8</a:t>
                      </a:r>
                    </a:p>
                  </a:txBody>
                  <a:tcPr marT="22860" marB="22860" anchor="ctr">
                    <a:solidFill>
                      <a:srgbClr val="EFF5FB"/>
                    </a:solidFill>
                  </a:tcPr>
                </a:tc>
                <a:tc>
                  <a:txBody>
                    <a:bodyPr/>
                    <a:lstStyle/>
                    <a:p>
                      <a:pPr algn="ctr">
                        <a:defRPr sz="1100" b="0">
                          <a:solidFill>
                            <a:srgbClr val="193354"/>
                          </a:solidFill>
                          <a:latin typeface="Arial"/>
                        </a:defRPr>
                      </a:pPr>
                      <a:r>
                        <a:t>0.63</a:t>
                      </a:r>
                    </a:p>
                  </a:txBody>
                  <a:tcPr marT="22860" marB="22860" anchor="ctr">
                    <a:solidFill>
                      <a:srgbClr val="EFF5FB"/>
                    </a:solidFill>
                  </a:tcPr>
                </a:tc>
              </a:tr>
              <a:tr h="274320">
                <a:tc>
                  <a:txBody>
                    <a:bodyPr/>
                    <a:lstStyle/>
                    <a:p>
                      <a:pPr algn="l">
                        <a:defRPr sz="1100" b="0">
                          <a:solidFill>
                            <a:srgbClr val="193354"/>
                          </a:solidFill>
                          <a:latin typeface="Arial"/>
                        </a:defRPr>
                      </a:pPr>
                      <a:r>
                        <a:t>RaR</a:t>
                      </a:r>
                    </a:p>
                  </a:txBody>
                  <a:tcPr marT="22860" marB="22860" anchor="ctr">
                    <a:solidFill>
                      <a:srgbClr val="EFF5FB"/>
                    </a:solidFill>
                  </a:tcPr>
                </a:tc>
                <a:tc>
                  <a:txBody>
                    <a:bodyPr/>
                    <a:lstStyle/>
                    <a:p>
                      <a:pPr algn="ctr">
                        <a:defRPr sz="1100" b="0">
                          <a:solidFill>
                            <a:srgbClr val="193354"/>
                          </a:solidFill>
                          <a:latin typeface="Arial"/>
                        </a:defRPr>
                      </a:pPr>
                      <a:r>
                        <a:t>82.4</a:t>
                      </a:r>
                    </a:p>
                  </a:txBody>
                  <a:tcPr marT="22860" marB="22860" anchor="ctr">
                    <a:solidFill>
                      <a:srgbClr val="EFF5FB"/>
                    </a:solidFill>
                  </a:tcPr>
                </a:tc>
                <a:tc>
                  <a:txBody>
                    <a:bodyPr/>
                    <a:lstStyle/>
                    <a:p>
                      <a:pPr algn="ctr">
                        <a:defRPr sz="1100" b="0">
                          <a:solidFill>
                            <a:srgbClr val="193354"/>
                          </a:solidFill>
                          <a:latin typeface="Arial"/>
                        </a:defRPr>
                      </a:pPr>
                      <a:r>
                        <a:t>0.41</a:t>
                      </a:r>
                    </a:p>
                  </a:txBody>
                  <a:tcPr marT="22860" marB="22860" anchor="ctr">
                    <a:solidFill>
                      <a:srgbClr val="EFF5FB"/>
                    </a:solidFill>
                  </a:tcPr>
                </a:tc>
              </a:tr>
              <a:tr h="274320">
                <a:tc>
                  <a:txBody>
                    <a:bodyPr/>
                    <a:lstStyle/>
                    <a:p>
                      <a:pPr algn="l">
                        <a:defRPr sz="1100" b="1">
                          <a:solidFill>
                            <a:srgbClr val="193354"/>
                          </a:solidFill>
                          <a:latin typeface="Arial"/>
                        </a:defRPr>
                      </a:pPr>
                      <a:r>
                        <a:t>SCRIBE</a:t>
                      </a:r>
                    </a:p>
                  </a:txBody>
                  <a:tcPr marT="22860" marB="22860" anchor="ctr">
                    <a:solidFill>
                      <a:srgbClr val="E6F4EF"/>
                    </a:solidFill>
                  </a:tcPr>
                </a:tc>
                <a:tc>
                  <a:txBody>
                    <a:bodyPr/>
                    <a:lstStyle/>
                    <a:p>
                      <a:pPr algn="ctr">
                        <a:defRPr sz="1100" b="1">
                          <a:solidFill>
                            <a:srgbClr val="193354"/>
                          </a:solidFill>
                          <a:latin typeface="Arial"/>
                        </a:defRPr>
                      </a:pPr>
                      <a:r>
                        <a:t>93.7</a:t>
                      </a:r>
                    </a:p>
                  </a:txBody>
                  <a:tcPr marT="22860" marB="22860" anchor="ctr">
                    <a:solidFill>
                      <a:srgbClr val="E6F4EF"/>
                    </a:solidFill>
                  </a:tcPr>
                </a:tc>
                <a:tc>
                  <a:txBody>
                    <a:bodyPr/>
                    <a:lstStyle/>
                    <a:p>
                      <a:pPr algn="ctr">
                        <a:defRPr sz="1100" b="1">
                          <a:solidFill>
                            <a:srgbClr val="193354"/>
                          </a:solidFill>
                          <a:latin typeface="Arial"/>
                        </a:defRPr>
                      </a:pPr>
                      <a:r>
                        <a:t>0.18</a:t>
                      </a:r>
                    </a:p>
                  </a:txBody>
                  <a:tcPr marT="22860" marB="22860" anchor="ctr">
                    <a:solidFill>
                      <a:srgbClr val="E6F4EF"/>
                    </a:solidFill>
                  </a:tcPr>
                </a:tc>
              </a:tr>
            </a:tbl>
          </a:graphicData>
        </a:graphic>
      </p:graphicFrame>
      <p:sp>
        <p:nvSpPr>
          <p:cNvPr id="240" name="TextBox 239"/>
          <p:cNvSpPr txBox="1"/>
          <p:nvPr/>
        </p:nvSpPr>
        <p:spPr>
          <a:xfrm>
            <a:off x="548640" y="4919472"/>
            <a:ext cx="8046720" cy="164592"/>
          </a:xfrm>
          <a:prstGeom prst="rect">
            <a:avLst/>
          </a:prstGeom>
          <a:noFill/>
        </p:spPr>
        <p:txBody>
          <a:bodyPr wrap="square" lIns="0" rIns="0" tIns="0" bIns="0">
            <a:spAutoFit/>
          </a:bodyPr>
          <a:lstStyle/>
          <a:p>
            <a:pPr algn="l">
              <a:spcAft>
                <a:spcPts val="300"/>
              </a:spcAft>
              <a:defRPr sz="900" b="0">
                <a:solidFill>
                  <a:srgbClr val="53657C"/>
                </a:solidFill>
                <a:latin typeface="Arial"/>
              </a:defRPr>
            </a:pPr>
            <a:r>
              <a:t>Protocol schematic. Results summarize repeated evaluations across the experimental inputs.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40"/>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29" name="Google Shape;229;p40"/>
          <p:cNvSpPr txBox="1"/>
          <p:nvPr/>
        </p:nvSpPr>
        <p:spPr>
          <a:xfrm>
            <a:off x="438912" y="164592"/>
            <a:ext cx="8321040" cy="475488"/>
          </a:xfrm>
          <a:prstGeom prst="rect">
            <a:avLst/>
          </a:prstGeom>
          <a:noFill/>
          <a:ln>
            <a:noFill/>
          </a:ln>
        </p:spPr>
        <p:txBody>
          <a:bodyPr spcFirstLastPara="1" wrap="square" lIns="0" tIns="0" rIns="0" bIns="0" anchor="ctr" anchorCtr="0">
            <a:spAutoFit/>
          </a:bodyPr>
          <a:lstStyle/>
          <a:p>
            <a:pPr>
              <a:defRPr sz="2300" b="1">
                <a:solidFill>
                  <a:srgbClr val="193354"/>
                </a:solidFill>
                <a:latin typeface="Arial"/>
              </a:defRPr>
            </a:pPr>
            <a:r>
              <a:t>Different Trajectories, Same Error: Consistent Rewards?</a:t>
            </a:r>
          </a:p>
        </p:txBody>
      </p:sp>
      <p:sp>
        <p:nvSpPr>
          <p:cNvPr id="230" name="Rectangle 22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TextBox 230"/>
          <p:cNvSpPr txBox="1"/>
          <p:nvPr/>
        </p:nvSpPr>
        <p:spPr>
          <a:xfrm>
            <a:off x="548640" y="932688"/>
            <a:ext cx="8046720" cy="365760"/>
          </a:xfrm>
          <a:prstGeom prst="rect">
            <a:avLst/>
          </a:prstGeom>
          <a:noFill/>
        </p:spPr>
        <p:txBody>
          <a:bodyPr wrap="square" lIns="0" rIns="0" tIns="0" bIns="0">
            <a:spAutoFit/>
          </a:bodyPr>
          <a:lstStyle/>
          <a:p>
            <a:pPr algn="l">
              <a:spcAft>
                <a:spcPts val="300"/>
              </a:spcAft>
              <a:defRPr sz="1600" b="0">
                <a:solidFill>
                  <a:srgbClr val="193354"/>
                </a:solidFill>
                <a:latin typeface="Arial"/>
              </a:defRPr>
            </a:pPr>
            <a:r>
              <a:t>Find similar subgoals with the same failure, then compare their subgoal rewards.</a:t>
            </a:r>
          </a:p>
        </p:txBody>
      </p:sp>
      <p:sp>
        <p:nvSpPr>
          <p:cNvPr id="232" name="TextBox 231"/>
          <p:cNvSpPr txBox="1"/>
          <p:nvPr/>
        </p:nvSpPr>
        <p:spPr>
          <a:xfrm>
            <a:off x="548640" y="1435608"/>
            <a:ext cx="1051560" cy="438912"/>
          </a:xfrm>
          <a:prstGeom prst="rect">
            <a:avLst/>
          </a:prstGeom>
          <a:noFill/>
        </p:spPr>
        <p:txBody>
          <a:bodyPr wrap="square" lIns="0" rIns="0" tIns="0" bIns="0">
            <a:spAutoFit/>
          </a:bodyPr>
          <a:lstStyle/>
          <a:p>
            <a:pPr algn="l">
              <a:spcAft>
                <a:spcPts val="300"/>
              </a:spcAft>
              <a:defRPr sz="1300" b="1">
                <a:solidFill>
                  <a:srgbClr val="193354"/>
                </a:solidFill>
                <a:latin typeface="Arial"/>
              </a:defRPr>
            </a:pPr>
            <a:r>
              <a:t>Trajectory A</a:t>
            </a:r>
          </a:p>
        </p:txBody>
      </p:sp>
      <p:sp>
        <p:nvSpPr>
          <p:cNvPr id="233" name="Rounded Rectangle 232"/>
          <p:cNvSpPr/>
          <p:nvPr/>
        </p:nvSpPr>
        <p:spPr>
          <a:xfrm>
            <a:off x="1673352" y="1435608"/>
            <a:ext cx="141732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1737360" y="1517904"/>
            <a:ext cx="128930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Factorize 196</a:t>
            </a:r>
          </a:p>
        </p:txBody>
      </p:sp>
      <p:sp>
        <p:nvSpPr>
          <p:cNvPr id="235" name="Rounded Rectangle 234"/>
          <p:cNvSpPr/>
          <p:nvPr/>
        </p:nvSpPr>
        <p:spPr>
          <a:xfrm>
            <a:off x="3447288" y="1435608"/>
            <a:ext cx="2423160" cy="502920"/>
          </a:xfrm>
          <a:prstGeom prst="roundRect">
            <a:avLst>
              <a:gd name="adj" fmla="val 8000"/>
            </a:avLst>
          </a:prstGeom>
          <a:solidFill>
            <a:srgbClr val="FFF0EB"/>
          </a:solidFill>
          <a:ln>
            <a:solidFill>
              <a:srgbClr val="E5A1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3511296" y="1517904"/>
            <a:ext cx="229514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Filter factors &lt; 14</a:t>
            </a:r>
          </a:p>
        </p:txBody>
      </p:sp>
      <p:sp>
        <p:nvSpPr>
          <p:cNvPr id="237" name="Rounded Rectangle 236"/>
          <p:cNvSpPr/>
          <p:nvPr/>
        </p:nvSpPr>
        <p:spPr>
          <a:xfrm>
            <a:off x="6227064" y="1435608"/>
            <a:ext cx="150876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extBox 237"/>
          <p:cNvSpPr txBox="1"/>
          <p:nvPr/>
        </p:nvSpPr>
        <p:spPr>
          <a:xfrm>
            <a:off x="6291072" y="1517904"/>
            <a:ext cx="1380743"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Sum retained</a:t>
            </a:r>
          </a:p>
          <a:p>
            <a:pPr algn="ctr">
              <a:spcAft>
                <a:spcPts val="300"/>
              </a:spcAft>
              <a:defRPr sz="1200" b="1">
                <a:solidFill>
                  <a:srgbClr val="193354"/>
                </a:solidFill>
                <a:latin typeface="Arial"/>
              </a:defRPr>
            </a:pPr>
            <a:r>
              <a:t>factors</a:t>
            </a:r>
          </a:p>
        </p:txBody>
      </p:sp>
      <p:sp>
        <p:nvSpPr>
          <p:cNvPr id="239" name="TextBox 238"/>
          <p:cNvSpPr txBox="1"/>
          <p:nvPr/>
        </p:nvSpPr>
        <p:spPr>
          <a:xfrm>
            <a:off x="3136392" y="1554480"/>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40" name="TextBox 239"/>
          <p:cNvSpPr txBox="1"/>
          <p:nvPr/>
        </p:nvSpPr>
        <p:spPr>
          <a:xfrm>
            <a:off x="5925312" y="1554480"/>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41" name="TextBox 240"/>
          <p:cNvSpPr txBox="1"/>
          <p:nvPr/>
        </p:nvSpPr>
        <p:spPr>
          <a:xfrm>
            <a:off x="3502152" y="2029968"/>
            <a:ext cx="2359152" cy="237744"/>
          </a:xfrm>
          <a:prstGeom prst="rect">
            <a:avLst/>
          </a:prstGeom>
          <a:noFill/>
        </p:spPr>
        <p:txBody>
          <a:bodyPr wrap="square" lIns="0" rIns="0" tIns="0" bIns="0">
            <a:spAutoFit/>
          </a:bodyPr>
          <a:lstStyle/>
          <a:p>
            <a:pPr algn="l">
              <a:spcAft>
                <a:spcPts val="300"/>
              </a:spcAft>
              <a:defRPr sz="1200" b="0">
                <a:solidFill>
                  <a:srgbClr val="B54732"/>
                </a:solidFill>
                <a:latin typeface="Arial"/>
              </a:defRPr>
            </a:pPr>
            <a:r>
              <a:t>Error: retains 14 (uses ≤ 14)</a:t>
            </a:r>
          </a:p>
        </p:txBody>
      </p:sp>
      <p:sp>
        <p:nvSpPr>
          <p:cNvPr id="242" name="TextBox 241"/>
          <p:cNvSpPr txBox="1"/>
          <p:nvPr/>
        </p:nvSpPr>
        <p:spPr>
          <a:xfrm>
            <a:off x="6035040" y="2029968"/>
            <a:ext cx="2377440" cy="274320"/>
          </a:xfrm>
          <a:prstGeom prst="rect">
            <a:avLst/>
          </a:prstGeom>
          <a:noFill/>
        </p:spPr>
        <p:txBody>
          <a:bodyPr wrap="square" lIns="0" rIns="0" tIns="0" bIns="0">
            <a:spAutoFit/>
          </a:bodyPr>
          <a:lstStyle/>
          <a:p>
            <a:pPr algn="l">
              <a:spcAft>
                <a:spcPts val="300"/>
              </a:spcAft>
              <a:defRPr sz="1200" b="1">
                <a:solidFill>
                  <a:srgbClr val="087F8C"/>
                </a:solidFill>
                <a:latin typeface="Arial"/>
              </a:defRPr>
            </a:pPr>
            <a:r>
              <a:t>Subgoal reward: rA</a:t>
            </a:r>
          </a:p>
        </p:txBody>
      </p:sp>
      <p:sp>
        <p:nvSpPr>
          <p:cNvPr id="243" name="TextBox 242"/>
          <p:cNvSpPr txBox="1"/>
          <p:nvPr/>
        </p:nvSpPr>
        <p:spPr>
          <a:xfrm>
            <a:off x="548640" y="2432304"/>
            <a:ext cx="1051560" cy="438912"/>
          </a:xfrm>
          <a:prstGeom prst="rect">
            <a:avLst/>
          </a:prstGeom>
          <a:noFill/>
        </p:spPr>
        <p:txBody>
          <a:bodyPr wrap="square" lIns="0" rIns="0" tIns="0" bIns="0">
            <a:spAutoFit/>
          </a:bodyPr>
          <a:lstStyle/>
          <a:p>
            <a:pPr algn="l">
              <a:spcAft>
                <a:spcPts val="300"/>
              </a:spcAft>
              <a:defRPr sz="1300" b="1">
                <a:solidFill>
                  <a:srgbClr val="193354"/>
                </a:solidFill>
                <a:latin typeface="Arial"/>
              </a:defRPr>
            </a:pPr>
            <a:r>
              <a:t>Trajectory B</a:t>
            </a:r>
          </a:p>
        </p:txBody>
      </p:sp>
      <p:sp>
        <p:nvSpPr>
          <p:cNvPr id="244" name="Rounded Rectangle 243"/>
          <p:cNvSpPr/>
          <p:nvPr/>
        </p:nvSpPr>
        <p:spPr>
          <a:xfrm>
            <a:off x="1673352" y="2432304"/>
            <a:ext cx="141732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737360" y="2514600"/>
            <a:ext cx="128930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Factorize 144</a:t>
            </a:r>
          </a:p>
        </p:txBody>
      </p:sp>
      <p:sp>
        <p:nvSpPr>
          <p:cNvPr id="246" name="Rounded Rectangle 245"/>
          <p:cNvSpPr/>
          <p:nvPr/>
        </p:nvSpPr>
        <p:spPr>
          <a:xfrm>
            <a:off x="3447288" y="2432304"/>
            <a:ext cx="2423160" cy="502920"/>
          </a:xfrm>
          <a:prstGeom prst="roundRect">
            <a:avLst>
              <a:gd name="adj" fmla="val 8000"/>
            </a:avLst>
          </a:prstGeom>
          <a:solidFill>
            <a:srgbClr val="FFF0EB"/>
          </a:solidFill>
          <a:ln>
            <a:solidFill>
              <a:srgbClr val="E5A1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3511296" y="2514600"/>
            <a:ext cx="2295144"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Filter factors &lt; 12</a:t>
            </a:r>
          </a:p>
        </p:txBody>
      </p:sp>
      <p:sp>
        <p:nvSpPr>
          <p:cNvPr id="248" name="Rounded Rectangle 247"/>
          <p:cNvSpPr/>
          <p:nvPr/>
        </p:nvSpPr>
        <p:spPr>
          <a:xfrm>
            <a:off x="6227064" y="2432304"/>
            <a:ext cx="1508760" cy="50292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6291072" y="2514600"/>
            <a:ext cx="1380743" cy="402336"/>
          </a:xfrm>
          <a:prstGeom prst="rect">
            <a:avLst/>
          </a:prstGeom>
          <a:noFill/>
        </p:spPr>
        <p:txBody>
          <a:bodyPr wrap="square" lIns="0" rIns="0" tIns="0" bIns="0">
            <a:spAutoFit/>
          </a:bodyPr>
          <a:lstStyle/>
          <a:p>
            <a:pPr algn="ctr">
              <a:spcAft>
                <a:spcPts val="300"/>
              </a:spcAft>
              <a:defRPr sz="1200" b="1">
                <a:solidFill>
                  <a:srgbClr val="193354"/>
                </a:solidFill>
                <a:latin typeface="Arial"/>
              </a:defRPr>
            </a:pPr>
            <a:r>
              <a:t>Sum retained</a:t>
            </a:r>
          </a:p>
          <a:p>
            <a:pPr algn="ctr">
              <a:spcAft>
                <a:spcPts val="300"/>
              </a:spcAft>
              <a:defRPr sz="1200" b="1">
                <a:solidFill>
                  <a:srgbClr val="193354"/>
                </a:solidFill>
                <a:latin typeface="Arial"/>
              </a:defRPr>
            </a:pPr>
            <a:r>
              <a:t>factors</a:t>
            </a:r>
          </a:p>
        </p:txBody>
      </p:sp>
      <p:sp>
        <p:nvSpPr>
          <p:cNvPr id="250" name="TextBox 249"/>
          <p:cNvSpPr txBox="1"/>
          <p:nvPr/>
        </p:nvSpPr>
        <p:spPr>
          <a:xfrm>
            <a:off x="3136392" y="2551176"/>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51" name="TextBox 250"/>
          <p:cNvSpPr txBox="1"/>
          <p:nvPr/>
        </p:nvSpPr>
        <p:spPr>
          <a:xfrm>
            <a:off x="5925312" y="2551176"/>
            <a:ext cx="274320" cy="292608"/>
          </a:xfrm>
          <a:prstGeom prst="rect">
            <a:avLst/>
          </a:prstGeom>
          <a:noFill/>
        </p:spPr>
        <p:txBody>
          <a:bodyPr wrap="square" lIns="0" rIns="0" tIns="0" bIns="0">
            <a:spAutoFit/>
          </a:bodyPr>
          <a:lstStyle/>
          <a:p>
            <a:pPr algn="l">
              <a:spcAft>
                <a:spcPts val="300"/>
              </a:spcAft>
              <a:defRPr sz="1800" b="0">
                <a:solidFill>
                  <a:srgbClr val="193354"/>
                </a:solidFill>
                <a:latin typeface="Arial"/>
              </a:defRPr>
            </a:pPr>
            <a:r>
              <a:t>→</a:t>
            </a:r>
          </a:p>
        </p:txBody>
      </p:sp>
      <p:sp>
        <p:nvSpPr>
          <p:cNvPr id="252" name="TextBox 251"/>
          <p:cNvSpPr txBox="1"/>
          <p:nvPr/>
        </p:nvSpPr>
        <p:spPr>
          <a:xfrm>
            <a:off x="3502152" y="3026664"/>
            <a:ext cx="2359152" cy="237744"/>
          </a:xfrm>
          <a:prstGeom prst="rect">
            <a:avLst/>
          </a:prstGeom>
          <a:noFill/>
        </p:spPr>
        <p:txBody>
          <a:bodyPr wrap="square" lIns="0" rIns="0" tIns="0" bIns="0">
            <a:spAutoFit/>
          </a:bodyPr>
          <a:lstStyle/>
          <a:p>
            <a:pPr algn="l">
              <a:spcAft>
                <a:spcPts val="300"/>
              </a:spcAft>
              <a:defRPr sz="1200" b="0">
                <a:solidFill>
                  <a:srgbClr val="B54732"/>
                </a:solidFill>
                <a:latin typeface="Arial"/>
              </a:defRPr>
            </a:pPr>
            <a:r>
              <a:t>Error: retains 12 (uses ≤ 12)</a:t>
            </a:r>
          </a:p>
        </p:txBody>
      </p:sp>
      <p:sp>
        <p:nvSpPr>
          <p:cNvPr id="253" name="TextBox 252"/>
          <p:cNvSpPr txBox="1"/>
          <p:nvPr/>
        </p:nvSpPr>
        <p:spPr>
          <a:xfrm>
            <a:off x="6035040" y="3026664"/>
            <a:ext cx="2377440" cy="274320"/>
          </a:xfrm>
          <a:prstGeom prst="rect">
            <a:avLst/>
          </a:prstGeom>
          <a:noFill/>
        </p:spPr>
        <p:txBody>
          <a:bodyPr wrap="square" lIns="0" rIns="0" tIns="0" bIns="0">
            <a:spAutoFit/>
          </a:bodyPr>
          <a:lstStyle/>
          <a:p>
            <a:pPr algn="l">
              <a:spcAft>
                <a:spcPts val="300"/>
              </a:spcAft>
              <a:defRPr sz="1200" b="1">
                <a:solidFill>
                  <a:srgbClr val="087F8C"/>
                </a:solidFill>
                <a:latin typeface="Arial"/>
              </a:defRPr>
            </a:pPr>
            <a:r>
              <a:t>Subgoal reward: rB</a:t>
            </a:r>
          </a:p>
        </p:txBody>
      </p:sp>
      <p:sp>
        <p:nvSpPr>
          <p:cNvPr id="254" name="Rounded Rectangle 253"/>
          <p:cNvSpPr/>
          <p:nvPr/>
        </p:nvSpPr>
        <p:spPr>
          <a:xfrm>
            <a:off x="548640" y="3465576"/>
            <a:ext cx="3794760" cy="1234440"/>
          </a:xfrm>
          <a:prstGeom prst="roundRect">
            <a:avLst>
              <a:gd name="adj" fmla="val 8000"/>
            </a:avLst>
          </a:prstGeom>
          <a:solidFill>
            <a:srgbClr val="E1F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13232" y="3611880"/>
            <a:ext cx="3474720" cy="274320"/>
          </a:xfrm>
          <a:prstGeom prst="rect">
            <a:avLst/>
          </a:prstGeom>
          <a:noFill/>
        </p:spPr>
        <p:txBody>
          <a:bodyPr wrap="square" lIns="0" rIns="0" tIns="0" bIns="0">
            <a:spAutoFit/>
          </a:bodyPr>
          <a:lstStyle/>
          <a:p>
            <a:pPr algn="l">
              <a:spcAft>
                <a:spcPts val="300"/>
              </a:spcAft>
              <a:defRPr sz="1600" b="1">
                <a:solidFill>
                  <a:srgbClr val="193354"/>
                </a:solidFill>
                <a:latin typeface="Arial"/>
              </a:defRPr>
            </a:pPr>
            <a:r>
              <a:t>Same Skill + Same Failure</a:t>
            </a:r>
          </a:p>
        </p:txBody>
      </p:sp>
      <p:sp>
        <p:nvSpPr>
          <p:cNvPr id="256" name="TextBox 255"/>
          <p:cNvSpPr txBox="1"/>
          <p:nvPr/>
        </p:nvSpPr>
        <p:spPr>
          <a:xfrm>
            <a:off x="713232" y="3977639"/>
            <a:ext cx="3429000" cy="594360"/>
          </a:xfrm>
          <a:prstGeom prst="rect">
            <a:avLst/>
          </a:prstGeom>
          <a:noFill/>
        </p:spPr>
        <p:txBody>
          <a:bodyPr wrap="square" lIns="0" rIns="0" tIns="0" bIns="0">
            <a:spAutoFit/>
          </a:bodyPr>
          <a:lstStyle/>
          <a:p>
            <a:pPr algn="l">
              <a:spcAft>
                <a:spcPts val="300"/>
              </a:spcAft>
              <a:defRPr sz="1200" b="0">
                <a:solidFill>
                  <a:srgbClr val="193354"/>
                </a:solidFill>
                <a:latin typeface="Arial"/>
              </a:defRPr>
            </a:pPr>
            <a:r>
              <a:t>Strict-threshold filtering: includes the boundary.</a:t>
            </a:r>
          </a:p>
          <a:p>
            <a:pPr algn="l">
              <a:spcAft>
                <a:spcPts val="300"/>
              </a:spcAft>
              <a:defRPr sz="1200" b="0">
                <a:solidFill>
                  <a:srgbClr val="193354"/>
                </a:solidFill>
                <a:latin typeface="Arial"/>
              </a:defRPr>
            </a:pPr>
            <a:r>
              <a:t>Compare rA and rB for the highlighted spans.</a:t>
            </a:r>
          </a:p>
        </p:txBody>
      </p:sp>
      <p:graphicFrame>
        <p:nvGraphicFramePr>
          <p:cNvPr id="257" name="Table 256"/>
          <p:cNvGraphicFramePr>
            <a:graphicFrameLocks noGrp="1"/>
          </p:cNvGraphicFramePr>
          <p:nvPr/>
        </p:nvGraphicFramePr>
        <p:xfrm>
          <a:off x="4617720" y="3630168"/>
          <a:ext cx="3977640" cy="1097280"/>
        </p:xfrm>
        <a:graphic>
          <a:graphicData uri="http://schemas.openxmlformats.org/drawingml/2006/table">
            <a:tbl>
              <a:tblPr firstRow="1" bandRow="1">
                <a:tableStyleId>{5C22544A-7EE6-4342-B048-85BDC9FD1C3A}</a:tableStyleId>
              </a:tblPr>
              <a:tblGrid>
                <a:gridCol w="1828800"/>
                <a:gridCol w="1078992"/>
                <a:gridCol w="1069848"/>
              </a:tblGrid>
              <a:tr h="274320">
                <a:tc>
                  <a:txBody>
                    <a:bodyPr/>
                    <a:lstStyle/>
                    <a:p>
                      <a:pPr algn="l">
                        <a:defRPr sz="1100" b="1">
                          <a:solidFill>
                            <a:srgbClr val="FFFFFF"/>
                          </a:solidFill>
                          <a:latin typeface="Arial"/>
                        </a:defRPr>
                      </a:pPr>
                      <a:r>
                        <a:t>Method</a:t>
                      </a:r>
                    </a:p>
                  </a:txBody>
                  <a:tcPr marT="22860" marB="22860" anchor="ctr">
                    <a:solidFill>
                      <a:srgbClr val="193354"/>
                    </a:solidFill>
                  </a:tcPr>
                </a:tc>
                <a:tc>
                  <a:txBody>
                    <a:bodyPr/>
                    <a:lstStyle/>
                    <a:p>
                      <a:pPr algn="ctr">
                        <a:defRPr sz="1100" b="1">
                          <a:solidFill>
                            <a:srgbClr val="FFFFFF"/>
                          </a:solidFill>
                          <a:latin typeface="Arial"/>
                        </a:defRPr>
                      </a:pPr>
                      <a:r>
                        <a:t>Agree ↑</a:t>
                      </a:r>
                    </a:p>
                  </a:txBody>
                  <a:tcPr marT="22860" marB="22860" anchor="ctr">
                    <a:solidFill>
                      <a:srgbClr val="193354"/>
                    </a:solidFill>
                  </a:tcPr>
                </a:tc>
                <a:tc>
                  <a:txBody>
                    <a:bodyPr/>
                    <a:lstStyle/>
                    <a:p>
                      <a:pPr algn="ctr">
                        <a:defRPr sz="1100" b="1">
                          <a:solidFill>
                            <a:srgbClr val="FFFFFF"/>
                          </a:solidFill>
                          <a:latin typeface="Arial"/>
                        </a:defRPr>
                      </a:pPr>
                      <a:r>
                        <a:t>Gap ↓</a:t>
                      </a:r>
                    </a:p>
                  </a:txBody>
                  <a:tcPr marT="22860" marB="22860" anchor="ctr">
                    <a:solidFill>
                      <a:srgbClr val="193354"/>
                    </a:solidFill>
                  </a:tcPr>
                </a:tc>
              </a:tr>
              <a:tr h="274320">
                <a:tc>
                  <a:txBody>
                    <a:bodyPr/>
                    <a:lstStyle/>
                    <a:p>
                      <a:pPr algn="l">
                        <a:defRPr sz="1100" b="0">
                          <a:solidFill>
                            <a:srgbClr val="193354"/>
                          </a:solidFill>
                          <a:latin typeface="Arial"/>
                        </a:defRPr>
                      </a:pPr>
                      <a:r>
                        <a:t>Direct PRM</a:t>
                      </a:r>
                    </a:p>
                  </a:txBody>
                  <a:tcPr marT="22860" marB="22860" anchor="ctr">
                    <a:solidFill>
                      <a:srgbClr val="EFF5FB"/>
                    </a:solidFill>
                  </a:tcPr>
                </a:tc>
                <a:tc>
                  <a:txBody>
                    <a:bodyPr/>
                    <a:lstStyle/>
                    <a:p>
                      <a:pPr algn="ctr">
                        <a:defRPr sz="1100" b="0">
                          <a:solidFill>
                            <a:srgbClr val="193354"/>
                          </a:solidFill>
                          <a:latin typeface="Arial"/>
                        </a:defRPr>
                      </a:pPr>
                      <a:r>
                        <a:t>58.6%</a:t>
                      </a:r>
                    </a:p>
                  </a:txBody>
                  <a:tcPr marT="22860" marB="22860" anchor="ctr">
                    <a:solidFill>
                      <a:srgbClr val="EFF5FB"/>
                    </a:solidFill>
                  </a:tcPr>
                </a:tc>
                <a:tc>
                  <a:txBody>
                    <a:bodyPr/>
                    <a:lstStyle/>
                    <a:p>
                      <a:pPr algn="ctr">
                        <a:defRPr sz="1100" b="0">
                          <a:solidFill>
                            <a:srgbClr val="193354"/>
                          </a:solidFill>
                          <a:latin typeface="Arial"/>
                        </a:defRPr>
                      </a:pPr>
                      <a:r>
                        <a:t>0.82</a:t>
                      </a:r>
                    </a:p>
                  </a:txBody>
                  <a:tcPr marT="22860" marB="22860" anchor="ctr">
                    <a:solidFill>
                      <a:srgbClr val="EFF5FB"/>
                    </a:solidFill>
                  </a:tcPr>
                </a:tc>
              </a:tr>
              <a:tr h="274320">
                <a:tc>
                  <a:txBody>
                    <a:bodyPr/>
                    <a:lstStyle/>
                    <a:p>
                      <a:pPr algn="l">
                        <a:defRPr sz="1100" b="0">
                          <a:solidFill>
                            <a:srgbClr val="193354"/>
                          </a:solidFill>
                          <a:latin typeface="Arial"/>
                        </a:defRPr>
                      </a:pPr>
                      <a:r>
                        <a:t>RaR</a:t>
                      </a:r>
                    </a:p>
                  </a:txBody>
                  <a:tcPr marT="22860" marB="22860" anchor="ctr">
                    <a:solidFill>
                      <a:srgbClr val="EFF5FB"/>
                    </a:solidFill>
                  </a:tcPr>
                </a:tc>
                <a:tc>
                  <a:txBody>
                    <a:bodyPr/>
                    <a:lstStyle/>
                    <a:p>
                      <a:pPr algn="ctr">
                        <a:defRPr sz="1100" b="0">
                          <a:solidFill>
                            <a:srgbClr val="193354"/>
                          </a:solidFill>
                          <a:latin typeface="Arial"/>
                        </a:defRPr>
                      </a:pPr>
                      <a:r>
                        <a:t>69.4%</a:t>
                      </a:r>
                    </a:p>
                  </a:txBody>
                  <a:tcPr marT="22860" marB="22860" anchor="ctr">
                    <a:solidFill>
                      <a:srgbClr val="EFF5FB"/>
                    </a:solidFill>
                  </a:tcPr>
                </a:tc>
                <a:tc>
                  <a:txBody>
                    <a:bodyPr/>
                    <a:lstStyle/>
                    <a:p>
                      <a:pPr algn="ctr">
                        <a:defRPr sz="1100" b="0">
                          <a:solidFill>
                            <a:srgbClr val="193354"/>
                          </a:solidFill>
                          <a:latin typeface="Arial"/>
                        </a:defRPr>
                      </a:pPr>
                      <a:r>
                        <a:t>0.57</a:t>
                      </a:r>
                    </a:p>
                  </a:txBody>
                  <a:tcPr marT="22860" marB="22860" anchor="ctr">
                    <a:solidFill>
                      <a:srgbClr val="EFF5FB"/>
                    </a:solidFill>
                  </a:tcPr>
                </a:tc>
              </a:tr>
              <a:tr h="274320">
                <a:tc>
                  <a:txBody>
                    <a:bodyPr/>
                    <a:lstStyle/>
                    <a:p>
                      <a:pPr algn="l">
                        <a:defRPr sz="1100" b="1">
                          <a:solidFill>
                            <a:srgbClr val="193354"/>
                          </a:solidFill>
                          <a:latin typeface="Arial"/>
                        </a:defRPr>
                      </a:pPr>
                      <a:r>
                        <a:t>SCRIBE</a:t>
                      </a:r>
                    </a:p>
                  </a:txBody>
                  <a:tcPr marT="22860" marB="22860" anchor="ctr">
                    <a:solidFill>
                      <a:srgbClr val="E6F4EF"/>
                    </a:solidFill>
                  </a:tcPr>
                </a:tc>
                <a:tc>
                  <a:txBody>
                    <a:bodyPr/>
                    <a:lstStyle/>
                    <a:p>
                      <a:pPr algn="ctr">
                        <a:defRPr sz="1100" b="1">
                          <a:solidFill>
                            <a:srgbClr val="193354"/>
                          </a:solidFill>
                          <a:latin typeface="Arial"/>
                        </a:defRPr>
                      </a:pPr>
                      <a:r>
                        <a:t>86.8%</a:t>
                      </a:r>
                    </a:p>
                  </a:txBody>
                  <a:tcPr marT="22860" marB="22860" anchor="ctr">
                    <a:solidFill>
                      <a:srgbClr val="E6F4EF"/>
                    </a:solidFill>
                  </a:tcPr>
                </a:tc>
                <a:tc>
                  <a:txBody>
                    <a:bodyPr/>
                    <a:lstStyle/>
                    <a:p>
                      <a:pPr algn="ctr">
                        <a:defRPr sz="1100" b="1">
                          <a:solidFill>
                            <a:srgbClr val="193354"/>
                          </a:solidFill>
                          <a:latin typeface="Arial"/>
                        </a:defRPr>
                      </a:pPr>
                      <a:r>
                        <a:t>0.24</a:t>
                      </a:r>
                    </a:p>
                  </a:txBody>
                  <a:tcPr marT="22860" marB="22860" anchor="ctr">
                    <a:solidFill>
                      <a:srgbClr val="E6F4EF"/>
                    </a:solidFill>
                  </a:tcPr>
                </a:tc>
              </a:tr>
            </a:tbl>
          </a:graphicData>
        </a:graphic>
      </p:graphicFrame>
      <p:sp>
        <p:nvSpPr>
          <p:cNvPr id="258" name="TextBox 257"/>
          <p:cNvSpPr txBox="1"/>
          <p:nvPr/>
        </p:nvSpPr>
        <p:spPr>
          <a:xfrm>
            <a:off x="548640" y="4919472"/>
            <a:ext cx="8046720" cy="164592"/>
          </a:xfrm>
          <a:prstGeom prst="rect">
            <a:avLst/>
          </a:prstGeom>
          <a:noFill/>
        </p:spPr>
        <p:txBody>
          <a:bodyPr wrap="square" lIns="0" rIns="0" tIns="0" bIns="0">
            <a:spAutoFit/>
          </a:bodyPr>
          <a:lstStyle/>
          <a:p>
            <a:pPr algn="l">
              <a:spcAft>
                <a:spcPts val="300"/>
              </a:spcAft>
              <a:defRPr sz="900" b="0">
                <a:solidFill>
                  <a:srgbClr val="53657C"/>
                </a:solidFill>
                <a:latin typeface="Arial"/>
              </a:defRPr>
            </a:pPr>
            <a:r>
              <a:t>Illustrative trajectories; aggregate results cover 50 matched groups (2–11 subgoals per group).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1"/>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42" name="Google Shape;242;p41"/>
          <p:cNvSpPr txBox="1"/>
          <p:nvPr/>
        </p:nvSpPr>
        <p:spPr>
          <a:xfrm>
            <a:off x="438912" y="164592"/>
            <a:ext cx="83211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2200" b="1" i="0" u="none" strike="noStrike" cap="none">
                <a:solidFill>
                  <a:srgbClr val="183153"/>
                </a:solidFill>
                <a:latin typeface="Arial"/>
                <a:ea typeface="Arial"/>
                <a:cs typeface="Arial"/>
                <a:sym typeface="Arial"/>
              </a:rPr>
              <a:t>Reusable Rubrics Make Reward Judgments More Consistent</a:t>
            </a:r>
            <a:endParaRPr/>
          </a:p>
        </p:txBody>
      </p:sp>
      <p:sp>
        <p:nvSpPr>
          <p:cNvPr id="244" name="Google Shape;244;p41"/>
          <p:cNvSpPr txBox="1"/>
          <p:nvPr/>
        </p:nvSpPr>
        <p:spPr>
          <a:xfrm>
            <a:off x="530352" y="1581912"/>
            <a:ext cx="39135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700" b="1" i="0" u="none" strike="noStrike" cap="none">
                <a:solidFill>
                  <a:srgbClr val="183153"/>
                </a:solidFill>
                <a:latin typeface="Arial"/>
                <a:ea typeface="Arial"/>
                <a:cs typeface="Arial"/>
                <a:sym typeface="Arial"/>
              </a:rPr>
              <a:t>Same input, repeated 10 times</a:t>
            </a:r>
            <a:endParaRPr/>
          </a:p>
        </p:txBody>
      </p:sp>
      <p:sp>
        <p:nvSpPr>
          <p:cNvPr id="245" name="Google Shape;245;p41"/>
          <p:cNvSpPr txBox="1"/>
          <p:nvPr/>
        </p:nvSpPr>
        <p:spPr>
          <a:xfrm>
            <a:off x="4681728" y="1581912"/>
            <a:ext cx="39135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600" b="1" i="0" u="none" strike="noStrike" cap="none">
                <a:solidFill>
                  <a:srgbClr val="183153"/>
                </a:solidFill>
                <a:latin typeface="Arial"/>
                <a:ea typeface="Arial"/>
                <a:cs typeface="Arial"/>
                <a:sym typeface="Arial"/>
              </a:rPr>
              <a:t>Similar behavior, different problems</a:t>
            </a:r>
            <a:endParaRPr/>
          </a:p>
        </p:txBody>
      </p:sp>
      <p:sp>
        <p:nvSpPr>
          <p:cNvPr id="246" name="Google Shape;246;p41"/>
          <p:cNvSpPr txBox="1"/>
          <p:nvPr/>
        </p:nvSpPr>
        <p:spPr>
          <a:xfrm>
            <a:off x="530352" y="1975104"/>
            <a:ext cx="38862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200" b="0" i="0" u="none" strike="noStrike" cap="none">
                <a:solidFill>
                  <a:srgbClr val="536477"/>
                </a:solidFill>
                <a:latin typeface="Arial"/>
                <a:ea typeface="Arial"/>
                <a:cs typeface="Arial"/>
                <a:sym typeface="Arial"/>
              </a:rPr>
              <a:t>Fix the problem, trajectory, rubric, and judge.</a:t>
            </a:r>
            <a:endParaRPr/>
          </a:p>
        </p:txBody>
      </p:sp>
      <p:sp>
        <p:nvSpPr>
          <p:cNvPr id="247" name="Google Shape;247;p41"/>
          <p:cNvSpPr txBox="1"/>
          <p:nvPr/>
        </p:nvSpPr>
        <p:spPr>
          <a:xfrm>
            <a:off x="4681728" y="1975104"/>
            <a:ext cx="38862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200" b="0" i="0" u="none" strike="noStrike" cap="none">
                <a:solidFill>
                  <a:srgbClr val="536477"/>
                </a:solidFill>
                <a:latin typeface="Arial"/>
                <a:ea typeface="Arial"/>
                <a:cs typeface="Arial"/>
                <a:sym typeface="Arial"/>
              </a:rPr>
              <a:t>50 matched behavior groups; 2–11 subgoals each.</a:t>
            </a:r>
            <a:endParaRPr/>
          </a:p>
        </p:txBody>
      </p:sp>
      <p:graphicFrame>
        <p:nvGraphicFramePr>
          <p:cNvPr id="248" name="Google Shape;248;p41"/>
          <p:cNvGraphicFramePr/>
          <p:nvPr/>
        </p:nvGraphicFramePr>
        <p:xfrm>
          <a:off x="530352" y="2532888"/>
          <a:ext cx="3913625" cy="1682500"/>
        </p:xfrm>
        <a:graphic>
          <a:graphicData uri="http://schemas.openxmlformats.org/drawingml/2006/table">
            <a:tbl>
              <a:tblPr firstRow="1" bandRow="1">
                <a:noFill/>
                <a:tableStyleId>{60C7E03B-85A4-41BA-8E18-2549407F5BF5}</a:tableStyleId>
              </a:tblPr>
              <a:tblGrid>
                <a:gridCol w="1499625">
                  <a:extLst>
                    <a:ext uri="{9D8B030D-6E8A-4147-A177-3AD203B41FA5}">
                      <a16:colId xmlns:a16="http://schemas.microsoft.com/office/drawing/2014/main" val="20000"/>
                    </a:ext>
                  </a:extLst>
                </a:gridCol>
                <a:gridCol w="1243575">
                  <a:extLst>
                    <a:ext uri="{9D8B030D-6E8A-4147-A177-3AD203B41FA5}">
                      <a16:colId xmlns:a16="http://schemas.microsoft.com/office/drawing/2014/main" val="20001"/>
                    </a:ext>
                  </a:extLst>
                </a:gridCol>
                <a:gridCol w="1170425">
                  <a:extLst>
                    <a:ext uri="{9D8B030D-6E8A-4147-A177-3AD203B41FA5}">
                      <a16:colId xmlns:a16="http://schemas.microsoft.com/office/drawing/2014/main" val="20002"/>
                    </a:ext>
                  </a:extLst>
                </a:gridCol>
              </a:tblGrid>
              <a:tr h="420625">
                <a:tc>
                  <a:txBody>
                    <a:bodyPr/>
                    <a:lstStyle/>
                    <a:p>
                      <a:pPr marL="0" marR="0" lvl="0" indent="0" algn="l"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Agree ↑ (%)</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Std. ↓</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No-rubric PRM</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71.8</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0.63</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RaR</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82.4</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0.41</a:t>
                      </a:r>
                      <a:endParaRPr/>
                    </a:p>
                  </a:txBody>
                  <a:tcPr marL="91450" marR="45725" marT="45725" marB="36575" anchor="ctr">
                    <a:solidFill>
                      <a:srgbClr val="FFFFFF"/>
                    </a:solidFill>
                  </a:tcPr>
                </a:tc>
                <a:extLst>
                  <a:ext uri="{0D108BD9-81ED-4DB2-BD59-A6C34878D82A}">
                    <a16:rowId xmlns:a16="http://schemas.microsoft.com/office/drawing/2014/main" val="10002"/>
                  </a:ext>
                </a:extLst>
              </a:tr>
              <a:tr h="420625">
                <a:tc>
                  <a:txBody>
                    <a:bodyPr/>
                    <a:lstStyle/>
                    <a:p>
                      <a:pPr marL="0" marR="0" lvl="0" indent="0" algn="l"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93.7</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0.18</a:t>
                      </a:r>
                      <a:endParaRPr/>
                    </a:p>
                  </a:txBody>
                  <a:tcPr marL="91450" marR="45725" marT="45725" marB="36575" anchor="ctr">
                    <a:solidFill>
                      <a:srgbClr val="EDF4FC"/>
                    </a:solidFill>
                  </a:tcPr>
                </a:tc>
                <a:extLst>
                  <a:ext uri="{0D108BD9-81ED-4DB2-BD59-A6C34878D82A}">
                    <a16:rowId xmlns:a16="http://schemas.microsoft.com/office/drawing/2014/main" val="10003"/>
                  </a:ext>
                </a:extLst>
              </a:tr>
            </a:tbl>
          </a:graphicData>
        </a:graphic>
      </p:graphicFrame>
      <p:graphicFrame>
        <p:nvGraphicFramePr>
          <p:cNvPr id="249" name="Google Shape;249;p41"/>
          <p:cNvGraphicFramePr/>
          <p:nvPr/>
        </p:nvGraphicFramePr>
        <p:xfrm>
          <a:off x="4681728" y="2532888"/>
          <a:ext cx="3913625" cy="1682500"/>
        </p:xfrm>
        <a:graphic>
          <a:graphicData uri="http://schemas.openxmlformats.org/drawingml/2006/table">
            <a:tbl>
              <a:tblPr firstRow="1" bandRow="1">
                <a:noFill/>
                <a:tableStyleId>{60C7E03B-85A4-41BA-8E18-2549407F5BF5}</a:tableStyleId>
              </a:tblPr>
              <a:tblGrid>
                <a:gridCol w="1499625">
                  <a:extLst>
                    <a:ext uri="{9D8B030D-6E8A-4147-A177-3AD203B41FA5}">
                      <a16:colId xmlns:a16="http://schemas.microsoft.com/office/drawing/2014/main" val="20000"/>
                    </a:ext>
                  </a:extLst>
                </a:gridCol>
                <a:gridCol w="1243575">
                  <a:extLst>
                    <a:ext uri="{9D8B030D-6E8A-4147-A177-3AD203B41FA5}">
                      <a16:colId xmlns:a16="http://schemas.microsoft.com/office/drawing/2014/main" val="20001"/>
                    </a:ext>
                  </a:extLst>
                </a:gridCol>
                <a:gridCol w="1170425">
                  <a:extLst>
                    <a:ext uri="{9D8B030D-6E8A-4147-A177-3AD203B41FA5}">
                      <a16:colId xmlns:a16="http://schemas.microsoft.com/office/drawing/2014/main" val="20002"/>
                    </a:ext>
                  </a:extLst>
                </a:gridCol>
              </a:tblGrid>
              <a:tr h="420625">
                <a:tc>
                  <a:txBody>
                    <a:bodyPr/>
                    <a:lstStyle/>
                    <a:p>
                      <a:pPr marL="0" marR="0" lvl="0" indent="0" algn="l"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Method</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Agree ↑ (%)</a:t>
                      </a:r>
                      <a:endParaRPr/>
                    </a:p>
                  </a:txBody>
                  <a:tcPr marL="91450" marR="45725" marT="45725" marB="36575" anchor="ctr">
                    <a:solidFill>
                      <a:srgbClr val="183153"/>
                    </a:solidFill>
                  </a:tcPr>
                </a:tc>
                <a:tc>
                  <a:txBody>
                    <a:bodyPr/>
                    <a:lstStyle/>
                    <a:p>
                      <a:pPr marL="0" marR="0" lvl="0" indent="0" algn="ctr" rtl="0">
                        <a:lnSpc>
                          <a:spcPct val="100000"/>
                        </a:lnSpc>
                        <a:spcBef>
                          <a:spcPts val="0"/>
                        </a:spcBef>
                        <a:spcAft>
                          <a:spcPts val="0"/>
                        </a:spcAft>
                        <a:buNone/>
                      </a:pPr>
                      <a:r>
                        <a:rPr lang="en" sz="1100" b="1" u="none" strike="noStrike" cap="none">
                          <a:solidFill>
                            <a:srgbClr val="FFFFFF"/>
                          </a:solidFill>
                          <a:latin typeface="Arial"/>
                          <a:ea typeface="Arial"/>
                          <a:cs typeface="Arial"/>
                          <a:sym typeface="Arial"/>
                        </a:rPr>
                        <a:t>Gap ↓</a:t>
                      </a:r>
                      <a:endParaRPr/>
                    </a:p>
                  </a:txBody>
                  <a:tcPr marL="91450" marR="45725" marT="45725" marB="36575" anchor="ctr">
                    <a:solidFill>
                      <a:srgbClr val="183153"/>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Direct PRM</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58.6</a:t>
                      </a:r>
                      <a:endParaRPr/>
                    </a:p>
                  </a:txBody>
                  <a:tcPr marL="91450" marR="45725" marT="45725" marB="36575" anchor="ctr">
                    <a:solidFill>
                      <a:srgbClr val="F7F9FC"/>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0.82</a:t>
                      </a:r>
                      <a:endParaRPr/>
                    </a:p>
                  </a:txBody>
                  <a:tcPr marL="91450" marR="45725" marT="45725" marB="36575" anchor="ctr">
                    <a:solidFill>
                      <a:srgbClr val="F7F9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RaR</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69.4</a:t>
                      </a:r>
                      <a:endParaRPr/>
                    </a:p>
                  </a:txBody>
                  <a:tcPr marL="91450" marR="45725" marT="45725" marB="36575" anchor="ctr">
                    <a:solidFill>
                      <a:srgbClr val="FFFFFF"/>
                    </a:solidFill>
                  </a:tcPr>
                </a:tc>
                <a:tc>
                  <a:txBody>
                    <a:bodyPr/>
                    <a:lstStyle/>
                    <a:p>
                      <a:pPr marL="0" marR="0" lvl="0" indent="0" algn="ctr" rtl="0">
                        <a:lnSpc>
                          <a:spcPct val="100000"/>
                        </a:lnSpc>
                        <a:spcBef>
                          <a:spcPts val="0"/>
                        </a:spcBef>
                        <a:spcAft>
                          <a:spcPts val="0"/>
                        </a:spcAft>
                        <a:buNone/>
                      </a:pPr>
                      <a:r>
                        <a:rPr lang="en" sz="1100" b="0" u="none" strike="noStrike" cap="none">
                          <a:solidFill>
                            <a:srgbClr val="183153"/>
                          </a:solidFill>
                          <a:latin typeface="Arial"/>
                          <a:ea typeface="Arial"/>
                          <a:cs typeface="Arial"/>
                          <a:sym typeface="Arial"/>
                        </a:rPr>
                        <a:t>0.57</a:t>
                      </a:r>
                      <a:endParaRPr/>
                    </a:p>
                  </a:txBody>
                  <a:tcPr marL="91450" marR="45725" marT="45725" marB="36575" anchor="ctr">
                    <a:solidFill>
                      <a:srgbClr val="FFFFFF"/>
                    </a:solidFill>
                  </a:tcPr>
                </a:tc>
                <a:extLst>
                  <a:ext uri="{0D108BD9-81ED-4DB2-BD59-A6C34878D82A}">
                    <a16:rowId xmlns:a16="http://schemas.microsoft.com/office/drawing/2014/main" val="10002"/>
                  </a:ext>
                </a:extLst>
              </a:tr>
              <a:tr h="420625">
                <a:tc>
                  <a:txBody>
                    <a:bodyPr/>
                    <a:lstStyle/>
                    <a:p>
                      <a:pPr marL="0" marR="0" lvl="0" indent="0" algn="l"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SCRIBE</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86.8</a:t>
                      </a:r>
                      <a:endParaRPr/>
                    </a:p>
                  </a:txBody>
                  <a:tcPr marL="91450" marR="45725" marT="45725" marB="36575" anchor="ctr">
                    <a:solidFill>
                      <a:srgbClr val="EDF4FC"/>
                    </a:solidFill>
                  </a:tcPr>
                </a:tc>
                <a:tc>
                  <a:txBody>
                    <a:bodyPr/>
                    <a:lstStyle/>
                    <a:p>
                      <a:pPr marL="0" marR="0" lvl="0" indent="0" algn="ctr" rtl="0">
                        <a:lnSpc>
                          <a:spcPct val="100000"/>
                        </a:lnSpc>
                        <a:spcBef>
                          <a:spcPts val="0"/>
                        </a:spcBef>
                        <a:spcAft>
                          <a:spcPts val="0"/>
                        </a:spcAft>
                        <a:buNone/>
                      </a:pPr>
                      <a:r>
                        <a:rPr lang="en" sz="1100" b="1" u="none" strike="noStrike" cap="none">
                          <a:solidFill>
                            <a:srgbClr val="183153"/>
                          </a:solidFill>
                          <a:latin typeface="Arial"/>
                          <a:ea typeface="Arial"/>
                          <a:cs typeface="Arial"/>
                          <a:sym typeface="Arial"/>
                        </a:rPr>
                        <a:t>0.24</a:t>
                      </a:r>
                      <a:endParaRPr/>
                    </a:p>
                  </a:txBody>
                  <a:tcPr marL="91450" marR="45725" marT="45725" marB="36575" anchor="ctr">
                    <a:solidFill>
                      <a:srgbClr val="EDF4FC"/>
                    </a:solidFill>
                  </a:tcPr>
                </a:tc>
                <a:extLst>
                  <a:ext uri="{0D108BD9-81ED-4DB2-BD59-A6C34878D82A}">
                    <a16:rowId xmlns:a16="http://schemas.microsoft.com/office/drawing/2014/main" val="10003"/>
                  </a:ext>
                </a:extLst>
              </a:tr>
            </a:tbl>
          </a:graphicData>
        </a:graphic>
      </p:graphicFrame>
      <p:sp>
        <p:nvSpPr>
          <p:cNvPr id="250" name="Google Shape;250;p41"/>
          <p:cNvSpPr txBox="1"/>
          <p:nvPr/>
        </p:nvSpPr>
        <p:spPr>
          <a:xfrm>
            <a:off x="594360" y="4443984"/>
            <a:ext cx="79554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400" b="1" i="0" u="none" strike="noStrike" cap="none">
                <a:solidFill>
                  <a:srgbClr val="176B50"/>
                </a:solidFill>
                <a:latin typeface="Arial"/>
                <a:ea typeface="Arial"/>
                <a:cs typeface="Arial"/>
                <a:sym typeface="Arial"/>
              </a:rPr>
              <a:t>One shared rubric gives similar reasoning behaviors a more consistent reward standard.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SzPts val="2556"/>
              <a:buNone/>
            </a:pPr>
            <a:r>
              <a:rPr lang="en" sz="2300" b="1">
                <a:solidFill>
                  <a:srgbClr val="162849"/>
                </a:solidFill>
                <a:latin typeface="Play"/>
                <a:ea typeface="Play"/>
                <a:cs typeface="Play"/>
                <a:sym typeface="Play"/>
              </a:rPr>
              <a:t>Improved Reasoning on Math Tasks</a:t>
            </a:r>
            <a:endParaRPr/>
          </a:p>
        </p:txBody>
      </p:sp>
      <p:sp>
        <p:nvSpPr>
          <p:cNvPr id="258" name="Google Shape;258;p42"/>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graphicFrame>
        <p:nvGraphicFramePr>
          <p:cNvPr id="259" name="Table 258"/>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38912">
                <a:tc>
                  <a:txBody>
                    <a:bodyPr/>
                    <a:lstStyle/>
                    <a:p>
                      <a:pPr algn="l">
                        <a:defRPr sz="1400" b="1">
                          <a:solidFill>
                            <a:srgbClr val="FFFFFF"/>
                          </a:solidFill>
                          <a:latin typeface="Arial"/>
                        </a:defRPr>
                      </a:pPr>
                      <a:r>
                        <a:t>Model</a:t>
                      </a:r>
                    </a:p>
                  </a:txBody>
                  <a:tcPr marL="73152" marR="54864" marB="36576" anchor="ctr">
                    <a:solidFill>
                      <a:srgbClr val="193354"/>
                    </a:solidFill>
                  </a:tcPr>
                </a:tc>
                <a:tc>
                  <a:txBody>
                    <a:bodyPr/>
                    <a:lstStyle/>
                    <a:p>
                      <a:pPr algn="ctr">
                        <a:defRPr sz="1400" b="1">
                          <a:solidFill>
                            <a:srgbClr val="FFFFFF"/>
                          </a:solidFill>
                          <a:latin typeface="Arial"/>
                        </a:defRPr>
                      </a:pPr>
                      <a:r>
                        <a:t>Method</a:t>
                      </a:r>
                    </a:p>
                  </a:txBody>
                  <a:tcPr marL="73152" marR="54864" marB="36576" anchor="ctr">
                    <a:solidFill>
                      <a:srgbClr val="193354"/>
                    </a:solidFill>
                  </a:tcPr>
                </a:tc>
                <a:tc>
                  <a:txBody>
                    <a:bodyPr/>
                    <a:lstStyle/>
                    <a:p>
                      <a:pPr algn="ctr">
                        <a:defRPr sz="1400" b="1">
                          <a:solidFill>
                            <a:srgbClr val="FFFFFF"/>
                          </a:solidFill>
                          <a:latin typeface="Arial"/>
                        </a:defRPr>
                      </a:pPr>
                      <a:r>
                        <a:t>MATH500</a:t>
                      </a:r>
                    </a:p>
                  </a:txBody>
                  <a:tcPr marL="73152" marR="54864" marB="36576" anchor="ctr">
                    <a:solidFill>
                      <a:srgbClr val="193354"/>
                    </a:solidFill>
                  </a:tcPr>
                </a:tc>
                <a:tc>
                  <a:txBody>
                    <a:bodyPr/>
                    <a:lstStyle/>
                    <a:p>
                      <a:pPr algn="ctr">
                        <a:defRPr sz="1400" b="1">
                          <a:solidFill>
                            <a:srgbClr val="FFFFFF"/>
                          </a:solidFill>
                          <a:latin typeface="Arial"/>
                        </a:defRPr>
                      </a:pPr>
                      <a:r>
                        <a:t>AIME25</a:t>
                      </a:r>
                    </a:p>
                  </a:txBody>
                  <a:tcPr marL="73152" marR="54864" marB="36576" anchor="ctr">
                    <a:solidFill>
                      <a:srgbClr val="193354"/>
                    </a:solidFill>
                  </a:tcPr>
                </a:tc>
                <a:extLst>
                  <a:ext uri="{0D108BD9-81ED-4DB2-BD59-A6C34878D82A}">
                    <a16:rowId xmlns:a16="http://schemas.microsoft.com/office/drawing/2014/main" val="10000"/>
                  </a:ext>
                </a:extLst>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EFF5FB"/>
                    </a:solidFill>
                  </a:tcPr>
                </a:tc>
                <a:tc>
                  <a:txBody>
                    <a:bodyPr/>
                    <a:lstStyle/>
                    <a:p>
                      <a:pPr algn="ctr">
                        <a:defRPr sz="1400" b="0">
                          <a:solidFill>
                            <a:srgbClr val="193354"/>
                          </a:solidFill>
                          <a:latin typeface="Arial"/>
                        </a:defRPr>
                      </a:pPr>
                      <a:r>
                        <a:t>89.1</a:t>
                      </a:r>
                    </a:p>
                  </a:txBody>
                  <a:tcPr marL="73152" marR="54864" marB="36576" anchor="ctr">
                    <a:solidFill>
                      <a:srgbClr val="EFF5FB"/>
                    </a:solidFill>
                  </a:tcPr>
                </a:tc>
                <a:tc>
                  <a:txBody>
                    <a:bodyPr/>
                    <a:lstStyle/>
                    <a:p>
                      <a:pPr algn="ctr">
                        <a:defRPr sz="1400" b="0">
                          <a:solidFill>
                            <a:srgbClr val="193354"/>
                          </a:solidFill>
                          <a:latin typeface="Arial"/>
                        </a:defRPr>
                      </a:pPr>
                      <a:r>
                        <a:t>43.3</a:t>
                      </a:r>
                    </a:p>
                  </a:txBody>
                  <a:tcPr marL="73152" marR="54864" marB="36576" anchor="ctr">
                    <a:solidFill>
                      <a:srgbClr val="EFF5FB"/>
                    </a:solidFill>
                  </a:tcPr>
                </a:tc>
                <a:extLst>
                  <a:ext uri="{0D108BD9-81ED-4DB2-BD59-A6C34878D82A}">
                    <a16:rowId xmlns:a16="http://schemas.microsoft.com/office/drawing/2014/main" val="10001"/>
                  </a:ext>
                </a:extLst>
              </a:tr>
              <a:tr h="438912">
                <a:tc vMerge="1">
                  <a:txBody>
                    <a:bodyPr/>
                    <a:lstStyle/>
                    <a:p>
                      <a:pPr algn="l">
                        <a:defRPr sz="1400" b="0">
                          <a:solidFill>
                            <a:srgbClr val="193354"/>
                          </a:solidFill>
                          <a:latin typeface="Arial"/>
                        </a:defRPr>
                      </a:pPr>
                      <a:endParaRPr/>
                    </a:p>
                  </a:txBody>
                  <a:tcPr marL="73152" marR="54864"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B="36576" anchor="ctr">
                    <a:solidFill>
                      <a:srgbClr val="FFFFFF"/>
                    </a:solidFill>
                  </a:tcPr>
                </a:tc>
                <a:tc>
                  <a:txBody>
                    <a:bodyPr/>
                    <a:lstStyle/>
                    <a:p>
                      <a:pPr algn="ctr">
                        <a:defRPr sz="1400" b="0">
                          <a:solidFill>
                            <a:srgbClr val="193354"/>
                          </a:solidFill>
                          <a:latin typeface="Arial"/>
                        </a:defRPr>
                      </a:pPr>
                      <a:r>
                        <a:t>92.3</a:t>
                      </a:r>
                    </a:p>
                  </a:txBody>
                  <a:tcPr marL="73152" marR="54864" marB="36576" anchor="ctr">
                    <a:solidFill>
                      <a:srgbClr val="FFFFFF"/>
                    </a:solidFill>
                  </a:tcPr>
                </a:tc>
                <a:tc>
                  <a:txBody>
                    <a:bodyPr/>
                    <a:lstStyle/>
                    <a:p>
                      <a:pPr algn="ctr">
                        <a:defRPr sz="1400" b="0">
                          <a:solidFill>
                            <a:srgbClr val="193354"/>
                          </a:solidFill>
                          <a:latin typeface="Arial"/>
                        </a:defRPr>
                      </a:pPr>
                      <a:r>
                        <a:t>51.7</a:t>
                      </a:r>
                    </a:p>
                  </a:txBody>
                  <a:tcPr marL="73152" marR="54864" marB="36576" anchor="ctr">
                    <a:solidFill>
                      <a:srgbClr val="FFFFFF"/>
                    </a:solidFill>
                  </a:tcPr>
                </a:tc>
                <a:extLst>
                  <a:ext uri="{0D108BD9-81ED-4DB2-BD59-A6C34878D82A}">
                    <a16:rowId xmlns:a16="http://schemas.microsoft.com/office/drawing/2014/main" val="10002"/>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extLst>
                  <a:ext uri="{0D108BD9-81ED-4DB2-BD59-A6C34878D82A}">
                    <a16:rowId xmlns:a16="http://schemas.microsoft.com/office/drawing/2014/main" val="10003"/>
                  </a:ext>
                </a:extLst>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FFFFFF"/>
                    </a:solidFill>
                  </a:tcPr>
                </a:tc>
                <a:tc>
                  <a:txBody>
                    <a:bodyPr/>
                    <a:lstStyle/>
                    <a:p>
                      <a:pPr algn="ctr">
                        <a:defRPr sz="1400" b="0">
                          <a:solidFill>
                            <a:srgbClr val="193354"/>
                          </a:solidFill>
                          <a:latin typeface="Arial"/>
                        </a:defRPr>
                      </a:pPr>
                      <a:r>
                        <a:t>40.8</a:t>
                      </a:r>
                    </a:p>
                  </a:txBody>
                  <a:tcPr marL="73152" marR="54864" marB="36576" anchor="ctr">
                    <a:solidFill>
                      <a:srgbClr val="FFFFFF"/>
                    </a:solidFill>
                  </a:tcPr>
                </a:tc>
                <a:tc>
                  <a:txBody>
                    <a:bodyPr/>
                    <a:lstStyle/>
                    <a:p>
                      <a:pPr algn="ctr">
                        <a:defRPr sz="1400" b="0">
                          <a:solidFill>
                            <a:srgbClr val="193354"/>
                          </a:solidFill>
                          <a:latin typeface="Arial"/>
                        </a:defRPr>
                      </a:pPr>
                      <a:r>
                        <a:t>1.7</a:t>
                      </a:r>
                    </a:p>
                  </a:txBody>
                  <a:tcPr marL="73152" marR="54864" marB="36576" anchor="ctr">
                    <a:solidFill>
                      <a:srgbClr val="FFFFFF"/>
                    </a:solidFill>
                  </a:tcPr>
                </a:tc>
                <a:extLst>
                  <a:ext uri="{0D108BD9-81ED-4DB2-BD59-A6C34878D82A}">
                    <a16:rowId xmlns:a16="http://schemas.microsoft.com/office/drawing/2014/main" val="10004"/>
                  </a:ext>
                </a:extLst>
              </a:tr>
              <a:tr h="438912">
                <a:tc vMerge="1">
                  <a:txBody>
                    <a:bodyPr/>
                    <a:lstStyle/>
                    <a:p>
                      <a:pPr algn="l">
                        <a:defRPr sz="1400" b="0">
                          <a:solidFill>
                            <a:srgbClr val="193354"/>
                          </a:solidFill>
                          <a:latin typeface="Arial"/>
                        </a:defRPr>
                      </a:pPr>
                      <a:endParaRPr/>
                    </a:p>
                  </a:txBody>
                  <a:tcPr marL="73152" marR="54864"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B="36576" anchor="ctr">
                    <a:solidFill>
                      <a:srgbClr val="EFF5FB"/>
                    </a:solidFill>
                  </a:tcPr>
                </a:tc>
                <a:tc>
                  <a:txBody>
                    <a:bodyPr/>
                    <a:lstStyle/>
                    <a:p>
                      <a:pPr algn="ctr">
                        <a:defRPr sz="1400" b="0">
                          <a:solidFill>
                            <a:srgbClr val="193354"/>
                          </a:solidFill>
                          <a:latin typeface="Arial"/>
                        </a:defRPr>
                      </a:pPr>
                      <a:r>
                        <a:t>48.3</a:t>
                      </a:r>
                    </a:p>
                  </a:txBody>
                  <a:tcPr marL="73152" marR="54864" marB="36576" anchor="ctr">
                    <a:solidFill>
                      <a:srgbClr val="EFF5FB"/>
                    </a:solidFill>
                  </a:tcPr>
                </a:tc>
                <a:tc>
                  <a:txBody>
                    <a:bodyPr/>
                    <a:lstStyle/>
                    <a:p>
                      <a:pPr algn="ctr">
                        <a:defRPr sz="1400" b="0">
                          <a:solidFill>
                            <a:srgbClr val="193354"/>
                          </a:solidFill>
                          <a:latin typeface="Arial"/>
                        </a:defRPr>
                      </a:pPr>
                      <a:r>
                        <a:t>6.7</a:t>
                      </a:r>
                    </a:p>
                  </a:txBody>
                  <a:tcPr marL="73152" marR="54864" marB="36576" anchor="ctr">
                    <a:solidFill>
                      <a:srgbClr val="EFF5FB"/>
                    </a:solidFill>
                  </a:tcPr>
                </a:tc>
                <a:extLst>
                  <a:ext uri="{0D108BD9-81ED-4DB2-BD59-A6C34878D82A}">
                    <a16:rowId xmlns:a16="http://schemas.microsoft.com/office/drawing/2014/main" val="10005"/>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endParaRPr/>
                    </a:p>
                  </a:txBody>
                  <a:tcPr marL="73152" marR="54864" marB="36576" anchor="ctr">
                    <a:solidFill>
                      <a:srgbClr val="E6F4E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43"/>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SzPts val="2556"/>
              <a:buNone/>
            </a:pPr>
            <a:r>
              <a:rPr lang="en" sz="2300" b="1">
                <a:solidFill>
                  <a:srgbClr val="162849"/>
                </a:solidFill>
                <a:latin typeface="Play"/>
                <a:ea typeface="Play"/>
                <a:cs typeface="Play"/>
                <a:sym typeface="Play"/>
              </a:rPr>
              <a:t>Improved Reasoning on Math Tasks</a:t>
            </a:r>
            <a:endParaRPr/>
          </a:p>
        </p:txBody>
      </p:sp>
      <p:sp>
        <p:nvSpPr>
          <p:cNvPr id="266" name="Google Shape;266;p43"/>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graphicFrame>
        <p:nvGraphicFramePr>
          <p:cNvPr id="267" name="Table 266"/>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38912">
                <a:tc>
                  <a:txBody>
                    <a:bodyPr/>
                    <a:lstStyle/>
                    <a:p>
                      <a:pPr algn="l">
                        <a:defRPr sz="1400" b="1">
                          <a:solidFill>
                            <a:srgbClr val="FFFFFF"/>
                          </a:solidFill>
                          <a:latin typeface="Arial"/>
                        </a:defRPr>
                      </a:pPr>
                      <a:r>
                        <a:t>Model</a:t>
                      </a:r>
                    </a:p>
                  </a:txBody>
                  <a:tcPr marL="73152" marR="54864" marB="36576" anchor="ctr">
                    <a:solidFill>
                      <a:srgbClr val="193354"/>
                    </a:solidFill>
                  </a:tcPr>
                </a:tc>
                <a:tc>
                  <a:txBody>
                    <a:bodyPr/>
                    <a:lstStyle/>
                    <a:p>
                      <a:pPr algn="ctr">
                        <a:defRPr sz="1400" b="1">
                          <a:solidFill>
                            <a:srgbClr val="FFFFFF"/>
                          </a:solidFill>
                          <a:latin typeface="Arial"/>
                        </a:defRPr>
                      </a:pPr>
                      <a:r>
                        <a:t>Method</a:t>
                      </a:r>
                    </a:p>
                  </a:txBody>
                  <a:tcPr marL="73152" marR="54864" marB="36576" anchor="ctr">
                    <a:solidFill>
                      <a:srgbClr val="193354"/>
                    </a:solidFill>
                  </a:tcPr>
                </a:tc>
                <a:tc>
                  <a:txBody>
                    <a:bodyPr/>
                    <a:lstStyle/>
                    <a:p>
                      <a:pPr algn="ctr">
                        <a:defRPr sz="1400" b="1">
                          <a:solidFill>
                            <a:srgbClr val="FFFFFF"/>
                          </a:solidFill>
                          <a:latin typeface="Arial"/>
                        </a:defRPr>
                      </a:pPr>
                      <a:r>
                        <a:t>MATH500</a:t>
                      </a:r>
                    </a:p>
                  </a:txBody>
                  <a:tcPr marL="73152" marR="54864" marB="36576" anchor="ctr">
                    <a:solidFill>
                      <a:srgbClr val="193354"/>
                    </a:solidFill>
                  </a:tcPr>
                </a:tc>
                <a:tc>
                  <a:txBody>
                    <a:bodyPr/>
                    <a:lstStyle/>
                    <a:p>
                      <a:pPr algn="ctr">
                        <a:defRPr sz="1400" b="1">
                          <a:solidFill>
                            <a:srgbClr val="FFFFFF"/>
                          </a:solidFill>
                          <a:latin typeface="Arial"/>
                        </a:defRPr>
                      </a:pPr>
                      <a:r>
                        <a:t>AIME25</a:t>
                      </a:r>
                    </a:p>
                  </a:txBody>
                  <a:tcPr marL="73152" marR="54864" marB="36576" anchor="ctr">
                    <a:solidFill>
                      <a:srgbClr val="193354"/>
                    </a:solidFill>
                  </a:tcPr>
                </a:tc>
                <a:extLst>
                  <a:ext uri="{0D108BD9-81ED-4DB2-BD59-A6C34878D82A}">
                    <a16:rowId xmlns:a16="http://schemas.microsoft.com/office/drawing/2014/main" val="10000"/>
                  </a:ext>
                </a:extLst>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EFF5FB"/>
                    </a:solidFill>
                  </a:tcPr>
                </a:tc>
                <a:tc>
                  <a:txBody>
                    <a:bodyPr/>
                    <a:lstStyle/>
                    <a:p>
                      <a:pPr algn="ctr">
                        <a:defRPr sz="1400" b="0">
                          <a:solidFill>
                            <a:srgbClr val="193354"/>
                          </a:solidFill>
                          <a:latin typeface="Arial"/>
                        </a:defRPr>
                      </a:pPr>
                      <a:r>
                        <a:t>89.1</a:t>
                      </a:r>
                    </a:p>
                  </a:txBody>
                  <a:tcPr marL="73152" marR="54864" marB="36576" anchor="ctr">
                    <a:solidFill>
                      <a:srgbClr val="EFF5FB"/>
                    </a:solidFill>
                  </a:tcPr>
                </a:tc>
                <a:tc>
                  <a:txBody>
                    <a:bodyPr/>
                    <a:lstStyle/>
                    <a:p>
                      <a:pPr algn="ctr">
                        <a:defRPr sz="1400" b="0">
                          <a:solidFill>
                            <a:srgbClr val="193354"/>
                          </a:solidFill>
                          <a:latin typeface="Arial"/>
                        </a:defRPr>
                      </a:pPr>
                      <a:r>
                        <a:t>43.3</a:t>
                      </a:r>
                    </a:p>
                  </a:txBody>
                  <a:tcPr marL="73152" marR="54864" marB="36576" anchor="ctr">
                    <a:solidFill>
                      <a:srgbClr val="EFF5FB"/>
                    </a:solidFill>
                  </a:tcPr>
                </a:tc>
                <a:extLst>
                  <a:ext uri="{0D108BD9-81ED-4DB2-BD59-A6C34878D82A}">
                    <a16:rowId xmlns:a16="http://schemas.microsoft.com/office/drawing/2014/main" val="10001"/>
                  </a:ext>
                </a:extLst>
              </a:tr>
              <a:tr h="438912">
                <a:tc vMerge="1">
                  <a:txBody>
                    <a:bodyPr/>
                    <a:lstStyle/>
                    <a:p>
                      <a:pPr algn="l">
                        <a:defRPr sz="1400" b="0">
                          <a:solidFill>
                            <a:srgbClr val="193354"/>
                          </a:solidFill>
                          <a:latin typeface="Arial"/>
                        </a:defRPr>
                      </a:pPr>
                      <a:endParaRPr/>
                    </a:p>
                  </a:txBody>
                  <a:tcPr marL="73152" marR="54864"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B="36576" anchor="ctr">
                    <a:solidFill>
                      <a:srgbClr val="FFFFFF"/>
                    </a:solidFill>
                  </a:tcPr>
                </a:tc>
                <a:tc>
                  <a:txBody>
                    <a:bodyPr/>
                    <a:lstStyle/>
                    <a:p>
                      <a:pPr algn="ctr">
                        <a:defRPr sz="1400" b="0">
                          <a:solidFill>
                            <a:srgbClr val="193354"/>
                          </a:solidFill>
                          <a:latin typeface="Arial"/>
                        </a:defRPr>
                      </a:pPr>
                      <a:r>
                        <a:t>92.3</a:t>
                      </a:r>
                    </a:p>
                  </a:txBody>
                  <a:tcPr marL="73152" marR="54864" marB="36576" anchor="ctr">
                    <a:solidFill>
                      <a:srgbClr val="FFFFFF"/>
                    </a:solidFill>
                  </a:tcPr>
                </a:tc>
                <a:tc>
                  <a:txBody>
                    <a:bodyPr/>
                    <a:lstStyle/>
                    <a:p>
                      <a:pPr algn="ctr">
                        <a:defRPr sz="1400" b="0">
                          <a:solidFill>
                            <a:srgbClr val="193354"/>
                          </a:solidFill>
                          <a:latin typeface="Arial"/>
                        </a:defRPr>
                      </a:pPr>
                      <a:r>
                        <a:t>51.7</a:t>
                      </a:r>
                    </a:p>
                  </a:txBody>
                  <a:tcPr marL="73152" marR="54864" marB="36576" anchor="ctr">
                    <a:solidFill>
                      <a:srgbClr val="FFFFFF"/>
                    </a:solidFill>
                  </a:tcPr>
                </a:tc>
                <a:extLst>
                  <a:ext uri="{0D108BD9-81ED-4DB2-BD59-A6C34878D82A}">
                    <a16:rowId xmlns:a16="http://schemas.microsoft.com/office/drawing/2014/main" val="10002"/>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r>
                        <a:t>95.8</a:t>
                      </a:r>
                    </a:p>
                  </a:txBody>
                  <a:tcPr marL="73152" marR="54864" marB="36576" anchor="ctr">
                    <a:solidFill>
                      <a:srgbClr val="E6F4EF"/>
                    </a:solidFill>
                  </a:tcPr>
                </a:tc>
                <a:tc>
                  <a:txBody>
                    <a:bodyPr/>
                    <a:lstStyle/>
                    <a:p>
                      <a:pPr algn="ctr">
                        <a:defRPr sz="1400" b="1">
                          <a:solidFill>
                            <a:srgbClr val="193354"/>
                          </a:solidFill>
                          <a:latin typeface="Arial"/>
                        </a:defRPr>
                      </a:pPr>
                      <a:r>
                        <a:t>63.3</a:t>
                      </a:r>
                    </a:p>
                  </a:txBody>
                  <a:tcPr marL="73152" marR="54864" marB="36576" anchor="ctr">
                    <a:solidFill>
                      <a:srgbClr val="E6F4EF"/>
                    </a:solidFill>
                  </a:tcPr>
                </a:tc>
                <a:extLst>
                  <a:ext uri="{0D108BD9-81ED-4DB2-BD59-A6C34878D82A}">
                    <a16:rowId xmlns:a16="http://schemas.microsoft.com/office/drawing/2014/main" val="10003"/>
                  </a:ext>
                </a:extLst>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B="36576" anchor="ctr">
                    <a:solidFill>
                      <a:srgbClr val="E7EEF6"/>
                    </a:solidFill>
                  </a:tcPr>
                </a:tc>
                <a:tc>
                  <a:txBody>
                    <a:bodyPr/>
                    <a:lstStyle/>
                    <a:p>
                      <a:pPr algn="ctr">
                        <a:defRPr sz="1400" b="0">
                          <a:solidFill>
                            <a:srgbClr val="193354"/>
                          </a:solidFill>
                          <a:latin typeface="Arial"/>
                        </a:defRPr>
                      </a:pPr>
                      <a:r>
                        <a:t>Base</a:t>
                      </a:r>
                    </a:p>
                  </a:txBody>
                  <a:tcPr marL="73152" marR="54864" marB="36576" anchor="ctr">
                    <a:solidFill>
                      <a:srgbClr val="FFFFFF"/>
                    </a:solidFill>
                  </a:tcPr>
                </a:tc>
                <a:tc>
                  <a:txBody>
                    <a:bodyPr/>
                    <a:lstStyle/>
                    <a:p>
                      <a:pPr algn="ctr">
                        <a:defRPr sz="1400" b="0">
                          <a:solidFill>
                            <a:srgbClr val="193354"/>
                          </a:solidFill>
                          <a:latin typeface="Arial"/>
                        </a:defRPr>
                      </a:pPr>
                      <a:r>
                        <a:t>40.8</a:t>
                      </a:r>
                    </a:p>
                  </a:txBody>
                  <a:tcPr marL="73152" marR="54864" marB="36576" anchor="ctr">
                    <a:solidFill>
                      <a:srgbClr val="FFFFFF"/>
                    </a:solidFill>
                  </a:tcPr>
                </a:tc>
                <a:tc>
                  <a:txBody>
                    <a:bodyPr/>
                    <a:lstStyle/>
                    <a:p>
                      <a:pPr algn="ctr">
                        <a:defRPr sz="1400" b="0">
                          <a:solidFill>
                            <a:srgbClr val="193354"/>
                          </a:solidFill>
                          <a:latin typeface="Arial"/>
                        </a:defRPr>
                      </a:pPr>
                      <a:r>
                        <a:t>1.7</a:t>
                      </a:r>
                    </a:p>
                  </a:txBody>
                  <a:tcPr marL="73152" marR="54864" marB="36576" anchor="ctr">
                    <a:solidFill>
                      <a:srgbClr val="FFFFFF"/>
                    </a:solidFill>
                  </a:tcPr>
                </a:tc>
                <a:extLst>
                  <a:ext uri="{0D108BD9-81ED-4DB2-BD59-A6C34878D82A}">
                    <a16:rowId xmlns:a16="http://schemas.microsoft.com/office/drawing/2014/main" val="10004"/>
                  </a:ext>
                </a:extLst>
              </a:tr>
              <a:tr h="438912">
                <a:tc vMerge="1">
                  <a:txBody>
                    <a:bodyPr/>
                    <a:lstStyle/>
                    <a:p>
                      <a:pPr algn="l">
                        <a:defRPr sz="1400" b="0">
                          <a:solidFill>
                            <a:srgbClr val="193354"/>
                          </a:solidFill>
                          <a:latin typeface="Arial"/>
                        </a:defRPr>
                      </a:pPr>
                      <a:endParaRPr/>
                    </a:p>
                  </a:txBody>
                  <a:tcPr marL="73152" marR="54864"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B="36576" anchor="ctr">
                    <a:solidFill>
                      <a:srgbClr val="EFF5FB"/>
                    </a:solidFill>
                  </a:tcPr>
                </a:tc>
                <a:tc>
                  <a:txBody>
                    <a:bodyPr/>
                    <a:lstStyle/>
                    <a:p>
                      <a:pPr algn="ctr">
                        <a:defRPr sz="1400" b="0">
                          <a:solidFill>
                            <a:srgbClr val="193354"/>
                          </a:solidFill>
                          <a:latin typeface="Arial"/>
                        </a:defRPr>
                      </a:pPr>
                      <a:r>
                        <a:t>48.3</a:t>
                      </a:r>
                    </a:p>
                  </a:txBody>
                  <a:tcPr marL="73152" marR="54864" marB="36576" anchor="ctr">
                    <a:solidFill>
                      <a:srgbClr val="EFF5FB"/>
                    </a:solidFill>
                  </a:tcPr>
                </a:tc>
                <a:tc>
                  <a:txBody>
                    <a:bodyPr/>
                    <a:lstStyle/>
                    <a:p>
                      <a:pPr algn="ctr">
                        <a:defRPr sz="1400" b="0">
                          <a:solidFill>
                            <a:srgbClr val="193354"/>
                          </a:solidFill>
                          <a:latin typeface="Arial"/>
                        </a:defRPr>
                      </a:pPr>
                      <a:r>
                        <a:t>6.7</a:t>
                      </a:r>
                    </a:p>
                  </a:txBody>
                  <a:tcPr marL="73152" marR="54864" marB="36576" anchor="ctr">
                    <a:solidFill>
                      <a:srgbClr val="EFF5FB"/>
                    </a:solidFill>
                  </a:tcPr>
                </a:tc>
                <a:extLst>
                  <a:ext uri="{0D108BD9-81ED-4DB2-BD59-A6C34878D82A}">
                    <a16:rowId xmlns:a16="http://schemas.microsoft.com/office/drawing/2014/main" val="10005"/>
                  </a:ext>
                </a:extLst>
              </a:tr>
              <a:tr h="438912">
                <a:tc vMerge="1">
                  <a:txBody>
                    <a:bodyPr/>
                    <a:lstStyle/>
                    <a:p>
                      <a:pPr algn="l">
                        <a:defRPr sz="1400" b="1">
                          <a:solidFill>
                            <a:srgbClr val="193354"/>
                          </a:solidFill>
                          <a:latin typeface="Arial"/>
                        </a:defRPr>
                      </a:pPr>
                      <a:endParaRPr/>
                    </a:p>
                  </a:txBody>
                  <a:tcPr marL="73152" marR="54864" marB="36576" anchor="ctr">
                    <a:solidFill>
                      <a:srgbClr val="E6F4EF"/>
                    </a:solidFill>
                  </a:tcPr>
                </a:tc>
                <a:tc>
                  <a:txBody>
                    <a:bodyPr/>
                    <a:lstStyle/>
                    <a:p>
                      <a:pPr algn="ctr">
                        <a:defRPr sz="1400" b="1">
                          <a:solidFill>
                            <a:srgbClr val="193354"/>
                          </a:solidFill>
                          <a:latin typeface="Arial"/>
                        </a:defRPr>
                      </a:pPr>
                      <a:r>
                        <a:t>SCRIBE (Ours)</a:t>
                      </a:r>
                    </a:p>
                  </a:txBody>
                  <a:tcPr marL="73152" marR="54864" marB="36576" anchor="ctr">
                    <a:solidFill>
                      <a:srgbClr val="E6F4EF"/>
                    </a:solidFill>
                  </a:tcPr>
                </a:tc>
                <a:tc>
                  <a:txBody>
                    <a:bodyPr/>
                    <a:lstStyle/>
                    <a:p>
                      <a:pPr algn="ctr">
                        <a:defRPr sz="1400" b="1">
                          <a:solidFill>
                            <a:srgbClr val="193354"/>
                          </a:solidFill>
                          <a:latin typeface="Arial"/>
                        </a:defRPr>
                      </a:pPr>
                      <a:r>
                        <a:t>63.4</a:t>
                      </a:r>
                    </a:p>
                  </a:txBody>
                  <a:tcPr marL="73152" marR="54864" marB="36576" anchor="ctr">
                    <a:solidFill>
                      <a:srgbClr val="E6F4EF"/>
                    </a:solidFill>
                  </a:tcPr>
                </a:tc>
                <a:tc>
                  <a:txBody>
                    <a:bodyPr/>
                    <a:lstStyle/>
                    <a:p>
                      <a:pPr algn="ctr">
                        <a:defRPr sz="1400" b="1">
                          <a:solidFill>
                            <a:srgbClr val="193354"/>
                          </a:solidFill>
                          <a:latin typeface="Arial"/>
                        </a:defRPr>
                      </a:pPr>
                      <a:r>
                        <a:t>15.8</a:t>
                      </a:r>
                    </a:p>
                  </a:txBody>
                  <a:tcPr marL="73152" marR="54864" marB="36576" anchor="ctr">
                    <a:solidFill>
                      <a:srgbClr val="E6F4E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0"/>
        <p:cNvGrpSpPr/>
        <p:nvPr/>
      </p:nvGrpSpPr>
      <p:grpSpPr>
        <a:xfrm>
          <a:off x="0" y="0"/>
          <a:ext cx="0" cy="0"/>
          <a:chOff x="0" y="0"/>
          <a:chExt cx="0" cy="0"/>
        </a:xfrm>
      </p:grpSpPr>
      <p:sp>
        <p:nvSpPr>
          <p:cNvPr id="271" name="Google Shape;271;p44"/>
          <p:cNvSpPr txBox="1"/>
          <p:nvPr/>
        </p:nvSpPr>
        <p:spPr>
          <a:xfrm>
            <a:off x="438912" y="292608"/>
            <a:ext cx="7818000" cy="4218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162849"/>
                </a:solidFill>
                <a:latin typeface="Arial"/>
                <a:ea typeface="Arial"/>
                <a:cs typeface="Arial"/>
                <a:sym typeface="Arial"/>
              </a:rPr>
              <a:t>BFCL V4: Evaluating Tool-Calling Behavior</a:t>
            </a:r>
            <a:endParaRPr sz="1400" b="0" i="0" u="none" strike="noStrike" cap="none">
              <a:solidFill>
                <a:srgbClr val="000000"/>
              </a:solidFill>
              <a:latin typeface="Arial"/>
              <a:ea typeface="Arial"/>
              <a:cs typeface="Arial"/>
              <a:sym typeface="Arial"/>
            </a:endParaRPr>
          </a:p>
        </p:txBody>
      </p:sp>
      <p:sp>
        <p:nvSpPr>
          <p:cNvPr id="272" name="Google Shape;272;p44"/>
          <p:cNvSpPr/>
          <p:nvPr/>
        </p:nvSpPr>
        <p:spPr>
          <a:xfrm>
            <a:off x="566928" y="1024128"/>
            <a:ext cx="2788800" cy="3383400"/>
          </a:xfrm>
          <a:prstGeom prst="roundRect">
            <a:avLst>
              <a:gd name="adj" fmla="val 16667"/>
            </a:avLst>
          </a:prstGeom>
          <a:solidFill>
            <a:srgbClr val="F7F9FD"/>
          </a:solidFill>
          <a:ln>
            <a:noFill/>
          </a:ln>
          <a:effectLst>
            <a:outerShdw blurRad="40000" dist="23000" dir="5400000" rotWithShape="0">
              <a:srgbClr val="000000">
                <a:alpha val="34902"/>
              </a:srgbClr>
            </a:outerShdw>
          </a:effectLst>
        </p:spPr>
        <p:txBody>
          <a:bodyPr spcFirstLastPara="1" wrap="square" lIns="54850" tIns="18275" rIns="54850" bIns="182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73" name="Google Shape;273;p44"/>
          <p:cNvSpPr txBox="1"/>
          <p:nvPr/>
        </p:nvSpPr>
        <p:spPr>
          <a:xfrm>
            <a:off x="786384" y="1261872"/>
            <a:ext cx="2359200" cy="1755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2870E6"/>
                </a:solidFill>
                <a:latin typeface="Arial"/>
                <a:ea typeface="Arial"/>
                <a:cs typeface="Arial"/>
                <a:sym typeface="Arial"/>
              </a:rPr>
              <a:t>WHAT IT TESTS</a:t>
            </a:r>
            <a:endParaRPr sz="1400" b="0" i="0" u="none" strike="noStrike" cap="none">
              <a:solidFill>
                <a:srgbClr val="000000"/>
              </a:solidFill>
              <a:latin typeface="Arial"/>
              <a:ea typeface="Arial"/>
              <a:cs typeface="Arial"/>
              <a:sym typeface="Arial"/>
            </a:endParaRPr>
          </a:p>
        </p:txBody>
      </p:sp>
      <p:sp>
        <p:nvSpPr>
          <p:cNvPr id="274" name="Google Shape;274;p44"/>
          <p:cNvSpPr txBox="1"/>
          <p:nvPr/>
        </p:nvSpPr>
        <p:spPr>
          <a:xfrm>
            <a:off x="786384" y="1609344"/>
            <a:ext cx="2359200" cy="11145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162849"/>
                </a:solidFill>
                <a:latin typeface="Arial"/>
                <a:ea typeface="Arial"/>
                <a:cs typeface="Arial"/>
                <a:sym typeface="Arial"/>
              </a:rPr>
              <a:t>Can a model select the correct function, construct valid arguments, and coordinate multiple calls?</a:t>
            </a:r>
            <a:endParaRPr sz="1400" b="0" i="0" u="none" strike="noStrike" cap="none">
              <a:solidFill>
                <a:srgbClr val="000000"/>
              </a:solidFill>
              <a:latin typeface="Arial"/>
              <a:ea typeface="Arial"/>
              <a:cs typeface="Arial"/>
              <a:sym typeface="Arial"/>
            </a:endParaRPr>
          </a:p>
        </p:txBody>
      </p:sp>
      <p:sp>
        <p:nvSpPr>
          <p:cNvPr id="275" name="Google Shape;275;p44"/>
          <p:cNvSpPr txBox="1"/>
          <p:nvPr/>
        </p:nvSpPr>
        <p:spPr>
          <a:xfrm>
            <a:off x="786384" y="2679192"/>
            <a:ext cx="2359200" cy="1755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2870E6"/>
                </a:solidFill>
                <a:latin typeface="Arial"/>
                <a:ea typeface="Arial"/>
                <a:cs typeface="Arial"/>
                <a:sym typeface="Arial"/>
              </a:rPr>
              <a:t>OUTPUT</a:t>
            </a:r>
            <a:endParaRPr sz="1400" b="0" i="0" u="none" strike="noStrike" cap="none">
              <a:solidFill>
                <a:srgbClr val="000000"/>
              </a:solidFill>
              <a:latin typeface="Arial"/>
              <a:ea typeface="Arial"/>
              <a:cs typeface="Arial"/>
              <a:sym typeface="Arial"/>
            </a:endParaRPr>
          </a:p>
        </p:txBody>
      </p:sp>
      <p:sp>
        <p:nvSpPr>
          <p:cNvPr id="276" name="Google Shape;276;p44"/>
          <p:cNvSpPr txBox="1"/>
          <p:nvPr/>
        </p:nvSpPr>
        <p:spPr>
          <a:xfrm>
            <a:off x="786384" y="2999232"/>
            <a:ext cx="2359200" cy="6141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1250"/>
              <a:buFont typeface="Arial"/>
              <a:buNone/>
            </a:pPr>
            <a:r>
              <a:rPr lang="en" sz="1250" b="0" i="0" u="none" strike="noStrike" cap="none">
                <a:solidFill>
                  <a:srgbClr val="596881"/>
                </a:solidFill>
                <a:latin typeface="Arial"/>
                <a:ea typeface="Arial"/>
                <a:cs typeface="Arial"/>
                <a:sym typeface="Arial"/>
              </a:rPr>
              <a:t>One or more executable function calls—not a free-form final answer.</a:t>
            </a:r>
            <a:endParaRPr sz="1400" b="0" i="0" u="none" strike="noStrike" cap="none">
              <a:solidFill>
                <a:srgbClr val="000000"/>
              </a:solidFill>
              <a:latin typeface="Arial"/>
              <a:ea typeface="Arial"/>
              <a:cs typeface="Arial"/>
              <a:sym typeface="Arial"/>
            </a:endParaRPr>
          </a:p>
        </p:txBody>
      </p:sp>
      <p:sp>
        <p:nvSpPr>
          <p:cNvPr id="277" name="Google Shape;277;p44"/>
          <p:cNvSpPr txBox="1"/>
          <p:nvPr/>
        </p:nvSpPr>
        <p:spPr>
          <a:xfrm>
            <a:off x="786384" y="3840480"/>
            <a:ext cx="2359200" cy="1677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596881"/>
                </a:solidFill>
                <a:latin typeface="Arial"/>
                <a:ea typeface="Arial"/>
                <a:cs typeface="Arial"/>
                <a:sym typeface="Arial"/>
              </a:rPr>
              <a:t>Berkeley Function Calling Leaderboard · V4</a:t>
            </a:r>
            <a:endParaRPr sz="1400" b="0" i="0" u="none" strike="noStrike" cap="none">
              <a:solidFill>
                <a:srgbClr val="000000"/>
              </a:solidFill>
              <a:latin typeface="Arial"/>
              <a:ea typeface="Arial"/>
              <a:cs typeface="Arial"/>
              <a:sym typeface="Arial"/>
            </a:endParaRPr>
          </a:p>
        </p:txBody>
      </p:sp>
      <p:sp>
        <p:nvSpPr>
          <p:cNvPr id="278" name="Google Shape;278;p44"/>
          <p:cNvSpPr/>
          <p:nvPr/>
        </p:nvSpPr>
        <p:spPr>
          <a:xfrm>
            <a:off x="3639312" y="1024128"/>
            <a:ext cx="4937700" cy="1417200"/>
          </a:xfrm>
          <a:prstGeom prst="roundRect">
            <a:avLst>
              <a:gd name="adj" fmla="val 16667"/>
            </a:avLst>
          </a:prstGeom>
          <a:solidFill>
            <a:srgbClr val="E8F0FE"/>
          </a:solidFill>
          <a:ln>
            <a:noFill/>
          </a:ln>
          <a:effectLst>
            <a:outerShdw blurRad="40000" dist="23000" dir="5400000" rotWithShape="0">
              <a:srgbClr val="000000">
                <a:alpha val="34902"/>
              </a:srgbClr>
            </a:outerShdw>
          </a:effectLst>
        </p:spPr>
        <p:txBody>
          <a:bodyPr spcFirstLastPara="1" wrap="square" lIns="54850" tIns="18275" rIns="54850" bIns="182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79" name="Google Shape;279;p44"/>
          <p:cNvSpPr txBox="1"/>
          <p:nvPr/>
        </p:nvSpPr>
        <p:spPr>
          <a:xfrm>
            <a:off x="3858768" y="1225296"/>
            <a:ext cx="4498800" cy="175500"/>
          </a:xfrm>
          <a:prstGeom prst="rect">
            <a:avLst/>
          </a:prstGeom>
          <a:noFill/>
          <a:ln>
            <a:noFill/>
          </a:ln>
        </p:spPr>
        <p:txBody>
          <a:bodyPr spcFirstLastPara="1" wrap="square" lIns="54850" tIns="18275" rIns="54850" bIns="18275" anchor="ctr"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2870E6"/>
                </a:solidFill>
                <a:latin typeface="Arial"/>
                <a:ea typeface="Arial"/>
                <a:cs typeface="Arial"/>
                <a:sym typeface="Arial"/>
              </a:rPr>
              <a:t>ILLUSTRATIVE TASK FORMAT</a:t>
            </a:r>
            <a:endParaRPr sz="1400" b="0" i="0" u="none" strike="noStrike" cap="none">
              <a:solidFill>
                <a:srgbClr val="000000"/>
              </a:solidFill>
              <a:latin typeface="Arial"/>
              <a:ea typeface="Arial"/>
              <a:cs typeface="Arial"/>
              <a:sym typeface="Arial"/>
            </a:endParaRPr>
          </a:p>
        </p:txBody>
      </p:sp>
      <p:sp>
        <p:nvSpPr>
          <p:cNvPr id="280" name="Google Shape;280;p44"/>
          <p:cNvSpPr txBox="1"/>
          <p:nvPr/>
        </p:nvSpPr>
        <p:spPr>
          <a:xfrm>
            <a:off x="3858768" y="1536192"/>
            <a:ext cx="4498800" cy="498600"/>
          </a:xfrm>
          <a:prstGeom prst="rect">
            <a:avLst/>
          </a:prstGeom>
          <a:noFill/>
          <a:ln>
            <a:noFill/>
          </a:ln>
        </p:spPr>
        <p:txBody>
          <a:bodyPr spcFirstLastPara="1" wrap="square" lIns="54850" tIns="18275" rIns="54850" bIns="18275" anchor="ctr" anchorCtr="0">
            <a:spAutoFit/>
          </a:bodyPr>
          <a:lstStyle/>
          <a:p>
            <a:pPr marL="0" marR="0" lvl="0" indent="0" algn="ctr" rtl="0">
              <a:lnSpc>
                <a:spcPct val="100000"/>
              </a:lnSpc>
              <a:spcBef>
                <a:spcPts val="0"/>
              </a:spcBef>
              <a:spcAft>
                <a:spcPts val="0"/>
              </a:spcAft>
              <a:buClr>
                <a:srgbClr val="000000"/>
              </a:buClr>
              <a:buSzPts val="1500"/>
              <a:buFont typeface="Arial"/>
              <a:buNone/>
            </a:pPr>
            <a:r>
              <a:rPr lang="en" sz="1500" b="1" i="0" u="none" strike="noStrike" cap="none">
                <a:solidFill>
                  <a:srgbClr val="162849"/>
                </a:solidFill>
                <a:latin typeface="Arial"/>
                <a:ea typeface="Arial"/>
                <a:cs typeface="Arial"/>
                <a:sym typeface="Arial"/>
              </a:rPr>
              <a:t>User request + available function schemas</a:t>
            </a:r>
            <a:br>
              <a:rPr lang="en" sz="1500" b="1" i="0" u="none" strike="noStrike" cap="none">
                <a:solidFill>
                  <a:srgbClr val="162849"/>
                </a:solidFill>
                <a:latin typeface="Arial"/>
                <a:ea typeface="Arial"/>
                <a:cs typeface="Arial"/>
                <a:sym typeface="Arial"/>
              </a:rPr>
            </a:br>
            <a:r>
              <a:rPr lang="en" sz="1500" b="1" i="0" u="none" strike="noStrike" cap="none">
                <a:solidFill>
                  <a:srgbClr val="162849"/>
                </a:solidFill>
                <a:latin typeface="Arial"/>
                <a:ea typeface="Arial"/>
                <a:cs typeface="Arial"/>
                <a:sym typeface="Arial"/>
              </a:rPr>
              <a:t>→ choose tool(s) → fill arguments → order calls</a:t>
            </a:r>
            <a:endParaRPr sz="1400" b="0" i="0" u="none" strike="noStrike" cap="none">
              <a:solidFill>
                <a:srgbClr val="000000"/>
              </a:solidFill>
              <a:latin typeface="Arial"/>
              <a:ea typeface="Arial"/>
              <a:cs typeface="Arial"/>
              <a:sym typeface="Arial"/>
            </a:endParaRPr>
          </a:p>
        </p:txBody>
      </p:sp>
      <p:sp>
        <p:nvSpPr>
          <p:cNvPr id="281" name="Google Shape;281;p44"/>
          <p:cNvSpPr/>
          <p:nvPr/>
        </p:nvSpPr>
        <p:spPr>
          <a:xfrm>
            <a:off x="3639312" y="2670048"/>
            <a:ext cx="2377500" cy="65850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128000" tIns="18275" rIns="128000" bIns="18275" anchor="ctr" anchorCtr="0">
            <a:noAutofit/>
          </a:bodyPr>
          <a:lstStyle/>
          <a:p>
            <a:pPr marL="0" marR="0" lvl="0" indent="0" algn="l" rtl="0">
              <a:lnSpc>
                <a:spcPct val="100000"/>
              </a:lnSpc>
              <a:spcBef>
                <a:spcPts val="0"/>
              </a:spcBef>
              <a:spcAft>
                <a:spcPts val="0"/>
              </a:spcAft>
              <a:buClr>
                <a:srgbClr val="000000"/>
              </a:buClr>
              <a:buSzPts val="1018"/>
              <a:buFont typeface="Arial"/>
              <a:buNone/>
            </a:pPr>
            <a:r>
              <a:rPr lang="en" sz="1019" b="1" i="0" u="none" strike="noStrike" cap="none">
                <a:solidFill>
                  <a:srgbClr val="162849"/>
                </a:solidFill>
                <a:latin typeface="Arial"/>
                <a:ea typeface="Arial"/>
                <a:cs typeface="Arial"/>
                <a:sym typeface="Arial"/>
              </a:rPr>
              <a:t>Web Search</a:t>
            </a:r>
            <a:br>
              <a:rPr lang="en" sz="1019" b="1" i="0" u="none" strike="noStrike" cap="none">
                <a:solidFill>
                  <a:srgbClr val="162849"/>
                </a:solidFill>
                <a:latin typeface="Arial"/>
                <a:ea typeface="Arial"/>
                <a:cs typeface="Arial"/>
                <a:sym typeface="Arial"/>
              </a:rPr>
            </a:br>
            <a:r>
              <a:rPr lang="en" sz="1019" b="1" i="0" u="none" strike="noStrike" cap="none">
                <a:solidFill>
                  <a:srgbClr val="162849"/>
                </a:solidFill>
                <a:latin typeface="Arial"/>
                <a:ea typeface="Arial"/>
                <a:cs typeface="Arial"/>
                <a:sym typeface="Arial"/>
              </a:rPr>
              <a:t>Retrieve information through search tools</a:t>
            </a:r>
            <a:endParaRPr sz="1400" b="0" i="0" u="none" strike="noStrike" cap="none">
              <a:solidFill>
                <a:srgbClr val="000000"/>
              </a:solidFill>
              <a:latin typeface="Arial"/>
              <a:ea typeface="Arial"/>
              <a:cs typeface="Arial"/>
              <a:sym typeface="Arial"/>
            </a:endParaRPr>
          </a:p>
        </p:txBody>
      </p:sp>
      <p:sp>
        <p:nvSpPr>
          <p:cNvPr id="282" name="Google Shape;282;p44"/>
          <p:cNvSpPr/>
          <p:nvPr/>
        </p:nvSpPr>
        <p:spPr>
          <a:xfrm>
            <a:off x="6181344" y="2670048"/>
            <a:ext cx="2377500" cy="65850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128000" tIns="18275" rIns="128000" bIns="18275" anchor="ctr" anchorCtr="0">
            <a:noAutofit/>
          </a:bodyPr>
          <a:lstStyle/>
          <a:p>
            <a:pPr marL="0" marR="0" lvl="0" indent="0" algn="l" rtl="0">
              <a:lnSpc>
                <a:spcPct val="100000"/>
              </a:lnSpc>
              <a:spcBef>
                <a:spcPts val="0"/>
              </a:spcBef>
              <a:spcAft>
                <a:spcPts val="0"/>
              </a:spcAft>
              <a:buClr>
                <a:srgbClr val="000000"/>
              </a:buClr>
              <a:buSzPts val="1018"/>
              <a:buFont typeface="Arial"/>
              <a:buNone/>
            </a:pPr>
            <a:r>
              <a:rPr lang="en" sz="1019" b="1" i="0" u="none" strike="noStrike" cap="none">
                <a:solidFill>
                  <a:srgbClr val="162849"/>
                </a:solidFill>
                <a:latin typeface="Arial"/>
                <a:ea typeface="Arial"/>
                <a:cs typeface="Arial"/>
                <a:sym typeface="Arial"/>
              </a:rPr>
              <a:t>Memory</a:t>
            </a:r>
            <a:br>
              <a:rPr lang="en" sz="1019" b="1" i="0" u="none" strike="noStrike" cap="none">
                <a:solidFill>
                  <a:srgbClr val="162849"/>
                </a:solidFill>
                <a:latin typeface="Arial"/>
                <a:ea typeface="Arial"/>
                <a:cs typeface="Arial"/>
                <a:sym typeface="Arial"/>
              </a:rPr>
            </a:br>
            <a:r>
              <a:rPr lang="en" sz="1019" b="1" i="0" u="none" strike="noStrike" cap="none">
                <a:solidFill>
                  <a:srgbClr val="162849"/>
                </a:solidFill>
                <a:latin typeface="Arial"/>
                <a:ea typeface="Arial"/>
                <a:cs typeface="Arial"/>
                <a:sym typeface="Arial"/>
              </a:rPr>
              <a:t>Store and retrieve user-specific information</a:t>
            </a:r>
            <a:endParaRPr sz="1400" b="0" i="0" u="none" strike="noStrike" cap="none">
              <a:solidFill>
                <a:srgbClr val="000000"/>
              </a:solidFill>
              <a:latin typeface="Arial"/>
              <a:ea typeface="Arial"/>
              <a:cs typeface="Arial"/>
              <a:sym typeface="Arial"/>
            </a:endParaRPr>
          </a:p>
        </p:txBody>
      </p:sp>
      <p:sp>
        <p:nvSpPr>
          <p:cNvPr id="283" name="Google Shape;283;p44"/>
          <p:cNvSpPr/>
          <p:nvPr/>
        </p:nvSpPr>
        <p:spPr>
          <a:xfrm>
            <a:off x="3639312" y="3493008"/>
            <a:ext cx="2377500" cy="65850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128000" tIns="18275" rIns="128000" bIns="18275" anchor="ctr" anchorCtr="0">
            <a:noAutofit/>
          </a:bodyPr>
          <a:lstStyle/>
          <a:p>
            <a:pPr marL="0" marR="0" lvl="0" indent="0" algn="l" rtl="0">
              <a:lnSpc>
                <a:spcPct val="100000"/>
              </a:lnSpc>
              <a:spcBef>
                <a:spcPts val="0"/>
              </a:spcBef>
              <a:spcAft>
                <a:spcPts val="0"/>
              </a:spcAft>
              <a:buClr>
                <a:srgbClr val="000000"/>
              </a:buClr>
              <a:buSzPts val="1018"/>
              <a:buFont typeface="Arial"/>
              <a:buNone/>
            </a:pPr>
            <a:r>
              <a:rPr lang="en" sz="1019" b="1" i="0" u="none" strike="noStrike" cap="none">
                <a:solidFill>
                  <a:srgbClr val="162849"/>
                </a:solidFill>
                <a:latin typeface="Arial"/>
                <a:ea typeface="Arial"/>
                <a:cs typeface="Arial"/>
                <a:sym typeface="Arial"/>
              </a:rPr>
              <a:t>Single</a:t>
            </a:r>
            <a:br>
              <a:rPr lang="en" sz="1019" b="1" i="0" u="none" strike="noStrike" cap="none">
                <a:solidFill>
                  <a:srgbClr val="162849"/>
                </a:solidFill>
                <a:latin typeface="Arial"/>
                <a:ea typeface="Arial"/>
                <a:cs typeface="Arial"/>
                <a:sym typeface="Arial"/>
              </a:rPr>
            </a:br>
            <a:r>
              <a:rPr lang="en" sz="1019" b="1" i="0" u="none" strike="noStrike" cap="none">
                <a:solidFill>
                  <a:srgbClr val="162849"/>
                </a:solidFill>
                <a:latin typeface="Arial"/>
                <a:ea typeface="Arial"/>
                <a:cs typeface="Arial"/>
                <a:sym typeface="Arial"/>
              </a:rPr>
              <a:t>Execute one live or non-live function call</a:t>
            </a:r>
            <a:endParaRPr sz="1400" b="0" i="0" u="none" strike="noStrike" cap="none">
              <a:solidFill>
                <a:srgbClr val="000000"/>
              </a:solidFill>
              <a:latin typeface="Arial"/>
              <a:ea typeface="Arial"/>
              <a:cs typeface="Arial"/>
              <a:sym typeface="Arial"/>
            </a:endParaRPr>
          </a:p>
        </p:txBody>
      </p:sp>
      <p:sp>
        <p:nvSpPr>
          <p:cNvPr id="284" name="Google Shape;284;p44"/>
          <p:cNvSpPr/>
          <p:nvPr/>
        </p:nvSpPr>
        <p:spPr>
          <a:xfrm>
            <a:off x="6181344" y="3493008"/>
            <a:ext cx="2377500" cy="65850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128000" tIns="18275" rIns="128000" bIns="18275" anchor="ctr" anchorCtr="0">
            <a:noAutofit/>
          </a:bodyPr>
          <a:lstStyle/>
          <a:p>
            <a:pPr marL="0" marR="0" lvl="0" indent="0" algn="l" rtl="0">
              <a:lnSpc>
                <a:spcPct val="100000"/>
              </a:lnSpc>
              <a:spcBef>
                <a:spcPts val="0"/>
              </a:spcBef>
              <a:spcAft>
                <a:spcPts val="0"/>
              </a:spcAft>
              <a:buClr>
                <a:srgbClr val="000000"/>
              </a:buClr>
              <a:buSzPts val="1018"/>
              <a:buFont typeface="Arial"/>
              <a:buNone/>
            </a:pPr>
            <a:r>
              <a:rPr lang="en" sz="1019" b="1" i="0" u="none" strike="noStrike" cap="none">
                <a:solidFill>
                  <a:srgbClr val="162849"/>
                </a:solidFill>
                <a:latin typeface="Arial"/>
                <a:ea typeface="Arial"/>
                <a:cs typeface="Arial"/>
                <a:sym typeface="Arial"/>
              </a:rPr>
              <a:t>Multi</a:t>
            </a:r>
            <a:br>
              <a:rPr lang="en" sz="1019" b="1" i="0" u="none" strike="noStrike" cap="none">
                <a:solidFill>
                  <a:srgbClr val="162849"/>
                </a:solidFill>
                <a:latin typeface="Arial"/>
                <a:ea typeface="Arial"/>
                <a:cs typeface="Arial"/>
                <a:sym typeface="Arial"/>
              </a:rPr>
            </a:br>
            <a:r>
              <a:rPr lang="en" sz="1019" b="1" i="0" u="none" strike="noStrike" cap="none">
                <a:solidFill>
                  <a:srgbClr val="162849"/>
                </a:solidFill>
                <a:latin typeface="Arial"/>
                <a:ea typeface="Arial"/>
                <a:cs typeface="Arial"/>
                <a:sym typeface="Arial"/>
              </a:rPr>
              <a:t>Coordinate multiple calls for one request</a:t>
            </a:r>
            <a:endParaRPr sz="1400" b="0" i="0" u="none" strike="noStrike" cap="none">
              <a:solidFill>
                <a:srgbClr val="000000"/>
              </a:solidFill>
              <a:latin typeface="Arial"/>
              <a:ea typeface="Arial"/>
              <a:cs typeface="Arial"/>
              <a:sym typeface="Arial"/>
            </a:endParaRPr>
          </a:p>
        </p:txBody>
      </p:sp>
      <p:sp>
        <p:nvSpPr>
          <p:cNvPr id="285" name="Google Shape;285;p44"/>
          <p:cNvSpPr txBox="1"/>
          <p:nvPr/>
        </p:nvSpPr>
        <p:spPr>
          <a:xfrm>
            <a:off x="3639312" y="4370832"/>
            <a:ext cx="4937700" cy="375600"/>
          </a:xfrm>
          <a:prstGeom prst="rect">
            <a:avLst/>
          </a:prstGeom>
          <a:noFill/>
          <a:ln>
            <a:noFill/>
          </a:ln>
        </p:spPr>
        <p:txBody>
          <a:bodyPr spcFirstLastPara="1" wrap="square" lIns="54850" tIns="18275" rIns="54850" bIns="18275"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2870E6"/>
                </a:solidFill>
                <a:latin typeface="Arial"/>
                <a:ea typeface="Arial"/>
                <a:cs typeface="Arial"/>
                <a:sym typeface="Arial"/>
              </a:rPr>
              <a:t>Why SCRIBE: reliable process rewards must recognize complete intermediate tool-use behavior.</a:t>
            </a:r>
            <a:endParaRPr sz="1400" b="0" i="0" u="none" strike="noStrike" cap="none">
              <a:solidFill>
                <a:srgbClr val="000000"/>
              </a:solidFill>
              <a:latin typeface="Arial"/>
              <a:ea typeface="Arial"/>
              <a:cs typeface="Arial"/>
              <a:sym typeface="Arial"/>
            </a:endParaRPr>
          </a:p>
        </p:txBody>
      </p:sp>
      <p:sp>
        <p:nvSpPr>
          <p:cNvPr id="286" name="Google Shape;286;p44"/>
          <p:cNvSpPr txBox="1"/>
          <p:nvPr/>
        </p:nvSpPr>
        <p:spPr>
          <a:xfrm>
            <a:off x="566928" y="4882896"/>
            <a:ext cx="8010000" cy="137100"/>
          </a:xfrm>
          <a:prstGeom prst="rect">
            <a:avLst/>
          </a:prstGeom>
          <a:noFill/>
          <a:ln>
            <a:noFill/>
          </a:ln>
        </p:spPr>
        <p:txBody>
          <a:bodyPr spcFirstLastPara="1" wrap="square" lIns="54850" tIns="18275" rIns="54850" bIns="18275" anchor="ctr" anchorCtr="0">
            <a:spAutoFit/>
          </a:bodyPr>
          <a:lstStyle/>
          <a:p>
            <a:pPr marL="0" marR="0" lvl="0" indent="0" algn="ctr" rtl="0">
              <a:lnSpc>
                <a:spcPct val="100000"/>
              </a:lnSpc>
              <a:spcBef>
                <a:spcPts val="0"/>
              </a:spcBef>
              <a:spcAft>
                <a:spcPts val="0"/>
              </a:spcAft>
              <a:buClr>
                <a:srgbClr val="000000"/>
              </a:buClr>
              <a:buSzPts val="650"/>
              <a:buFont typeface="Arial"/>
              <a:buNone/>
            </a:pPr>
            <a:r>
              <a:rPr lang="en" sz="650" b="0" i="0" u="none" strike="noStrike" cap="none">
                <a:solidFill>
                  <a:srgbClr val="596881"/>
                </a:solidFill>
                <a:latin typeface="Arial"/>
                <a:ea typeface="Arial"/>
                <a:cs typeface="Arial"/>
                <a:sym typeface="Arial"/>
              </a:rPr>
              <a:t>Patil et al. Berkeley Function Calling Leaderboard (BFCL V4).</a:t>
            </a:r>
            <a:endParaRPr sz="1400" b="0" i="0" u="none" strike="noStrike" cap="none">
              <a:solidFill>
                <a:srgbClr val="000000"/>
              </a:solidFill>
              <a:latin typeface="Arial"/>
              <a:ea typeface="Arial"/>
              <a:cs typeface="Arial"/>
              <a:sym typeface="Arial"/>
            </a:endParaRPr>
          </a:p>
        </p:txBody>
      </p:sp>
      <p:sp>
        <p:nvSpPr>
          <p:cNvPr id="287" name="Google Shape;287;p44"/>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5"/>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SzPts val="2556"/>
              <a:buNone/>
            </a:pPr>
            <a:r>
              <a:rPr lang="en" sz="2300" b="1">
                <a:solidFill>
                  <a:srgbClr val="162849"/>
                </a:solidFill>
                <a:latin typeface="Play"/>
                <a:ea typeface="Play"/>
                <a:cs typeface="Play"/>
                <a:sym typeface="Play"/>
              </a:rPr>
              <a:t>Improved Reasoning on General Tool-Use Tasks</a:t>
            </a:r>
            <a:endParaRPr/>
          </a:p>
        </p:txBody>
      </p:sp>
      <p:graphicFrame>
        <p:nvGraphicFramePr>
          <p:cNvPr id="294" name="Google Shape;294;p45"/>
          <p:cNvGraphicFramePr/>
          <p:nvPr/>
        </p:nvGraphicFramePr>
        <p:xfrm>
          <a:off x="502920" y="1188720"/>
          <a:ext cx="8138150" cy="3246075"/>
        </p:xfrm>
        <a:graphic>
          <a:graphicData uri="http://schemas.openxmlformats.org/drawingml/2006/table">
            <a:tbl>
              <a:tblPr firstRow="1" bandRow="1">
                <a:noFill/>
                <a:tableStyleId>{82EE666F-F67E-475C-9374-94149FA58177}</a:tableStyleId>
              </a:tblPr>
              <a:tblGrid>
                <a:gridCol w="1701900">
                  <a:extLst>
                    <a:ext uri="{9D8B030D-6E8A-4147-A177-3AD203B41FA5}">
                      <a16:colId xmlns:a16="http://schemas.microsoft.com/office/drawing/2014/main" val="20000"/>
                    </a:ext>
                  </a:extLst>
                </a:gridCol>
                <a:gridCol w="804525">
                  <a:extLst>
                    <a:ext uri="{9D8B030D-6E8A-4147-A177-3AD203B41FA5}">
                      <a16:colId xmlns:a16="http://schemas.microsoft.com/office/drawing/2014/main" val="20001"/>
                    </a:ext>
                  </a:extLst>
                </a:gridCol>
                <a:gridCol w="742650">
                  <a:extLst>
                    <a:ext uri="{9D8B030D-6E8A-4147-A177-3AD203B41FA5}">
                      <a16:colId xmlns:a16="http://schemas.microsoft.com/office/drawing/2014/main" val="20002"/>
                    </a:ext>
                  </a:extLst>
                </a:gridCol>
                <a:gridCol w="804525">
                  <a:extLst>
                    <a:ext uri="{9D8B030D-6E8A-4147-A177-3AD203B41FA5}">
                      <a16:colId xmlns:a16="http://schemas.microsoft.com/office/drawing/2014/main" val="20003"/>
                    </a:ext>
                  </a:extLst>
                </a:gridCol>
                <a:gridCol w="742650">
                  <a:extLst>
                    <a:ext uri="{9D8B030D-6E8A-4147-A177-3AD203B41FA5}">
                      <a16:colId xmlns:a16="http://schemas.microsoft.com/office/drawing/2014/main" val="20004"/>
                    </a:ext>
                  </a:extLst>
                </a:gridCol>
                <a:gridCol w="742650">
                  <a:extLst>
                    <a:ext uri="{9D8B030D-6E8A-4147-A177-3AD203B41FA5}">
                      <a16:colId xmlns:a16="http://schemas.microsoft.com/office/drawing/2014/main" val="20005"/>
                    </a:ext>
                  </a:extLst>
                </a:gridCol>
                <a:gridCol w="845800">
                  <a:extLst>
                    <a:ext uri="{9D8B030D-6E8A-4147-A177-3AD203B41FA5}">
                      <a16:colId xmlns:a16="http://schemas.microsoft.com/office/drawing/2014/main" val="20006"/>
                    </a:ext>
                  </a:extLst>
                </a:gridCol>
                <a:gridCol w="1052075">
                  <a:extLst>
                    <a:ext uri="{9D8B030D-6E8A-4147-A177-3AD203B41FA5}">
                      <a16:colId xmlns:a16="http://schemas.microsoft.com/office/drawing/2014/main" val="20007"/>
                    </a:ext>
                  </a:extLst>
                </a:gridCol>
                <a:gridCol w="701375">
                  <a:extLst>
                    <a:ext uri="{9D8B030D-6E8A-4147-A177-3AD203B41FA5}">
                      <a16:colId xmlns:a16="http://schemas.microsoft.com/office/drawing/2014/main" val="20008"/>
                    </a:ext>
                  </a:extLst>
                </a:gridCol>
              </a:tblGrid>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Method</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MATH500</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AIME25</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BFCL</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Overall</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Search</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Memory</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Non-Live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Multi</a:t>
                      </a:r>
                      <a:endParaRPr sz="1400" u="none" strike="noStrike" cap="none"/>
                    </a:p>
                  </a:txBody>
                  <a:tcPr marL="45725" marR="45725" marT="13725" marB="13725">
                    <a:solidFill>
                      <a:srgbClr val="162849"/>
                    </a:solidFill>
                  </a:tcPr>
                </a:tc>
                <a:extLst>
                  <a:ext uri="{0D108BD9-81ED-4DB2-BD59-A6C34878D82A}">
                    <a16:rowId xmlns:a16="http://schemas.microsoft.com/office/drawing/2014/main" val="10000"/>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Qwen3-4B-Instruct-2507</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1"/>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89.1</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43.3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33.0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12.7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86.7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74.5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19.4</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2"/>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P</a:t>
                      </a:r>
                      <a:r>
                        <a:rPr lang="en" sz="819" u="none" strike="noStrike" cap="none">
                          <a:solidFill>
                            <a:srgbClr val="162849"/>
                          </a:solidFill>
                        </a:rPr>
                        <a:t>rocess </a:t>
                      </a:r>
                      <a:r>
                        <a:rPr lang="en" sz="819" b="0" u="none" strike="noStrike" cap="none">
                          <a:solidFill>
                            <a:srgbClr val="162849"/>
                          </a:solidFill>
                          <a:latin typeface="Arial"/>
                          <a:ea typeface="Arial"/>
                          <a:cs typeface="Arial"/>
                          <a:sym typeface="Arial"/>
                        </a:rPr>
                        <a:t>Reward Mo</a:t>
                      </a:r>
                      <a:r>
                        <a:rPr lang="en" sz="819" u="none" strike="noStrike" cap="none">
                          <a:solidFill>
                            <a:srgbClr val="162849"/>
                          </a:solidFill>
                        </a:rPr>
                        <a:t>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92.3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51.7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44.6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10.0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15.2</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88.5</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77.6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28.6</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3"/>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95.8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63.3</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extLst>
                  <a:ext uri="{0D108BD9-81ED-4DB2-BD59-A6C34878D82A}">
                    <a16:rowId xmlns:a16="http://schemas.microsoft.com/office/drawing/2014/main" val="10004"/>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LLaMA 3.2-3B-Instruct</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5"/>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40.8</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21.5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0.5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5.2</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58.3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3.9</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6"/>
                  </a:ext>
                </a:extLst>
              </a:tr>
              <a:tr h="360675">
                <a:tc>
                  <a:txBody>
                    <a:bodyPr/>
                    <a:lstStyle/>
                    <a:p>
                      <a:pPr marL="0" marR="0" lvl="0" indent="0" algn="l" rtl="0">
                        <a:lnSpc>
                          <a:spcPct val="100000"/>
                        </a:lnSpc>
                        <a:spcBef>
                          <a:spcPts val="0"/>
                        </a:spcBef>
                        <a:spcAft>
                          <a:spcPts val="0"/>
                        </a:spcAft>
                        <a:buClr>
                          <a:schemeClr val="dk1"/>
                        </a:buClr>
                        <a:buSzPts val="818"/>
                        <a:buFont typeface="Arial"/>
                        <a:buNone/>
                      </a:pPr>
                      <a:r>
                        <a:rPr lang="en" sz="819" u="none" strike="noStrike" cap="none">
                          <a:solidFill>
                            <a:srgbClr val="162849"/>
                          </a:solidFill>
                        </a:rPr>
                        <a:t>Process Reward Modeling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6.7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24.8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59.6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7"/>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63.4</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400" u="none" strike="noStrike" cap="none"/>
                    </a:p>
                  </a:txBody>
                  <a:tcPr marL="45725" marR="45725" marT="13725" marB="13725">
                    <a:solidFill>
                      <a:srgbClr val="E8F0FE"/>
                    </a:solidFill>
                  </a:tcPr>
                </a:tc>
                <a:extLst>
                  <a:ext uri="{0D108BD9-81ED-4DB2-BD59-A6C34878D82A}">
                    <a16:rowId xmlns:a16="http://schemas.microsoft.com/office/drawing/2014/main" val="10008"/>
                  </a:ext>
                </a:extLst>
              </a:tr>
            </a:tbl>
          </a:graphicData>
        </a:graphic>
      </p:graphicFrame>
      <p:sp>
        <p:nvSpPr>
          <p:cNvPr id="295" name="Google Shape;295;p45"/>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6"/>
          <p:cNvSpPr txBox="1">
            <a:spLocks noGrp="1"/>
          </p:cNvSpPr>
          <p:nvPr>
            <p:ph type="ctrTitle"/>
          </p:nvPr>
        </p:nvSpPr>
        <p:spPr>
          <a:xfrm>
            <a:off x="438912" y="164592"/>
            <a:ext cx="7498200" cy="475500"/>
          </a:xfrm>
          <a:prstGeom prst="rect">
            <a:avLst/>
          </a:prstGeom>
          <a:noFill/>
          <a:ln>
            <a:noFill/>
          </a:ln>
        </p:spPr>
        <p:txBody>
          <a:bodyPr spcFirstLastPara="1" wrap="square" lIns="0" tIns="34275" rIns="0" bIns="34275" anchor="ctr" anchorCtr="0">
            <a:normAutofit/>
          </a:bodyPr>
          <a:lstStyle/>
          <a:p>
            <a:pPr marL="0" lvl="0" indent="0" algn="l" rtl="0">
              <a:lnSpc>
                <a:spcPct val="100000"/>
              </a:lnSpc>
              <a:spcBef>
                <a:spcPts val="0"/>
              </a:spcBef>
              <a:spcAft>
                <a:spcPts val="0"/>
              </a:spcAft>
              <a:buClr>
                <a:schemeClr val="dk1"/>
              </a:buClr>
              <a:buSzPts val="1022"/>
              <a:buFont typeface="Arial"/>
              <a:buNone/>
            </a:pPr>
            <a:r>
              <a:rPr lang="en" sz="2300" b="1">
                <a:solidFill>
                  <a:srgbClr val="162849"/>
                </a:solidFill>
                <a:latin typeface="Play"/>
                <a:ea typeface="Play"/>
                <a:cs typeface="Play"/>
                <a:sym typeface="Play"/>
              </a:rPr>
              <a:t>Improved Reasoning on General Tool-Use Tasks</a:t>
            </a:r>
            <a:endParaRPr/>
          </a:p>
        </p:txBody>
      </p:sp>
      <p:graphicFrame>
        <p:nvGraphicFramePr>
          <p:cNvPr id="302" name="Google Shape;302;p46"/>
          <p:cNvGraphicFramePr/>
          <p:nvPr/>
        </p:nvGraphicFramePr>
        <p:xfrm>
          <a:off x="502920" y="1188720"/>
          <a:ext cx="8138150" cy="3246075"/>
        </p:xfrm>
        <a:graphic>
          <a:graphicData uri="http://schemas.openxmlformats.org/drawingml/2006/table">
            <a:tbl>
              <a:tblPr firstRow="1" bandRow="1">
                <a:noFill/>
                <a:tableStyleId>{82EE666F-F67E-475C-9374-94149FA58177}</a:tableStyleId>
              </a:tblPr>
              <a:tblGrid>
                <a:gridCol w="1701900">
                  <a:extLst>
                    <a:ext uri="{9D8B030D-6E8A-4147-A177-3AD203B41FA5}">
                      <a16:colId xmlns:a16="http://schemas.microsoft.com/office/drawing/2014/main" val="20000"/>
                    </a:ext>
                  </a:extLst>
                </a:gridCol>
                <a:gridCol w="804525">
                  <a:extLst>
                    <a:ext uri="{9D8B030D-6E8A-4147-A177-3AD203B41FA5}">
                      <a16:colId xmlns:a16="http://schemas.microsoft.com/office/drawing/2014/main" val="20001"/>
                    </a:ext>
                  </a:extLst>
                </a:gridCol>
                <a:gridCol w="742650">
                  <a:extLst>
                    <a:ext uri="{9D8B030D-6E8A-4147-A177-3AD203B41FA5}">
                      <a16:colId xmlns:a16="http://schemas.microsoft.com/office/drawing/2014/main" val="20002"/>
                    </a:ext>
                  </a:extLst>
                </a:gridCol>
                <a:gridCol w="804525">
                  <a:extLst>
                    <a:ext uri="{9D8B030D-6E8A-4147-A177-3AD203B41FA5}">
                      <a16:colId xmlns:a16="http://schemas.microsoft.com/office/drawing/2014/main" val="20003"/>
                    </a:ext>
                  </a:extLst>
                </a:gridCol>
                <a:gridCol w="742650">
                  <a:extLst>
                    <a:ext uri="{9D8B030D-6E8A-4147-A177-3AD203B41FA5}">
                      <a16:colId xmlns:a16="http://schemas.microsoft.com/office/drawing/2014/main" val="20004"/>
                    </a:ext>
                  </a:extLst>
                </a:gridCol>
                <a:gridCol w="742650">
                  <a:extLst>
                    <a:ext uri="{9D8B030D-6E8A-4147-A177-3AD203B41FA5}">
                      <a16:colId xmlns:a16="http://schemas.microsoft.com/office/drawing/2014/main" val="20005"/>
                    </a:ext>
                  </a:extLst>
                </a:gridCol>
                <a:gridCol w="845800">
                  <a:extLst>
                    <a:ext uri="{9D8B030D-6E8A-4147-A177-3AD203B41FA5}">
                      <a16:colId xmlns:a16="http://schemas.microsoft.com/office/drawing/2014/main" val="20006"/>
                    </a:ext>
                  </a:extLst>
                </a:gridCol>
                <a:gridCol w="1052075">
                  <a:extLst>
                    <a:ext uri="{9D8B030D-6E8A-4147-A177-3AD203B41FA5}">
                      <a16:colId xmlns:a16="http://schemas.microsoft.com/office/drawing/2014/main" val="20007"/>
                    </a:ext>
                  </a:extLst>
                </a:gridCol>
                <a:gridCol w="701375">
                  <a:extLst>
                    <a:ext uri="{9D8B030D-6E8A-4147-A177-3AD203B41FA5}">
                      <a16:colId xmlns:a16="http://schemas.microsoft.com/office/drawing/2014/main" val="20008"/>
                    </a:ext>
                  </a:extLst>
                </a:gridCol>
              </a:tblGrid>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Method</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MATH500</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AIME25</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BFCL</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Overall</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Search</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Memory</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Single</a:t>
                      </a:r>
                      <a:br>
                        <a:rPr lang="en" sz="819" b="1" u="none" strike="noStrike" cap="none">
                          <a:solidFill>
                            <a:srgbClr val="FFFFFF"/>
                          </a:solidFill>
                          <a:latin typeface="Arial"/>
                          <a:ea typeface="Arial"/>
                          <a:cs typeface="Arial"/>
                          <a:sym typeface="Arial"/>
                        </a:rPr>
                      </a:br>
                      <a:r>
                        <a:rPr lang="en" sz="819" b="1" u="none" strike="noStrike" cap="none">
                          <a:solidFill>
                            <a:srgbClr val="FFFFFF"/>
                          </a:solidFill>
                          <a:latin typeface="Arial"/>
                          <a:ea typeface="Arial"/>
                          <a:cs typeface="Arial"/>
                          <a:sym typeface="Arial"/>
                        </a:rPr>
                        <a:t>Non-Live</a:t>
                      </a:r>
                      <a:endParaRPr sz="1400" u="none" strike="noStrike" cap="none"/>
                    </a:p>
                  </a:txBody>
                  <a:tcPr marL="45725" marR="45725" marT="13725" marB="13725">
                    <a:solidFill>
                      <a:srgbClr val="162849"/>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FFFFFF"/>
                          </a:solidFill>
                          <a:latin typeface="Arial"/>
                          <a:ea typeface="Arial"/>
                          <a:cs typeface="Arial"/>
                          <a:sym typeface="Arial"/>
                        </a:rPr>
                        <a:t>Multi</a:t>
                      </a:r>
                      <a:endParaRPr sz="1400" u="none" strike="noStrike" cap="none"/>
                    </a:p>
                  </a:txBody>
                  <a:tcPr marL="45725" marR="45725" marT="13725" marB="13725">
                    <a:solidFill>
                      <a:srgbClr val="162849"/>
                    </a:solidFill>
                  </a:tcPr>
                </a:tc>
                <a:extLst>
                  <a:ext uri="{0D108BD9-81ED-4DB2-BD59-A6C34878D82A}">
                    <a16:rowId xmlns:a16="http://schemas.microsoft.com/office/drawing/2014/main" val="10000"/>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Qwen3-4B-Instruct-2507</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1"/>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89.1</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43.3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33.0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12.7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86.7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74.5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19.4</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2"/>
                  </a:ext>
                </a:extLst>
              </a:tr>
              <a:tr h="360675">
                <a:tc>
                  <a:txBody>
                    <a:bodyPr/>
                    <a:lstStyle/>
                    <a:p>
                      <a:pPr marL="0" marR="0" lvl="0" indent="0" algn="l" rtl="0">
                        <a:lnSpc>
                          <a:spcPct val="100000"/>
                        </a:lnSpc>
                        <a:spcBef>
                          <a:spcPts val="0"/>
                        </a:spcBef>
                        <a:spcAft>
                          <a:spcPts val="0"/>
                        </a:spcAft>
                        <a:buClr>
                          <a:schemeClr val="dk1"/>
                        </a:buClr>
                        <a:buSzPts val="818"/>
                        <a:buFont typeface="Arial"/>
                        <a:buNone/>
                      </a:pPr>
                      <a:r>
                        <a:rPr lang="en" sz="819" u="none" strike="noStrike" cap="none">
                          <a:solidFill>
                            <a:srgbClr val="162849"/>
                          </a:solidFill>
                        </a:rPr>
                        <a:t>Process Reward Modeling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92.3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51.7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44.6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10.0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15.2</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88.5</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77.6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28.6</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3"/>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95.8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63.3</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51.3</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12.5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90.0</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80.5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33.3</a:t>
                      </a:r>
                      <a:endParaRPr sz="1400" u="none" strike="noStrike" cap="none"/>
                    </a:p>
                  </a:txBody>
                  <a:tcPr marL="45725" marR="45725" marT="13725" marB="13725">
                    <a:solidFill>
                      <a:srgbClr val="E8F0FE"/>
                    </a:solidFill>
                  </a:tcPr>
                </a:tc>
                <a:extLst>
                  <a:ext uri="{0D108BD9-81ED-4DB2-BD59-A6C34878D82A}">
                    <a16:rowId xmlns:a16="http://schemas.microsoft.com/office/drawing/2014/main" val="10004"/>
                  </a:ext>
                </a:extLst>
              </a:tr>
              <a:tr h="360675">
                <a:tc gridSpan="9">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LLaMA 3.2-3B-Instruct</a:t>
                      </a:r>
                      <a:endParaRPr sz="1400" u="none" strike="noStrike" cap="none"/>
                    </a:p>
                  </a:txBody>
                  <a:tcPr marL="45725" marR="45725" marT="13725" marB="13725">
                    <a:solidFill>
                      <a:srgbClr val="E8F0FE"/>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5"/>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Base</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40.8</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1.7</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21.5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0.5</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5.2</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82.0</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58.3</a:t>
                      </a:r>
                      <a:endParaRPr sz="1400" u="none" strike="noStrike" cap="none"/>
                    </a:p>
                  </a:txBody>
                  <a:tcPr marL="45725" marR="45725" marT="13725" marB="13725">
                    <a:solidFill>
                      <a:srgbClr val="F7F9FD"/>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3.9</a:t>
                      </a:r>
                      <a:endParaRPr sz="1400" u="none" strike="noStrike" cap="none"/>
                    </a:p>
                  </a:txBody>
                  <a:tcPr marL="45725" marR="45725" marT="13725" marB="13725">
                    <a:solidFill>
                      <a:srgbClr val="F7F9FD"/>
                    </a:solidFill>
                  </a:tcPr>
                </a:tc>
                <a:extLst>
                  <a:ext uri="{0D108BD9-81ED-4DB2-BD59-A6C34878D82A}">
                    <a16:rowId xmlns:a16="http://schemas.microsoft.com/office/drawing/2014/main" val="10006"/>
                  </a:ext>
                </a:extLst>
              </a:tr>
              <a:tr h="360675">
                <a:tc>
                  <a:txBody>
                    <a:bodyPr/>
                    <a:lstStyle/>
                    <a:p>
                      <a:pPr marL="0" marR="0" lvl="0" indent="0" algn="l" rtl="0">
                        <a:lnSpc>
                          <a:spcPct val="100000"/>
                        </a:lnSpc>
                        <a:spcBef>
                          <a:spcPts val="0"/>
                        </a:spcBef>
                        <a:spcAft>
                          <a:spcPts val="0"/>
                        </a:spcAft>
                        <a:buClr>
                          <a:schemeClr val="dk1"/>
                        </a:buClr>
                        <a:buSzPts val="818"/>
                        <a:buFont typeface="Arial"/>
                        <a:buNone/>
                      </a:pPr>
                      <a:r>
                        <a:rPr lang="en" sz="819" u="none" strike="noStrike" cap="none">
                          <a:solidFill>
                            <a:srgbClr val="162849"/>
                          </a:solidFill>
                        </a:rPr>
                        <a:t>Process Reward Modeling</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48.3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6.7</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24.8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5.0</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83.8</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59.6</a:t>
                      </a:r>
                      <a:endParaRPr sz="1400" u="none" strike="noStrike" cap="none"/>
                    </a:p>
                  </a:txBody>
                  <a:tcPr marL="45725" marR="45725" marT="13725" marB="13725">
                    <a:solidFill>
                      <a:srgbClr val="FFFFFF"/>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0" u="none" strike="noStrike" cap="none">
                          <a:solidFill>
                            <a:srgbClr val="162849"/>
                          </a:solidFill>
                          <a:latin typeface="Arial"/>
                          <a:ea typeface="Arial"/>
                          <a:cs typeface="Arial"/>
                          <a:sym typeface="Arial"/>
                        </a:rPr>
                        <a:t>8.2</a:t>
                      </a:r>
                      <a:endParaRPr sz="1400" u="none" strike="noStrike" cap="none"/>
                    </a:p>
                  </a:txBody>
                  <a:tcPr marL="45725" marR="45725" marT="13725" marB="13725">
                    <a:solidFill>
                      <a:srgbClr val="FFFFFF"/>
                    </a:solidFill>
                  </a:tcPr>
                </a:tc>
                <a:extLst>
                  <a:ext uri="{0D108BD9-81ED-4DB2-BD59-A6C34878D82A}">
                    <a16:rowId xmlns:a16="http://schemas.microsoft.com/office/drawing/2014/main" val="10007"/>
                  </a:ext>
                </a:extLst>
              </a:tr>
              <a:tr h="360675">
                <a:tc>
                  <a:txBody>
                    <a:bodyPr/>
                    <a:lstStyle/>
                    <a:p>
                      <a:pPr marL="0" marR="0" lvl="0" indent="0" algn="l"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SCRIBE (Ours)</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63.4</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15.8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30.8</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8.5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11.2</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85.5</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62.0</a:t>
                      </a:r>
                      <a:endParaRPr sz="1400" u="none" strike="noStrike" cap="none"/>
                    </a:p>
                  </a:txBody>
                  <a:tcPr marL="45725" marR="45725" marT="13725" marB="13725">
                    <a:solidFill>
                      <a:srgbClr val="E8F0FE"/>
                    </a:solidFill>
                  </a:tcPr>
                </a:tc>
                <a:tc>
                  <a:txBody>
                    <a:bodyPr/>
                    <a:lstStyle/>
                    <a:p>
                      <a:pPr marL="0" marR="0" lvl="0" indent="0" algn="ctr" rtl="0">
                        <a:lnSpc>
                          <a:spcPct val="100000"/>
                        </a:lnSpc>
                        <a:spcBef>
                          <a:spcPts val="0"/>
                        </a:spcBef>
                        <a:spcAft>
                          <a:spcPts val="0"/>
                        </a:spcAft>
                        <a:buClr>
                          <a:srgbClr val="000000"/>
                        </a:buClr>
                        <a:buSzPts val="818"/>
                        <a:buFont typeface="Arial"/>
                        <a:buNone/>
                      </a:pPr>
                      <a:r>
                        <a:rPr lang="en" sz="819" b="1" u="none" strike="noStrike" cap="none">
                          <a:solidFill>
                            <a:srgbClr val="162849"/>
                          </a:solidFill>
                          <a:latin typeface="Arial"/>
                          <a:ea typeface="Arial"/>
                          <a:cs typeface="Arial"/>
                          <a:sym typeface="Arial"/>
                        </a:rPr>
                        <a:t>13.5</a:t>
                      </a:r>
                      <a:endParaRPr sz="1400" u="none" strike="noStrike" cap="none"/>
                    </a:p>
                  </a:txBody>
                  <a:tcPr marL="45725" marR="45725" marT="13725" marB="13725">
                    <a:solidFill>
                      <a:srgbClr val="E8F0FE"/>
                    </a:solidFill>
                  </a:tcPr>
                </a:tc>
                <a:extLst>
                  <a:ext uri="{0D108BD9-81ED-4DB2-BD59-A6C34878D82A}">
                    <a16:rowId xmlns:a16="http://schemas.microsoft.com/office/drawing/2014/main" val="10008"/>
                  </a:ext>
                </a:extLst>
              </a:tr>
            </a:tbl>
          </a:graphicData>
        </a:graphic>
      </p:graphicFrame>
      <p:sp>
        <p:nvSpPr>
          <p:cNvPr id="303" name="Google Shape;303;p46"/>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7"/>
          <p:cNvSpPr txBox="1">
            <a:spLocks noGrp="1"/>
          </p:cNvSpPr>
          <p:nvPr>
            <p:ph type="title" idx="4294967295"/>
          </p:nvPr>
        </p:nvSpPr>
        <p:spPr>
          <a:xfrm>
            <a:off x="438912" y="164592"/>
            <a:ext cx="8275320" cy="475488"/>
          </a:xfrm>
          <a:prstGeom prst="rect">
            <a:avLst/>
          </a:prstGeom>
          <a:noFill/>
          <a:ln>
            <a:noFill/>
          </a:ln>
        </p:spPr>
        <p:txBody>
          <a:bodyPr spcFirstLastPara="1" wrap="square" lIns="0" tIns="0" rIns="0" bIns="0" anchor="ctr" anchorCtr="0">
            <a:normAutofit fontScale="90000"/>
          </a:bodyPr>
          <a:lstStyle/>
          <a:p>
            <a:pPr marL="0" marR="0" lvl="0" indent="0" algn="l" rtl="0">
              <a:lnSpc>
                <a:spcPct val="100000"/>
              </a:lnSpc>
              <a:spcBef>
                <a:spcPts val="0"/>
              </a:spcBef>
              <a:spcAft>
                <a:spcPts val="0"/>
              </a:spcAft>
              <a:buClr>
                <a:schemeClr val="dk1"/>
              </a:buClr>
              <a:buSzPct val="111111"/>
              <a:buFont typeface="Tahoma"/>
              <a:buNone/>
            </a:pPr>
            <a:r>
              <a:rPr lang="en" sz="2300" b="1" i="0" u="none" strike="noStrike" cap="none">
                <a:solidFill>
                  <a:srgbClr val="162849"/>
                </a:solidFill>
                <a:latin typeface="Play"/>
                <a:ea typeface="Play"/>
                <a:cs typeface="Play"/>
                <a:sym typeface="Play"/>
              </a:rPr>
              <a:t>Takeaway: Reuse the Standard, Not the Reference Answer</a:t>
            </a:r>
            <a:endParaRPr sz="1800" b="0" i="0" u="none" strike="noStrike" cap="none">
              <a:solidFill>
                <a:schemeClr val="dk1"/>
              </a:solidFill>
              <a:latin typeface="Tahoma"/>
              <a:ea typeface="Tahoma"/>
              <a:cs typeface="Tahoma"/>
              <a:sym typeface="Tahoma"/>
            </a:endParaRPr>
          </a:p>
        </p:txBody>
      </p:sp>
      <p:sp>
        <p:nvSpPr>
          <p:cNvPr id="309" name="Google Shape;309;p47"/>
          <p:cNvSpPr/>
          <p:nvPr/>
        </p:nvSpPr>
        <p:spPr>
          <a:xfrm>
            <a:off x="438912" y="740664"/>
            <a:ext cx="8266200" cy="13800"/>
          </a:xfrm>
          <a:prstGeom prst="rect">
            <a:avLst/>
          </a:prstGeom>
          <a:solidFill>
            <a:srgbClr val="DAE1E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10" name="Rectangle 30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TextBox 310"/>
          <p:cNvSpPr txBox="1"/>
          <p:nvPr/>
        </p:nvSpPr>
        <p:spPr>
          <a:xfrm>
            <a:off x="594360" y="1042415"/>
            <a:ext cx="6720840" cy="786384"/>
          </a:xfrm>
          <a:prstGeom prst="rect">
            <a:avLst/>
          </a:prstGeom>
          <a:noFill/>
        </p:spPr>
        <p:txBody>
          <a:bodyPr wrap="square" lIns="0" tIns="0" rIns="0" bIns="0">
            <a:spAutoFit/>
          </a:bodyPr>
          <a:lstStyle/>
          <a:p>
            <a:pPr algn="l">
              <a:spcAft>
                <a:spcPts val="400"/>
              </a:spcAft>
              <a:defRPr sz="2700" b="1">
                <a:solidFill>
                  <a:srgbClr val="193354"/>
                </a:solidFill>
                <a:latin typeface="Arial"/>
              </a:defRPr>
            </a:pPr>
            <a:r>
              <a:rPr sz="2300"/>
              <a:t>Reward what a reasoning step accomplishes</a:t>
            </a:r>
          </a:p>
          <a:p>
            <a:pPr algn="l">
              <a:spcAft>
                <a:spcPts val="400"/>
              </a:spcAft>
              <a:defRPr sz="2700" b="1">
                <a:solidFill>
                  <a:srgbClr val="193354"/>
                </a:solidFill>
                <a:latin typeface="Arial"/>
              </a:defRPr>
            </a:pPr>
            <a:r>
              <a:rPr sz="2300"/>
              <a:t>with a shared, reusable skill rubric.</a:t>
            </a:r>
          </a:p>
        </p:txBody>
      </p:sp>
      <p:sp>
        <p:nvSpPr>
          <p:cNvPr id="312" name="Rounded Rectangle 311"/>
          <p:cNvSpPr/>
          <p:nvPr/>
        </p:nvSpPr>
        <p:spPr>
          <a:xfrm>
            <a:off x="594360" y="207568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TextBox 312"/>
          <p:cNvSpPr txBox="1"/>
          <p:nvPr/>
        </p:nvSpPr>
        <p:spPr>
          <a:xfrm>
            <a:off x="758952" y="2231136"/>
            <a:ext cx="484632" cy="274320"/>
          </a:xfrm>
          <a:prstGeom prst="rect">
            <a:avLst/>
          </a:prstGeom>
          <a:noFill/>
        </p:spPr>
        <p:txBody>
          <a:bodyPr wrap="square" lIns="0" tIns="0" rIns="0" bIns="0">
            <a:spAutoFit/>
          </a:bodyPr>
          <a:lstStyle/>
          <a:p>
            <a:pPr algn="l">
              <a:spcAft>
                <a:spcPts val="400"/>
              </a:spcAft>
              <a:defRPr sz="1800" b="1">
                <a:solidFill>
                  <a:srgbClr val="087F8C"/>
                </a:solidFill>
                <a:latin typeface="Arial"/>
              </a:defRPr>
            </a:pPr>
            <a:r>
              <a:t>01</a:t>
            </a:r>
          </a:p>
        </p:txBody>
      </p:sp>
      <p:sp>
        <p:nvSpPr>
          <p:cNvPr id="314" name="TextBox 313"/>
          <p:cNvSpPr txBox="1"/>
          <p:nvPr/>
        </p:nvSpPr>
        <p:spPr>
          <a:xfrm>
            <a:off x="1353312" y="2167128"/>
            <a:ext cx="6949440" cy="237744"/>
          </a:xfrm>
          <a:prstGeom prst="rect">
            <a:avLst/>
          </a:prstGeom>
          <a:noFill/>
        </p:spPr>
        <p:txBody>
          <a:bodyPr wrap="square" lIns="0" tIns="0" rIns="0" bIns="0">
            <a:spAutoFit/>
          </a:bodyPr>
          <a:lstStyle/>
          <a:p>
            <a:pPr algn="l">
              <a:spcAft>
                <a:spcPts val="400"/>
              </a:spcAft>
              <a:defRPr sz="1600" b="1">
                <a:solidFill>
                  <a:srgbClr val="193354"/>
                </a:solidFill>
                <a:latin typeface="Arial"/>
              </a:defRPr>
            </a:pPr>
            <a:r>
              <a:t>A Stable Standard Across Problems</a:t>
            </a:r>
          </a:p>
        </p:txBody>
      </p:sp>
      <p:sp>
        <p:nvSpPr>
          <p:cNvPr id="315" name="TextBox 314"/>
          <p:cNvSpPr txBox="1"/>
          <p:nvPr/>
        </p:nvSpPr>
        <p:spPr>
          <a:xfrm>
            <a:off x="1353312" y="2459736"/>
            <a:ext cx="6903720" cy="237744"/>
          </a:xfrm>
          <a:prstGeom prst="rect">
            <a:avLst/>
          </a:prstGeom>
          <a:noFill/>
        </p:spPr>
        <p:txBody>
          <a:bodyPr wrap="square" lIns="0" tIns="0" rIns="0" bIns="0">
            <a:spAutoFit/>
          </a:bodyPr>
          <a:lstStyle/>
          <a:p>
            <a:pPr algn="l">
              <a:spcAft>
                <a:spcPts val="400"/>
              </a:spcAft>
              <a:defRPr sz="1200" b="0">
                <a:solidFill>
                  <a:srgbClr val="53657C"/>
                </a:solidFill>
                <a:latin typeface="Arial"/>
              </a:defRPr>
            </a:pPr>
            <a:r>
              <a:t>Skill prototypes make reasoning quality explicit, without a golden answer for each instance.</a:t>
            </a:r>
          </a:p>
        </p:txBody>
      </p:sp>
      <p:sp>
        <p:nvSpPr>
          <p:cNvPr id="316" name="Rounded Rectangle 315"/>
          <p:cNvSpPr/>
          <p:nvPr/>
        </p:nvSpPr>
        <p:spPr>
          <a:xfrm>
            <a:off x="594360" y="289864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TextBox 316"/>
          <p:cNvSpPr txBox="1"/>
          <p:nvPr/>
        </p:nvSpPr>
        <p:spPr>
          <a:xfrm>
            <a:off x="758952" y="3054096"/>
            <a:ext cx="484632" cy="274320"/>
          </a:xfrm>
          <a:prstGeom prst="rect">
            <a:avLst/>
          </a:prstGeom>
          <a:noFill/>
        </p:spPr>
        <p:txBody>
          <a:bodyPr wrap="square" lIns="0" tIns="0" rIns="0" bIns="0">
            <a:spAutoFit/>
          </a:bodyPr>
          <a:lstStyle/>
          <a:p>
            <a:pPr algn="l">
              <a:spcAft>
                <a:spcPts val="400"/>
              </a:spcAft>
              <a:defRPr sz="1800" b="1">
                <a:solidFill>
                  <a:srgbClr val="087F8C"/>
                </a:solidFill>
                <a:latin typeface="Arial"/>
              </a:defRPr>
            </a:pPr>
            <a:r>
              <a:t>02</a:t>
            </a:r>
          </a:p>
        </p:txBody>
      </p:sp>
      <p:sp>
        <p:nvSpPr>
          <p:cNvPr id="318" name="TextBox 317"/>
          <p:cNvSpPr txBox="1"/>
          <p:nvPr/>
        </p:nvSpPr>
        <p:spPr>
          <a:xfrm>
            <a:off x="1353312" y="2990088"/>
            <a:ext cx="6949440" cy="237744"/>
          </a:xfrm>
          <a:prstGeom prst="rect">
            <a:avLst/>
          </a:prstGeom>
          <a:noFill/>
        </p:spPr>
        <p:txBody>
          <a:bodyPr wrap="square" lIns="0" tIns="0" rIns="0" bIns="0">
            <a:spAutoFit/>
          </a:bodyPr>
          <a:lstStyle/>
          <a:p>
            <a:pPr algn="l">
              <a:spcAft>
                <a:spcPts val="400"/>
              </a:spcAft>
              <a:defRPr sz="1600" b="1">
                <a:solidFill>
                  <a:srgbClr val="193354"/>
                </a:solidFill>
                <a:latin typeface="Arial"/>
              </a:defRPr>
            </a:pPr>
            <a:r>
              <a:t>Less Reward Drift</a:t>
            </a:r>
          </a:p>
        </p:txBody>
      </p:sp>
      <p:sp>
        <p:nvSpPr>
          <p:cNvPr id="319" name="TextBox 318"/>
          <p:cNvSpPr txBox="1"/>
          <p:nvPr/>
        </p:nvSpPr>
        <p:spPr>
          <a:xfrm>
            <a:off x="1353312" y="3282696"/>
            <a:ext cx="6903720" cy="237744"/>
          </a:xfrm>
          <a:prstGeom prst="rect">
            <a:avLst/>
          </a:prstGeom>
          <a:noFill/>
        </p:spPr>
        <p:txBody>
          <a:bodyPr wrap="square" lIns="0" tIns="0" rIns="0" bIns="0">
            <a:spAutoFit/>
          </a:bodyPr>
          <a:lstStyle/>
          <a:p>
            <a:pPr algn="l">
              <a:spcAft>
                <a:spcPts val="400"/>
              </a:spcAft>
              <a:defRPr sz="1200" b="0">
                <a:solidFill>
                  <a:srgbClr val="53657C"/>
                </a:solidFill>
                <a:latin typeface="Arial"/>
              </a:defRPr>
            </a:pPr>
            <a:r>
              <a:t>Cross-instance agreement: 69.4% with RaR → 86.8% with SCRIBE.</a:t>
            </a:r>
          </a:p>
        </p:txBody>
      </p:sp>
      <p:sp>
        <p:nvSpPr>
          <p:cNvPr id="320" name="Rounded Rectangle 319"/>
          <p:cNvSpPr/>
          <p:nvPr/>
        </p:nvSpPr>
        <p:spPr>
          <a:xfrm>
            <a:off x="594360" y="372160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TextBox 320"/>
          <p:cNvSpPr txBox="1"/>
          <p:nvPr/>
        </p:nvSpPr>
        <p:spPr>
          <a:xfrm>
            <a:off x="758952" y="3877056"/>
            <a:ext cx="484632" cy="274320"/>
          </a:xfrm>
          <a:prstGeom prst="rect">
            <a:avLst/>
          </a:prstGeom>
          <a:noFill/>
        </p:spPr>
        <p:txBody>
          <a:bodyPr wrap="square" lIns="0" tIns="0" rIns="0" bIns="0">
            <a:spAutoFit/>
          </a:bodyPr>
          <a:lstStyle/>
          <a:p>
            <a:pPr algn="l">
              <a:spcAft>
                <a:spcPts val="400"/>
              </a:spcAft>
              <a:defRPr sz="1800" b="1">
                <a:solidFill>
                  <a:srgbClr val="087F8C"/>
                </a:solidFill>
                <a:latin typeface="Arial"/>
              </a:defRPr>
            </a:pPr>
            <a:r>
              <a:t>03</a:t>
            </a:r>
          </a:p>
        </p:txBody>
      </p:sp>
      <p:sp>
        <p:nvSpPr>
          <p:cNvPr id="322" name="TextBox 321"/>
          <p:cNvSpPr txBox="1"/>
          <p:nvPr/>
        </p:nvSpPr>
        <p:spPr>
          <a:xfrm>
            <a:off x="1353312" y="3813048"/>
            <a:ext cx="6949440" cy="237744"/>
          </a:xfrm>
          <a:prstGeom prst="rect">
            <a:avLst/>
          </a:prstGeom>
          <a:noFill/>
        </p:spPr>
        <p:txBody>
          <a:bodyPr wrap="square" lIns="0" tIns="0" rIns="0" bIns="0">
            <a:spAutoFit/>
          </a:bodyPr>
          <a:lstStyle/>
          <a:p>
            <a:pPr algn="l">
              <a:spcAft>
                <a:spcPts val="400"/>
              </a:spcAft>
              <a:defRPr sz="1600" b="1">
                <a:solidFill>
                  <a:srgbClr val="193354"/>
                </a:solidFill>
                <a:latin typeface="Arial"/>
              </a:defRPr>
            </a:pPr>
            <a:r>
              <a:t>A Better Signal for Learning</a:t>
            </a:r>
          </a:p>
        </p:txBody>
      </p:sp>
      <p:sp>
        <p:nvSpPr>
          <p:cNvPr id="323" name="TextBox 322"/>
          <p:cNvSpPr txBox="1"/>
          <p:nvPr/>
        </p:nvSpPr>
        <p:spPr>
          <a:xfrm>
            <a:off x="1353312" y="4105656"/>
            <a:ext cx="6903720" cy="237744"/>
          </a:xfrm>
          <a:prstGeom prst="rect">
            <a:avLst/>
          </a:prstGeom>
          <a:noFill/>
        </p:spPr>
        <p:txBody>
          <a:bodyPr wrap="square" lIns="0" tIns="0" rIns="0" bIns="0">
            <a:spAutoFit/>
          </a:bodyPr>
          <a:lstStyle/>
          <a:p>
            <a:pPr algn="l">
              <a:spcAft>
                <a:spcPts val="400"/>
              </a:spcAft>
              <a:defRPr sz="1200" b="0">
                <a:solidFill>
                  <a:srgbClr val="53657C"/>
                </a:solidFill>
                <a:latin typeface="Arial"/>
              </a:defRPr>
            </a:pPr>
            <a:r>
              <a:t>Math and tool-use gains across both evaluated model families.</a:t>
            </a:r>
          </a:p>
        </p:txBody>
      </p:sp>
      <p:sp>
        <p:nvSpPr>
          <p:cNvPr id="324" name="TextBox 323"/>
          <p:cNvSpPr txBox="1"/>
          <p:nvPr/>
        </p:nvSpPr>
        <p:spPr>
          <a:xfrm>
            <a:off x="594360" y="4599432"/>
            <a:ext cx="7955279" cy="457200"/>
          </a:xfrm>
          <a:prstGeom prst="rect">
            <a:avLst/>
          </a:prstGeom>
          <a:noFill/>
        </p:spPr>
        <p:txBody>
          <a:bodyPr wrap="square" lIns="0" tIns="0" rIns="0" bIns="0">
            <a:spAutoFit/>
          </a:bodyPr>
          <a:lstStyle/>
          <a:p>
            <a:pPr algn="l">
              <a:spcAft>
                <a:spcPts val="400"/>
              </a:spcAft>
              <a:defRPr sz="1200" b="1">
                <a:solidFill>
                  <a:srgbClr val="087F8C"/>
                </a:solidFill>
                <a:latin typeface="Arial"/>
              </a:defRPr>
            </a:pPr>
            <a:r>
              <a:t>Build reusable criteria for intermediate behavior—not a new grading standard for every answer.</a:t>
            </a:r>
          </a:p>
        </p:txBody>
      </p:sp>
      <p:pic>
        <p:nvPicPr>
          <p:cNvPr id="325" name="Picture 324" descr="scribe-project-qr.png">
            <a:hlinkClick r:id="rId3"/>
          </p:cNvPr>
          <p:cNvPicPr>
            <a:picLocks noChangeAspect="1"/>
          </p:cNvPicPr>
          <p:nvPr/>
        </p:nvPicPr>
        <p:blipFill>
          <a:blip r:embed="rId4"/>
          <a:stretch>
            <a:fillRect/>
          </a:stretch>
        </p:blipFill>
        <p:spPr>
          <a:xfrm>
            <a:off x="7571231" y="1024128"/>
            <a:ext cx="914400" cy="914400"/>
          </a:xfrm>
          <a:prstGeom prst="rect">
            <a:avLst/>
          </a:prstGeom>
        </p:spPr>
      </p:pic>
      <p:sp>
        <p:nvSpPr>
          <p:cNvPr id="326" name="TextBox 325"/>
          <p:cNvSpPr txBox="1"/>
          <p:nvPr/>
        </p:nvSpPr>
        <p:spPr>
          <a:xfrm>
            <a:off x="7388352" y="1947672"/>
            <a:ext cx="1280160" cy="164592"/>
          </a:xfrm>
          <a:prstGeom prst="rect">
            <a:avLst/>
          </a:prstGeom>
          <a:noFill/>
        </p:spPr>
        <p:txBody>
          <a:bodyPr wrap="none" lIns="0" tIns="0" rIns="0" bIns="0">
            <a:spAutoFit/>
          </a:bodyPr>
          <a:lstStyle/>
          <a:p>
            <a:pPr algn="ctr">
              <a:defRPr sz="900" b="1">
                <a:solidFill>
                  <a:srgbClr val="193354"/>
                </a:solidFill>
                <a:latin typeface="Arial"/>
              </a:defRPr>
            </a:pPr>
            <a:r>
              <a:rPr>
                <a:hlinkClick r:id="rId3"/>
              </a:rPr>
              <a:t>Project &amp; Slides</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2764</Words>
  <Application>Microsoft Macintosh PowerPoint</Application>
  <PresentationFormat>全屏显示(16:9)</PresentationFormat>
  <Paragraphs>388</Paragraphs>
  <Slides>18</Slides>
  <Notes>18</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18</vt:i4>
      </vt:variant>
    </vt:vector>
  </HeadingPairs>
  <TitlesOfParts>
    <vt:vector size="24" baseType="lpstr">
      <vt:lpstr>Tahoma</vt:lpstr>
      <vt:lpstr>Arial</vt:lpstr>
      <vt:lpstr>Calibri</vt:lpstr>
      <vt:lpstr>Play</vt:lpstr>
      <vt:lpstr>Simple Light</vt:lpstr>
      <vt:lpstr>Simple Light</vt:lpstr>
      <vt:lpstr>PowerPoint 演示文稿</vt:lpstr>
      <vt:lpstr>Unreliable LLM-as-a-Judge Reward</vt:lpstr>
      <vt:lpstr>Motivation: Unreliable Reward Leads to Unreliable RL Training</vt:lpstr>
      <vt:lpstr>SCRIBE: Process Reward Is Not About ‘Correct’ but ‘Done’</vt:lpstr>
      <vt:lpstr>Skill Prototype: A Reliable Rewarding Rubric</vt:lpstr>
      <vt:lpstr>Reliable Training</vt:lpstr>
      <vt:lpstr>PowerPoint 演示文稿</vt:lpstr>
      <vt:lpstr>PowerPoint 演示文稿</vt:lpstr>
      <vt:lpstr>PowerPoint 演示文稿</vt:lpstr>
      <vt:lpstr>PowerPoint 演示文稿</vt:lpstr>
      <vt:lpstr>PowerPoint 演示文稿</vt:lpstr>
      <vt:lpstr>PowerPoint 演示文稿</vt:lpstr>
      <vt:lpstr>Improved Reasoning on Math Tasks</vt:lpstr>
      <vt:lpstr>Improved Reasoning on Math Tasks</vt:lpstr>
      <vt:lpstr>PowerPoint 演示文稿</vt:lpstr>
      <vt:lpstr>Improved Reasoning on General Tool-Use Tasks</vt:lpstr>
      <vt:lpstr>Improved Reasoning on General Tool-Use Tasks</vt:lpstr>
      <vt:lpstr>Takeaway: Reuse the Standard, Not the Reference Answer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xy980604@gmail.com</cp:lastModifiedBy>
  <cp:revision>1</cp:revision>
  <dcterms:modified xsi:type="dcterms:W3CDTF">2026-09-29T17:51:35Z</dcterms:modified>
</cp:coreProperties>
</file>